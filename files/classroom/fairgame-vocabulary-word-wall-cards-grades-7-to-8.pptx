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058400" cy="1554480"/>
          </a:xfrm>
          <a:prstGeom prst="rect">
            <a:avLst/>
          </a:prstGeom>
          <a:solidFill>
            <a:srgbClr val="1C3A1C"/>
          </a:solidFill>
          <a:ln/>
        </p:spPr>
      </p:sp>
      <p:pic>
        <p:nvPicPr>
          <p:cNvPr id="3" name="Image 0" descr="/tmp/fairgame_logo_white.png">    </p:cNvPr>
          <p:cNvPicPr>
            <a:picLocks noChangeAspect="1"/>
          </p:cNvPicPr>
          <p:nvPr/>
        </p:nvPicPr>
        <p:blipFill>
          <a:blip r:embed="rId1"/>
          <a:stretch>
            <a:fillRect/>
          </a:stretch>
        </p:blipFill>
        <p:spPr>
          <a:xfrm>
            <a:off x="9189034" y="404165"/>
            <a:ext cx="416738" cy="683971"/>
          </a:xfrm>
          <a:prstGeom prst="rect">
            <a:avLst/>
          </a:prstGeom>
        </p:spPr>
      </p:pic>
      <p:sp>
        <p:nvSpPr>
          <p:cNvPr id="4" name="Text 1"/>
          <p:cNvSpPr/>
          <p:nvPr/>
        </p:nvSpPr>
        <p:spPr>
          <a:xfrm>
            <a:off x="623621" y="248717"/>
            <a:ext cx="8394420" cy="248717"/>
          </a:xfrm>
          <a:prstGeom prst="rect">
            <a:avLst/>
          </a:prstGeom>
          <a:noFill/>
          <a:ln/>
        </p:spPr>
        <p:txBody>
          <a:bodyPr wrap="square" lIns="0" tIns="0" rIns="0" bIns="0" rtlCol="0" anchor="ctr"/>
          <a:lstStyle/>
          <a:p>
            <a:pPr indent="0" marL="0">
              <a:buNone/>
            </a:pPr>
            <a:r>
              <a:rPr lang="en-US" sz="1705" b="1" spc="352" kern="0" dirty="0">
                <a:solidFill>
                  <a:srgbClr val="6AB86E"/>
                </a:solidFill>
                <a:latin typeface="DM Sans" pitchFamily="34" charset="0"/>
                <a:ea typeface="DM Sans" pitchFamily="34" charset="-122"/>
                <a:cs typeface="DM Sans" pitchFamily="34" charset="-120"/>
              </a:rPr>
              <a:t>WORD WALL  |  GRADES 7 TO 8</a:t>
            </a:r>
            <a:endParaRPr lang="en-US" sz="1705" dirty="0"/>
          </a:p>
        </p:txBody>
      </p:sp>
      <p:sp>
        <p:nvSpPr>
          <p:cNvPr id="5" name="Text 2"/>
          <p:cNvSpPr/>
          <p:nvPr/>
        </p:nvSpPr>
        <p:spPr>
          <a:xfrm>
            <a:off x="563270" y="512978"/>
            <a:ext cx="8602789" cy="963778"/>
          </a:xfrm>
          <a:prstGeom prst="rect">
            <a:avLst/>
          </a:prstGeom>
          <a:noFill/>
          <a:ln/>
        </p:spPr>
        <p:txBody>
          <a:bodyPr wrap="square" lIns="0" tIns="0" rIns="0" bIns="0" rtlCol="0" anchor="ctr"/>
          <a:lstStyle/>
          <a:p>
            <a:pPr indent="0" marL="0">
              <a:buNone/>
            </a:pPr>
            <a:r>
              <a:rPr lang="en-US" sz="6223" dirty="0">
                <a:solidFill>
                  <a:srgbClr val="FFFFFF"/>
                </a:solidFill>
                <a:latin typeface="Anton" pitchFamily="34" charset="0"/>
                <a:ea typeface="Anton" pitchFamily="34" charset="-122"/>
                <a:cs typeface="Anton" pitchFamily="34" charset="-120"/>
              </a:rPr>
              <a:t>VOCABULARY CARDS</a:t>
            </a:r>
            <a:endParaRPr lang="en-US" sz="6223" dirty="0"/>
          </a:p>
        </p:txBody>
      </p:sp>
      <p:sp>
        <p:nvSpPr>
          <p:cNvPr id="6" name="Text 3"/>
          <p:cNvSpPr/>
          <p:nvPr/>
        </p:nvSpPr>
        <p:spPr>
          <a:xfrm>
            <a:off x="502920" y="1865376"/>
            <a:ext cx="9052560" cy="699516"/>
          </a:xfrm>
          <a:prstGeom prst="rect">
            <a:avLst/>
          </a:prstGeom>
          <a:noFill/>
          <a:ln/>
        </p:spPr>
        <p:txBody>
          <a:bodyPr wrap="square" lIns="0" tIns="0" rIns="0" bIns="0" rtlCol="0" anchor="t"/>
          <a:lstStyle/>
          <a:p>
            <a:pPr indent="0" marL="0">
              <a:buNone/>
            </a:pPr>
            <a:r>
              <a:rPr lang="en-US" sz="1485" dirty="0">
                <a:solidFill>
                  <a:srgbClr val="6B756B"/>
                </a:solidFill>
                <a:latin typeface="DM Sans" pitchFamily="34" charset="0"/>
                <a:ea typeface="DM Sans" pitchFamily="34" charset="-122"/>
                <a:cs typeface="DM Sans" pitchFamily="34" charset="-120"/>
              </a:rPr>
              <a:t>Forty terms, four per sheet. Print, cut along the borders, and add each card to the wall as the class reaches that phase. Colours group the terms by phase so the wall builds a visible map of the project.</a:t>
            </a:r>
            <a:endParaRPr lang="en-US" sz="1485" dirty="0"/>
          </a:p>
        </p:txBody>
      </p:sp>
      <p:sp>
        <p:nvSpPr>
          <p:cNvPr id="7" name="Shape 4"/>
          <p:cNvSpPr/>
          <p:nvPr/>
        </p:nvSpPr>
        <p:spPr>
          <a:xfrm>
            <a:off x="502920" y="2953512"/>
            <a:ext cx="1418234" cy="427482"/>
          </a:xfrm>
          <a:prstGeom prst="rect">
            <a:avLst/>
          </a:prstGeom>
          <a:solidFill>
            <a:srgbClr val="357A38"/>
          </a:solidFill>
          <a:ln/>
        </p:spPr>
      </p:sp>
      <p:sp>
        <p:nvSpPr>
          <p:cNvPr id="8" name="Text 5"/>
          <p:cNvSpPr/>
          <p:nvPr/>
        </p:nvSpPr>
        <p:spPr>
          <a:xfrm>
            <a:off x="50292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PLANNING</a:t>
            </a:r>
            <a:endParaRPr lang="en-US" sz="1155" dirty="0"/>
          </a:p>
        </p:txBody>
      </p:sp>
      <p:sp>
        <p:nvSpPr>
          <p:cNvPr id="9" name="Text 6"/>
          <p:cNvSpPr/>
          <p:nvPr/>
        </p:nvSpPr>
        <p:spPr>
          <a:xfrm>
            <a:off x="50292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7 terms</a:t>
            </a:r>
            <a:endParaRPr lang="en-US" sz="1100" dirty="0"/>
          </a:p>
        </p:txBody>
      </p:sp>
      <p:sp>
        <p:nvSpPr>
          <p:cNvPr id="10" name="Shape 7"/>
          <p:cNvSpPr/>
          <p:nvPr/>
        </p:nvSpPr>
        <p:spPr>
          <a:xfrm>
            <a:off x="2011680" y="2953512"/>
            <a:ext cx="1418234" cy="427482"/>
          </a:xfrm>
          <a:prstGeom prst="rect">
            <a:avLst/>
          </a:prstGeom>
          <a:solidFill>
            <a:srgbClr val="1C3A1C"/>
          </a:solidFill>
          <a:ln/>
        </p:spPr>
      </p:sp>
      <p:sp>
        <p:nvSpPr>
          <p:cNvPr id="11" name="Text 8"/>
          <p:cNvSpPr/>
          <p:nvPr/>
        </p:nvSpPr>
        <p:spPr>
          <a:xfrm>
            <a:off x="201168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DESIGN</a:t>
            </a:r>
            <a:endParaRPr lang="en-US" sz="1155" dirty="0"/>
          </a:p>
        </p:txBody>
      </p:sp>
      <p:sp>
        <p:nvSpPr>
          <p:cNvPr id="12" name="Text 9"/>
          <p:cNvSpPr/>
          <p:nvPr/>
        </p:nvSpPr>
        <p:spPr>
          <a:xfrm>
            <a:off x="201168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10 terms</a:t>
            </a:r>
            <a:endParaRPr lang="en-US" sz="1100" dirty="0"/>
          </a:p>
        </p:txBody>
      </p:sp>
      <p:sp>
        <p:nvSpPr>
          <p:cNvPr id="13" name="Shape 10"/>
          <p:cNvSpPr/>
          <p:nvPr/>
        </p:nvSpPr>
        <p:spPr>
          <a:xfrm>
            <a:off x="3520440" y="2953512"/>
            <a:ext cx="1418234" cy="427482"/>
          </a:xfrm>
          <a:prstGeom prst="rect">
            <a:avLst/>
          </a:prstGeom>
          <a:solidFill>
            <a:srgbClr val="E0615A"/>
          </a:solidFill>
          <a:ln/>
        </p:spPr>
      </p:sp>
      <p:sp>
        <p:nvSpPr>
          <p:cNvPr id="14" name="Text 11"/>
          <p:cNvSpPr/>
          <p:nvPr/>
        </p:nvSpPr>
        <p:spPr>
          <a:xfrm>
            <a:off x="352044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DATA</a:t>
            </a:r>
            <a:endParaRPr lang="en-US" sz="1155" dirty="0"/>
          </a:p>
        </p:txBody>
      </p:sp>
      <p:sp>
        <p:nvSpPr>
          <p:cNvPr id="15" name="Text 12"/>
          <p:cNvSpPr/>
          <p:nvPr/>
        </p:nvSpPr>
        <p:spPr>
          <a:xfrm>
            <a:off x="352044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8 terms</a:t>
            </a:r>
            <a:endParaRPr lang="en-US" sz="1100" dirty="0"/>
          </a:p>
        </p:txBody>
      </p:sp>
      <p:sp>
        <p:nvSpPr>
          <p:cNvPr id="16" name="Shape 13"/>
          <p:cNvSpPr/>
          <p:nvPr/>
        </p:nvSpPr>
        <p:spPr>
          <a:xfrm>
            <a:off x="5029200" y="2953512"/>
            <a:ext cx="1418234" cy="427482"/>
          </a:xfrm>
          <a:prstGeom prst="rect">
            <a:avLst/>
          </a:prstGeom>
          <a:solidFill>
            <a:srgbClr val="4A9E4E"/>
          </a:solidFill>
          <a:ln/>
        </p:spPr>
      </p:sp>
      <p:sp>
        <p:nvSpPr>
          <p:cNvPr id="17" name="Text 14"/>
          <p:cNvSpPr/>
          <p:nvPr/>
        </p:nvSpPr>
        <p:spPr>
          <a:xfrm>
            <a:off x="502920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ANALYSIS</a:t>
            </a:r>
            <a:endParaRPr lang="en-US" sz="1155" dirty="0"/>
          </a:p>
        </p:txBody>
      </p:sp>
      <p:sp>
        <p:nvSpPr>
          <p:cNvPr id="18" name="Text 15"/>
          <p:cNvSpPr/>
          <p:nvPr/>
        </p:nvSpPr>
        <p:spPr>
          <a:xfrm>
            <a:off x="502920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7 terms</a:t>
            </a:r>
            <a:endParaRPr lang="en-US" sz="1100" dirty="0"/>
          </a:p>
        </p:txBody>
      </p:sp>
      <p:sp>
        <p:nvSpPr>
          <p:cNvPr id="19" name="Shape 16"/>
          <p:cNvSpPr/>
          <p:nvPr/>
        </p:nvSpPr>
        <p:spPr>
          <a:xfrm>
            <a:off x="6537960" y="2953512"/>
            <a:ext cx="1418234" cy="427482"/>
          </a:xfrm>
          <a:prstGeom prst="rect">
            <a:avLst/>
          </a:prstGeom>
          <a:solidFill>
            <a:srgbClr val="254F25"/>
          </a:solidFill>
          <a:ln/>
        </p:spPr>
      </p:sp>
      <p:sp>
        <p:nvSpPr>
          <p:cNvPr id="20" name="Text 17"/>
          <p:cNvSpPr/>
          <p:nvPr/>
        </p:nvSpPr>
        <p:spPr>
          <a:xfrm>
            <a:off x="653796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CONCLUSION</a:t>
            </a:r>
            <a:endParaRPr lang="en-US" sz="1155" dirty="0"/>
          </a:p>
        </p:txBody>
      </p:sp>
      <p:sp>
        <p:nvSpPr>
          <p:cNvPr id="21" name="Text 18"/>
          <p:cNvSpPr/>
          <p:nvPr/>
        </p:nvSpPr>
        <p:spPr>
          <a:xfrm>
            <a:off x="653796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6 terms</a:t>
            </a:r>
            <a:endParaRPr lang="en-US" sz="1100" dirty="0"/>
          </a:p>
        </p:txBody>
      </p:sp>
      <p:sp>
        <p:nvSpPr>
          <p:cNvPr id="22" name="Shape 19"/>
          <p:cNvSpPr/>
          <p:nvPr/>
        </p:nvSpPr>
        <p:spPr>
          <a:xfrm>
            <a:off x="8046720" y="2953512"/>
            <a:ext cx="1418234" cy="427482"/>
          </a:xfrm>
          <a:prstGeom prst="rect">
            <a:avLst/>
          </a:prstGeom>
          <a:solidFill>
            <a:srgbClr val="E8827D"/>
          </a:solidFill>
          <a:ln/>
        </p:spPr>
      </p:sp>
      <p:sp>
        <p:nvSpPr>
          <p:cNvPr id="23" name="Text 20"/>
          <p:cNvSpPr/>
          <p:nvPr/>
        </p:nvSpPr>
        <p:spPr>
          <a:xfrm>
            <a:off x="804672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SHARING</a:t>
            </a:r>
            <a:endParaRPr lang="en-US" sz="1155" dirty="0"/>
          </a:p>
        </p:txBody>
      </p:sp>
      <p:sp>
        <p:nvSpPr>
          <p:cNvPr id="24" name="Text 21"/>
          <p:cNvSpPr/>
          <p:nvPr/>
        </p:nvSpPr>
        <p:spPr>
          <a:xfrm>
            <a:off x="804672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2 terms</a:t>
            </a:r>
            <a:endParaRPr lang="en-US" sz="1100" dirty="0"/>
          </a:p>
        </p:txBody>
      </p:sp>
      <p:sp>
        <p:nvSpPr>
          <p:cNvPr id="25" name="Shape 22"/>
          <p:cNvSpPr/>
          <p:nvPr/>
        </p:nvSpPr>
        <p:spPr>
          <a:xfrm>
            <a:off x="502920" y="4041648"/>
            <a:ext cx="9052560" cy="1554480"/>
          </a:xfrm>
          <a:prstGeom prst="rect">
            <a:avLst/>
          </a:prstGeom>
          <a:solidFill>
            <a:srgbClr val="E8F5E9"/>
          </a:solidFill>
          <a:ln/>
        </p:spPr>
      </p:sp>
      <p:sp>
        <p:nvSpPr>
          <p:cNvPr id="26" name="Text 23"/>
          <p:cNvSpPr/>
          <p:nvPr/>
        </p:nvSpPr>
        <p:spPr>
          <a:xfrm>
            <a:off x="704088" y="4235958"/>
            <a:ext cx="9052560" cy="310896"/>
          </a:xfrm>
          <a:prstGeom prst="rect">
            <a:avLst/>
          </a:prstGeom>
          <a:noFill/>
          <a:ln/>
        </p:spPr>
        <p:txBody>
          <a:bodyPr wrap="square" lIns="0" tIns="0" rIns="0" bIns="0" rtlCol="0" anchor="ctr"/>
          <a:lstStyle/>
          <a:p>
            <a:pPr indent="0" marL="0">
              <a:buNone/>
            </a:pPr>
            <a:r>
              <a:rPr lang="en-US" sz="1265" b="1" spc="154" kern="0" dirty="0">
                <a:solidFill>
                  <a:srgbClr val="357A38"/>
                </a:solidFill>
                <a:latin typeface="DM Sans" pitchFamily="34" charset="0"/>
                <a:ea typeface="DM Sans" pitchFamily="34" charset="-122"/>
                <a:cs typeface="DM Sans" pitchFamily="34" charset="-120"/>
              </a:rPr>
              <a:t>HOW TO USE THE WALL</a:t>
            </a:r>
            <a:endParaRPr lang="en-US" sz="1265" dirty="0"/>
          </a:p>
        </p:txBody>
      </p:sp>
      <p:sp>
        <p:nvSpPr>
          <p:cNvPr id="27" name="Text 24"/>
          <p:cNvSpPr/>
          <p:nvPr/>
        </p:nvSpPr>
        <p:spPr>
          <a:xfrm>
            <a:off x="704088" y="4624578"/>
            <a:ext cx="8650224" cy="854964"/>
          </a:xfrm>
          <a:prstGeom prst="rect">
            <a:avLst/>
          </a:prstGeom>
          <a:noFill/>
          <a:ln/>
        </p:spPr>
        <p:txBody>
          <a:bodyPr wrap="square" lIns="0" tIns="0" rIns="0" bIns="0" rtlCol="0" anchor="t"/>
          <a:lstStyle/>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Add cards as you reach each phase rather than posting all forty on day one.</a:t>
            </a:r>
            <a:endParaRPr lang="en-US" sz="1265" dirty="0"/>
          </a:p>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Point to the card whenever you use the word out loud. Students copy what they see modelled.</a:t>
            </a:r>
            <a:endParaRPr lang="en-US" sz="1265" dirty="0"/>
          </a:p>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Ask students to use two wall words in every journal entry.</a:t>
            </a:r>
            <a:endParaRPr lang="en-US" sz="1265" dirty="0"/>
          </a:p>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Leave the wall up through the fair. Students use it when they write their abstract.</a:t>
            </a:r>
            <a:endParaRPr lang="en-US" sz="1265" dirty="0"/>
          </a:p>
        </p:txBody>
      </p:sp>
      <p:sp>
        <p:nvSpPr>
          <p:cNvPr id="28" name="Shape 25"/>
          <p:cNvSpPr/>
          <p:nvPr/>
        </p:nvSpPr>
        <p:spPr>
          <a:xfrm>
            <a:off x="623621" y="7422642"/>
            <a:ext cx="8811158" cy="0"/>
          </a:xfrm>
          <a:prstGeom prst="line">
            <a:avLst/>
          </a:prstGeom>
          <a:noFill/>
          <a:ln w="12700">
            <a:solidFill>
              <a:srgbClr val="E2E6E2"/>
            </a:solidFill>
            <a:prstDash val="solid"/>
          </a:ln>
        </p:spPr>
      </p:sp>
      <p:sp>
        <p:nvSpPr>
          <p:cNvPr id="29" name="Text 26"/>
          <p:cNvSpPr/>
          <p:nvPr/>
        </p:nvSpPr>
        <p:spPr>
          <a:xfrm>
            <a:off x="623621" y="7461504"/>
            <a:ext cx="5286695" cy="194310"/>
          </a:xfrm>
          <a:prstGeom prst="rect">
            <a:avLst/>
          </a:prstGeom>
          <a:noFill/>
          <a:ln/>
        </p:spPr>
        <p:txBody>
          <a:bodyPr wrap="square" lIns="0" tIns="0" rIns="0" bIns="0" rtlCol="0" anchor="ctr"/>
          <a:lstStyle/>
          <a:p>
            <a:pPr indent="0" marL="0">
              <a:buNone/>
            </a:pPr>
            <a:r>
              <a:rPr lang="en-US" sz="946" dirty="0">
                <a:solidFill>
                  <a:srgbClr val="6B756B"/>
                </a:solidFill>
                <a:latin typeface="DM Sans" pitchFamily="34" charset="0"/>
                <a:ea typeface="DM Sans" pitchFamily="34" charset="-122"/>
                <a:cs typeface="DM Sans" pitchFamily="34" charset="-120"/>
              </a:rPr>
              <a:t>FairGame Initiative  |  Word wall vocabulary, Grades 7 to 8</a:t>
            </a:r>
            <a:endParaRPr lang="en-US" sz="946" dirty="0"/>
          </a:p>
        </p:txBody>
      </p:sp>
      <p:sp>
        <p:nvSpPr>
          <p:cNvPr id="30" name="Text 27"/>
          <p:cNvSpPr/>
          <p:nvPr/>
        </p:nvSpPr>
        <p:spPr>
          <a:xfrm>
            <a:off x="5910316" y="7461504"/>
            <a:ext cx="3524463" cy="194310"/>
          </a:xfrm>
          <a:prstGeom prst="rect">
            <a:avLst/>
          </a:prstGeom>
          <a:noFill/>
          <a:ln/>
        </p:spPr>
        <p:txBody>
          <a:bodyPr wrap="square" lIns="0" tIns="0" rIns="0" bIns="0" rtlCol="0" anchor="ctr"/>
          <a:lstStyle/>
          <a:p>
            <a:pPr algn="r" indent="0" marL="0">
              <a:buNone/>
            </a:pPr>
            <a:r>
              <a:rPr lang="en-US" sz="946" i="1" dirty="0">
                <a:solidFill>
                  <a:srgbClr val="E0615A"/>
                </a:solidFill>
                <a:latin typeface="Playfair Display" pitchFamily="34" charset="0"/>
                <a:ea typeface="Playfair Display" pitchFamily="34" charset="-122"/>
                <a:cs typeface="Playfair Display" pitchFamily="34" charset="-120"/>
              </a:rPr>
              <a:t>Science fairs without barriers.</a:t>
            </a:r>
            <a:endParaRPr lang="en-US" sz="94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357A38"/>
            </a:solidFill>
            <a:prstDash val="solid"/>
          </a:ln>
        </p:spPr>
      </p:sp>
      <p:sp>
        <p:nvSpPr>
          <p:cNvPr id="3" name="Shape 1"/>
          <p:cNvSpPr/>
          <p:nvPr/>
        </p:nvSpPr>
        <p:spPr>
          <a:xfrm>
            <a:off x="221285" y="221285"/>
            <a:ext cx="4586630" cy="654290"/>
          </a:xfrm>
          <a:prstGeom prst="rect">
            <a:avLst/>
          </a:prstGeom>
          <a:solidFill>
            <a:srgbClr val="357A38"/>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Question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testable question that anticipates variability and can be answered through investigation.</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357A38"/>
            </a:solidFill>
            <a:prstDash val="solid"/>
          </a:ln>
        </p:spPr>
      </p:sp>
      <p:sp>
        <p:nvSpPr>
          <p:cNvPr id="8" name="Shape 6"/>
          <p:cNvSpPr/>
          <p:nvPr/>
        </p:nvSpPr>
        <p:spPr>
          <a:xfrm>
            <a:off x="5250485" y="221285"/>
            <a:ext cx="4586630" cy="654290"/>
          </a:xfrm>
          <a:prstGeom prst="rect">
            <a:avLst/>
          </a:prstGeom>
          <a:solidFill>
            <a:srgbClr val="357A38"/>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Background research</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review of existing knowledge that informs your design and situates your work.</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357A38"/>
            </a:solidFill>
            <a:prstDash val="solid"/>
          </a:ln>
        </p:spPr>
      </p:sp>
      <p:sp>
        <p:nvSpPr>
          <p:cNvPr id="13" name="Shape 11"/>
          <p:cNvSpPr/>
          <p:nvPr/>
        </p:nvSpPr>
        <p:spPr>
          <a:xfrm>
            <a:off x="221285" y="4107485"/>
            <a:ext cx="4586630" cy="654290"/>
          </a:xfrm>
          <a:prstGeom prst="rect">
            <a:avLst/>
          </a:prstGeom>
          <a:solidFill>
            <a:srgbClr val="357A38"/>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Source</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book, article, database, or expert providing information, evaluated for credibility.</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357A38"/>
            </a:solidFill>
            <a:prstDash val="solid"/>
          </a:ln>
        </p:spPr>
      </p:sp>
      <p:sp>
        <p:nvSpPr>
          <p:cNvPr id="18" name="Shape 16"/>
          <p:cNvSpPr/>
          <p:nvPr/>
        </p:nvSpPr>
        <p:spPr>
          <a:xfrm>
            <a:off x="5250485" y="4107485"/>
            <a:ext cx="4586630" cy="654290"/>
          </a:xfrm>
          <a:prstGeom prst="rect">
            <a:avLst/>
          </a:prstGeom>
          <a:solidFill>
            <a:srgbClr val="357A38"/>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Citation</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formatted reference crediting the origin of information, in MLA or APA style.</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357A38"/>
            </a:solidFill>
            <a:prstDash val="solid"/>
          </a:ln>
        </p:spPr>
      </p:sp>
      <p:sp>
        <p:nvSpPr>
          <p:cNvPr id="3" name="Shape 1"/>
          <p:cNvSpPr/>
          <p:nvPr/>
        </p:nvSpPr>
        <p:spPr>
          <a:xfrm>
            <a:off x="221285" y="221285"/>
            <a:ext cx="4586630" cy="654290"/>
          </a:xfrm>
          <a:prstGeom prst="rect">
            <a:avLst/>
          </a:prstGeom>
          <a:solidFill>
            <a:srgbClr val="357A38"/>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Bibliography</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complete alphabetized list of sources consulted, formatted consistently.</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357A38"/>
            </a:solidFill>
            <a:prstDash val="solid"/>
          </a:ln>
        </p:spPr>
      </p:sp>
      <p:sp>
        <p:nvSpPr>
          <p:cNvPr id="8" name="Shape 6"/>
          <p:cNvSpPr/>
          <p:nvPr/>
        </p:nvSpPr>
        <p:spPr>
          <a:xfrm>
            <a:off x="5250485" y="221285"/>
            <a:ext cx="4586630" cy="654290"/>
          </a:xfrm>
          <a:prstGeom prst="rect">
            <a:avLst/>
          </a:prstGeom>
          <a:solidFill>
            <a:srgbClr val="357A38"/>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Hypothesis</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testable prediction stated as if, then, because, grounded in prior reasoning.</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357A38"/>
            </a:solidFill>
            <a:prstDash val="solid"/>
          </a:ln>
        </p:spPr>
      </p:sp>
      <p:sp>
        <p:nvSpPr>
          <p:cNvPr id="13" name="Shape 11"/>
          <p:cNvSpPr/>
          <p:nvPr/>
        </p:nvSpPr>
        <p:spPr>
          <a:xfrm>
            <a:off x="221285" y="4107485"/>
            <a:ext cx="4586630" cy="654290"/>
          </a:xfrm>
          <a:prstGeom prst="rect">
            <a:avLst/>
          </a:prstGeom>
          <a:solidFill>
            <a:srgbClr val="357A38"/>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Prediction</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specific expected outcome derived from your hypothesis.</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1C3A1C"/>
            </a:solidFill>
            <a:prstDash val="solid"/>
          </a:ln>
        </p:spPr>
      </p:sp>
      <p:sp>
        <p:nvSpPr>
          <p:cNvPr id="18" name="Shape 16"/>
          <p:cNvSpPr/>
          <p:nvPr/>
        </p:nvSpPr>
        <p:spPr>
          <a:xfrm>
            <a:off x="5250485" y="4107485"/>
            <a:ext cx="4586630" cy="654290"/>
          </a:xfrm>
          <a:prstGeom prst="rect">
            <a:avLst/>
          </a:prstGeom>
          <a:solidFill>
            <a:srgbClr val="1C3A1C"/>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Experiment</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controlled procedure that isolates one variable to test a hypothesis.</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1C3A1C"/>
            </a:solidFill>
            <a:prstDash val="solid"/>
          </a:ln>
        </p:spPr>
      </p:sp>
      <p:sp>
        <p:nvSpPr>
          <p:cNvPr id="3" name="Shape 1"/>
          <p:cNvSpPr/>
          <p:nvPr/>
        </p:nvSpPr>
        <p:spPr>
          <a:xfrm>
            <a:off x="221285" y="221285"/>
            <a:ext cx="4586630" cy="654290"/>
          </a:xfrm>
          <a:prstGeom prst="rect">
            <a:avLst/>
          </a:prstGeom>
          <a:solidFill>
            <a:srgbClr val="1C3A1C"/>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Independent variable</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single factor deliberately manipulated by the researcher.</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1C3A1C"/>
            </a:solidFill>
            <a:prstDash val="solid"/>
          </a:ln>
        </p:spPr>
      </p:sp>
      <p:sp>
        <p:nvSpPr>
          <p:cNvPr id="8" name="Shape 6"/>
          <p:cNvSpPr/>
          <p:nvPr/>
        </p:nvSpPr>
        <p:spPr>
          <a:xfrm>
            <a:off x="5250485" y="221285"/>
            <a:ext cx="4586630" cy="654290"/>
          </a:xfrm>
          <a:prstGeom prst="rect">
            <a:avLst/>
          </a:prstGeom>
          <a:solidFill>
            <a:srgbClr val="1C3A1C"/>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Dependent variable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measured outcome expected to respond to the independent variable.</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1C3A1C"/>
            </a:solidFill>
            <a:prstDash val="solid"/>
          </a:ln>
        </p:spPr>
      </p:sp>
      <p:sp>
        <p:nvSpPr>
          <p:cNvPr id="13" name="Shape 11"/>
          <p:cNvSpPr/>
          <p:nvPr/>
        </p:nvSpPr>
        <p:spPr>
          <a:xfrm>
            <a:off x="221285" y="4107485"/>
            <a:ext cx="4586630" cy="654290"/>
          </a:xfrm>
          <a:prstGeom prst="rect">
            <a:avLst/>
          </a:prstGeom>
          <a:solidFill>
            <a:srgbClr val="1C3A1C"/>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Controlled variable</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factor held constant so it cannot confound the result.</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1C3A1C"/>
            </a:solidFill>
            <a:prstDash val="solid"/>
          </a:ln>
        </p:spPr>
      </p:sp>
      <p:sp>
        <p:nvSpPr>
          <p:cNvPr id="18" name="Shape 16"/>
          <p:cNvSpPr/>
          <p:nvPr/>
        </p:nvSpPr>
        <p:spPr>
          <a:xfrm>
            <a:off x="5250485" y="4107485"/>
            <a:ext cx="4586630" cy="654290"/>
          </a:xfrm>
          <a:prstGeom prst="rect">
            <a:avLst/>
          </a:prstGeom>
          <a:solidFill>
            <a:srgbClr val="1C3A1C"/>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Control group</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baseline condition receiving no treatment, used for comparison.</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1C3A1C"/>
            </a:solidFill>
            <a:prstDash val="solid"/>
          </a:ln>
        </p:spPr>
      </p:sp>
      <p:sp>
        <p:nvSpPr>
          <p:cNvPr id="3" name="Shape 1"/>
          <p:cNvSpPr/>
          <p:nvPr/>
        </p:nvSpPr>
        <p:spPr>
          <a:xfrm>
            <a:off x="221285" y="221285"/>
            <a:ext cx="4586630" cy="654290"/>
          </a:xfrm>
          <a:prstGeom prst="rect">
            <a:avLst/>
          </a:prstGeom>
          <a:solidFill>
            <a:srgbClr val="1C3A1C"/>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Procedure</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precise, numbered, replicable sequence of steps.</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1C3A1C"/>
            </a:solidFill>
            <a:prstDash val="solid"/>
          </a:ln>
        </p:spPr>
      </p:sp>
      <p:sp>
        <p:nvSpPr>
          <p:cNvPr id="8" name="Shape 6"/>
          <p:cNvSpPr/>
          <p:nvPr/>
        </p:nvSpPr>
        <p:spPr>
          <a:xfrm>
            <a:off x="5250485" y="221285"/>
            <a:ext cx="4586630" cy="654290"/>
          </a:xfrm>
          <a:prstGeom prst="rect">
            <a:avLst/>
          </a:prstGeom>
          <a:solidFill>
            <a:srgbClr val="1C3A1C"/>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Materials</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complete inventory of equipment and substances used, with quantities.</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1C3A1C"/>
            </a:solidFill>
            <a:prstDash val="solid"/>
          </a:ln>
        </p:spPr>
      </p:sp>
      <p:sp>
        <p:nvSpPr>
          <p:cNvPr id="13" name="Shape 11"/>
          <p:cNvSpPr/>
          <p:nvPr/>
        </p:nvSpPr>
        <p:spPr>
          <a:xfrm>
            <a:off x="221285" y="4107485"/>
            <a:ext cx="4586630" cy="654290"/>
          </a:xfrm>
          <a:prstGeom prst="rect">
            <a:avLst/>
          </a:prstGeom>
          <a:solidFill>
            <a:srgbClr val="1C3A1C"/>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Trial</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single execution of the procedure under one condition.</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1C3A1C"/>
            </a:solidFill>
            <a:prstDash val="solid"/>
          </a:ln>
        </p:spPr>
      </p:sp>
      <p:sp>
        <p:nvSpPr>
          <p:cNvPr id="18" name="Shape 16"/>
          <p:cNvSpPr/>
          <p:nvPr/>
        </p:nvSpPr>
        <p:spPr>
          <a:xfrm>
            <a:off x="5250485" y="4107485"/>
            <a:ext cx="4586630" cy="654290"/>
          </a:xfrm>
          <a:prstGeom prst="rect">
            <a:avLst/>
          </a:prstGeom>
          <a:solidFill>
            <a:srgbClr val="1C3A1C"/>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Sample size</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number of observations or subjects; larger samples reduce the influence of outliers.</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1C3A1C"/>
            </a:solidFill>
            <a:prstDash val="solid"/>
          </a:ln>
        </p:spPr>
      </p:sp>
      <p:sp>
        <p:nvSpPr>
          <p:cNvPr id="3" name="Shape 1"/>
          <p:cNvSpPr/>
          <p:nvPr/>
        </p:nvSpPr>
        <p:spPr>
          <a:xfrm>
            <a:off x="221285" y="221285"/>
            <a:ext cx="4586630" cy="654290"/>
          </a:xfrm>
          <a:prstGeom prst="rect">
            <a:avLst/>
          </a:prstGeom>
          <a:solidFill>
            <a:srgbClr val="1C3A1C"/>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Replication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Repeating trials to establish that a result is consistent and not chance.</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E0615A"/>
            </a:solidFill>
            <a:prstDash val="solid"/>
          </a:ln>
        </p:spPr>
      </p:sp>
      <p:sp>
        <p:nvSpPr>
          <p:cNvPr id="8" name="Shape 6"/>
          <p:cNvSpPr/>
          <p:nvPr/>
        </p:nvSpPr>
        <p:spPr>
          <a:xfrm>
            <a:off x="5250485" y="221285"/>
            <a:ext cx="4586630" cy="654290"/>
          </a:xfrm>
          <a:prstGeom prst="rect">
            <a:avLst/>
          </a:prstGeom>
          <a:solidFill>
            <a:srgbClr val="E0615A"/>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Data</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recorded quantitative and qualitative results of your investigation.</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E0615A"/>
            </a:solidFill>
            <a:prstDash val="solid"/>
          </a:ln>
        </p:spPr>
      </p:sp>
      <p:sp>
        <p:nvSpPr>
          <p:cNvPr id="13" name="Shape 11"/>
          <p:cNvSpPr/>
          <p:nvPr/>
        </p:nvSpPr>
        <p:spPr>
          <a:xfrm>
            <a:off x="221285" y="4107485"/>
            <a:ext cx="4586630" cy="654290"/>
          </a:xfrm>
          <a:prstGeom prst="rect">
            <a:avLst/>
          </a:prstGeom>
          <a:solidFill>
            <a:srgbClr val="E0615A"/>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Observation</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recorded perception of what occurred, distinct from interpretation.</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E0615A"/>
            </a:solidFill>
            <a:prstDash val="solid"/>
          </a:ln>
        </p:spPr>
      </p:sp>
      <p:sp>
        <p:nvSpPr>
          <p:cNvPr id="18" name="Shape 16"/>
          <p:cNvSpPr/>
          <p:nvPr/>
        </p:nvSpPr>
        <p:spPr>
          <a:xfrm>
            <a:off x="5250485" y="4107485"/>
            <a:ext cx="4586630" cy="654290"/>
          </a:xfrm>
          <a:prstGeom prst="rect">
            <a:avLst/>
          </a:prstGeom>
          <a:solidFill>
            <a:srgbClr val="E0615A"/>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Measurement</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quantified value obtained with a calibrated instrument, reported with units.</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E0615A"/>
            </a:solidFill>
            <a:prstDash val="solid"/>
          </a:ln>
        </p:spPr>
      </p:sp>
      <p:sp>
        <p:nvSpPr>
          <p:cNvPr id="3" name="Shape 1"/>
          <p:cNvSpPr/>
          <p:nvPr/>
        </p:nvSpPr>
        <p:spPr>
          <a:xfrm>
            <a:off x="221285" y="221285"/>
            <a:ext cx="4586630" cy="654290"/>
          </a:xfrm>
          <a:prstGeom prst="rect">
            <a:avLst/>
          </a:prstGeom>
          <a:solidFill>
            <a:srgbClr val="E0615A"/>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Units</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standard of quantity attached to a measurement; required on every axis and table.</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E0615A"/>
            </a:solidFill>
            <a:prstDash val="solid"/>
          </a:ln>
        </p:spPr>
      </p:sp>
      <p:sp>
        <p:nvSpPr>
          <p:cNvPr id="8" name="Shape 6"/>
          <p:cNvSpPr/>
          <p:nvPr/>
        </p:nvSpPr>
        <p:spPr>
          <a:xfrm>
            <a:off x="5250485" y="221285"/>
            <a:ext cx="4586630" cy="654290"/>
          </a:xfrm>
          <a:prstGeom prst="rect">
            <a:avLst/>
          </a:prstGeom>
          <a:solidFill>
            <a:srgbClr val="E0615A"/>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Data table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An organized array presenting raw and summarized results with labeled units.</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E0615A"/>
            </a:solidFill>
            <a:prstDash val="solid"/>
          </a:ln>
        </p:spPr>
      </p:sp>
      <p:sp>
        <p:nvSpPr>
          <p:cNvPr id="13" name="Shape 11"/>
          <p:cNvSpPr/>
          <p:nvPr/>
        </p:nvSpPr>
        <p:spPr>
          <a:xfrm>
            <a:off x="221285" y="4107485"/>
            <a:ext cx="4586630" cy="654290"/>
          </a:xfrm>
          <a:prstGeom prst="rect">
            <a:avLst/>
          </a:prstGeom>
          <a:solidFill>
            <a:srgbClr val="E0615A"/>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Lab notebook</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dated running record of procedure, data, and reasoning throughout the project.</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E0615A"/>
            </a:solidFill>
            <a:prstDash val="solid"/>
          </a:ln>
        </p:spPr>
      </p:sp>
      <p:sp>
        <p:nvSpPr>
          <p:cNvPr id="18" name="Shape 16"/>
          <p:cNvSpPr/>
          <p:nvPr/>
        </p:nvSpPr>
        <p:spPr>
          <a:xfrm>
            <a:off x="5250485" y="4107485"/>
            <a:ext cx="4586630" cy="654290"/>
          </a:xfrm>
          <a:prstGeom prst="rect">
            <a:avLst/>
          </a:prstGeom>
          <a:solidFill>
            <a:srgbClr val="E0615A"/>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Accuracy</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closeness of a measurement to the accepted or true value.</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E0615A"/>
            </a:solidFill>
            <a:prstDash val="solid"/>
          </a:ln>
        </p:spPr>
      </p:sp>
      <p:sp>
        <p:nvSpPr>
          <p:cNvPr id="3" name="Shape 1"/>
          <p:cNvSpPr/>
          <p:nvPr/>
        </p:nvSpPr>
        <p:spPr>
          <a:xfrm>
            <a:off x="221285" y="221285"/>
            <a:ext cx="4586630" cy="654290"/>
          </a:xfrm>
          <a:prstGeom prst="rect">
            <a:avLst/>
          </a:prstGeom>
          <a:solidFill>
            <a:srgbClr val="E0615A"/>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Precision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reproducibility of repeated measurements, independent of accuracy.</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4A9E4E"/>
            </a:solidFill>
            <a:prstDash val="solid"/>
          </a:ln>
        </p:spPr>
      </p:sp>
      <p:sp>
        <p:nvSpPr>
          <p:cNvPr id="8" name="Shape 6"/>
          <p:cNvSpPr/>
          <p:nvPr/>
        </p:nvSpPr>
        <p:spPr>
          <a:xfrm>
            <a:off x="5250485" y="221285"/>
            <a:ext cx="4586630" cy="654290"/>
          </a:xfrm>
          <a:prstGeom prst="rect">
            <a:avLst/>
          </a:prstGeom>
          <a:solidFill>
            <a:srgbClr val="4A9E4E"/>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Average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arithmetic mean; the sum of values divided by the count of values.</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4A9E4E"/>
            </a:solidFill>
            <a:prstDash val="solid"/>
          </a:ln>
        </p:spPr>
      </p:sp>
      <p:sp>
        <p:nvSpPr>
          <p:cNvPr id="13" name="Shape 11"/>
          <p:cNvSpPr/>
          <p:nvPr/>
        </p:nvSpPr>
        <p:spPr>
          <a:xfrm>
            <a:off x="221285" y="4107485"/>
            <a:ext cx="4586630" cy="654290"/>
          </a:xfrm>
          <a:prstGeom prst="rect">
            <a:avLst/>
          </a:prstGeom>
          <a:solidFill>
            <a:srgbClr val="4A9E4E"/>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Range</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difference between maximum and minimum values, describing spread.</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4A9E4E"/>
            </a:solidFill>
            <a:prstDash val="solid"/>
          </a:ln>
        </p:spPr>
      </p:sp>
      <p:sp>
        <p:nvSpPr>
          <p:cNvPr id="18" name="Shape 16"/>
          <p:cNvSpPr/>
          <p:nvPr/>
        </p:nvSpPr>
        <p:spPr>
          <a:xfrm>
            <a:off x="5250485" y="4107485"/>
            <a:ext cx="4586630" cy="654290"/>
          </a:xfrm>
          <a:prstGeom prst="rect">
            <a:avLst/>
          </a:prstGeom>
          <a:solidFill>
            <a:srgbClr val="4A9E4E"/>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Graph</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visual representation of data revealing relationships and trends.</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4A9E4E"/>
            </a:solidFill>
            <a:prstDash val="solid"/>
          </a:ln>
        </p:spPr>
      </p:sp>
      <p:sp>
        <p:nvSpPr>
          <p:cNvPr id="3" name="Shape 1"/>
          <p:cNvSpPr/>
          <p:nvPr/>
        </p:nvSpPr>
        <p:spPr>
          <a:xfrm>
            <a:off x="221285" y="221285"/>
            <a:ext cx="4586630" cy="654290"/>
          </a:xfrm>
          <a:prstGeom prst="rect">
            <a:avLst/>
          </a:prstGeom>
          <a:solidFill>
            <a:srgbClr val="4A9E4E"/>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Bar graph</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chart comparing discrete categories using bar length.</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4A9E4E"/>
            </a:solidFill>
            <a:prstDash val="solid"/>
          </a:ln>
        </p:spPr>
      </p:sp>
      <p:sp>
        <p:nvSpPr>
          <p:cNvPr id="8" name="Shape 6"/>
          <p:cNvSpPr/>
          <p:nvPr/>
        </p:nvSpPr>
        <p:spPr>
          <a:xfrm>
            <a:off x="5250485" y="221285"/>
            <a:ext cx="4586630" cy="654290"/>
          </a:xfrm>
          <a:prstGeom prst="rect">
            <a:avLst/>
          </a:prstGeom>
          <a:solidFill>
            <a:srgbClr val="4A9E4E"/>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Line graph</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chart displaying continuous change in a variable across an interval.</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4A9E4E"/>
            </a:solidFill>
            <a:prstDash val="solid"/>
          </a:ln>
        </p:spPr>
      </p:sp>
      <p:sp>
        <p:nvSpPr>
          <p:cNvPr id="13" name="Shape 11"/>
          <p:cNvSpPr/>
          <p:nvPr/>
        </p:nvSpPr>
        <p:spPr>
          <a:xfrm>
            <a:off x="221285" y="4107485"/>
            <a:ext cx="4586630" cy="654290"/>
          </a:xfrm>
          <a:prstGeom prst="rect">
            <a:avLst/>
          </a:prstGeom>
          <a:solidFill>
            <a:srgbClr val="4A9E4E"/>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Scatter plot</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plot of paired measurements used to reveal correlation between two variables.</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4A9E4E"/>
            </a:solidFill>
            <a:prstDash val="solid"/>
          </a:ln>
        </p:spPr>
      </p:sp>
      <p:sp>
        <p:nvSpPr>
          <p:cNvPr id="18" name="Shape 16"/>
          <p:cNvSpPr/>
          <p:nvPr/>
        </p:nvSpPr>
        <p:spPr>
          <a:xfrm>
            <a:off x="5250485" y="4107485"/>
            <a:ext cx="4586630" cy="654290"/>
          </a:xfrm>
          <a:prstGeom prst="rect">
            <a:avLst/>
          </a:prstGeom>
          <a:solidFill>
            <a:srgbClr val="4A9E4E"/>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Analysis</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systematic examination of data to identify patterns and support conclusions.</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254F25"/>
            </a:solidFill>
            <a:prstDash val="solid"/>
          </a:ln>
        </p:spPr>
      </p:sp>
      <p:sp>
        <p:nvSpPr>
          <p:cNvPr id="3" name="Shape 1"/>
          <p:cNvSpPr/>
          <p:nvPr/>
        </p:nvSpPr>
        <p:spPr>
          <a:xfrm>
            <a:off x="221285" y="221285"/>
            <a:ext cx="4586630" cy="654290"/>
          </a:xfrm>
          <a:prstGeom prst="rect">
            <a:avLst/>
          </a:prstGeom>
          <a:solidFill>
            <a:srgbClr val="254F25"/>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Claim</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statement answering the research question, supported by evidence.</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254F25"/>
            </a:solidFill>
            <a:prstDash val="solid"/>
          </a:ln>
        </p:spPr>
      </p:sp>
      <p:sp>
        <p:nvSpPr>
          <p:cNvPr id="8" name="Shape 6"/>
          <p:cNvSpPr/>
          <p:nvPr/>
        </p:nvSpPr>
        <p:spPr>
          <a:xfrm>
            <a:off x="5250485" y="221285"/>
            <a:ext cx="4586630" cy="654290"/>
          </a:xfrm>
          <a:prstGeom prst="rect">
            <a:avLst/>
          </a:prstGeom>
          <a:solidFill>
            <a:srgbClr val="254F25"/>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Evidence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Specific data cited in direct support of a claim.</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254F25"/>
            </a:solidFill>
            <a:prstDash val="solid"/>
          </a:ln>
        </p:spPr>
      </p:sp>
      <p:sp>
        <p:nvSpPr>
          <p:cNvPr id="13" name="Shape 11"/>
          <p:cNvSpPr/>
          <p:nvPr/>
        </p:nvSpPr>
        <p:spPr>
          <a:xfrm>
            <a:off x="221285" y="4107485"/>
            <a:ext cx="4586630" cy="654290"/>
          </a:xfrm>
          <a:prstGeom prst="rect">
            <a:avLst/>
          </a:prstGeom>
          <a:solidFill>
            <a:srgbClr val="254F25"/>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Reasoning</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logical connection explaining why the evidence supports the claim.</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254F25"/>
            </a:solidFill>
            <a:prstDash val="solid"/>
          </a:ln>
        </p:spPr>
      </p:sp>
      <p:sp>
        <p:nvSpPr>
          <p:cNvPr id="18" name="Shape 16"/>
          <p:cNvSpPr/>
          <p:nvPr/>
        </p:nvSpPr>
        <p:spPr>
          <a:xfrm>
            <a:off x="5250485" y="4107485"/>
            <a:ext cx="4586630" cy="654290"/>
          </a:xfrm>
          <a:prstGeom prst="rect">
            <a:avLst/>
          </a:prstGeom>
          <a:solidFill>
            <a:srgbClr val="254F25"/>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Conclusion</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reasoned interpretation stating whether the hypothesis was supported and why.</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254F25"/>
            </a:solidFill>
            <a:prstDash val="solid"/>
          </a:ln>
        </p:spPr>
      </p:sp>
      <p:sp>
        <p:nvSpPr>
          <p:cNvPr id="3" name="Shape 1"/>
          <p:cNvSpPr/>
          <p:nvPr/>
        </p:nvSpPr>
        <p:spPr>
          <a:xfrm>
            <a:off x="221285" y="221285"/>
            <a:ext cx="4586630" cy="654290"/>
          </a:xfrm>
          <a:prstGeom prst="rect">
            <a:avLst/>
          </a:prstGeom>
          <a:solidFill>
            <a:srgbClr val="254F25"/>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Limitation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known constraint on the design that qualifies the strength of your conclusion.</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254F25"/>
            </a:solidFill>
            <a:prstDash val="solid"/>
          </a:ln>
        </p:spPr>
      </p:sp>
      <p:sp>
        <p:nvSpPr>
          <p:cNvPr id="8" name="Shape 6"/>
          <p:cNvSpPr/>
          <p:nvPr/>
        </p:nvSpPr>
        <p:spPr>
          <a:xfrm>
            <a:off x="5250485" y="221285"/>
            <a:ext cx="4586630" cy="654290"/>
          </a:xfrm>
          <a:prstGeom prst="rect">
            <a:avLst/>
          </a:prstGeom>
          <a:solidFill>
            <a:srgbClr val="254F25"/>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Bias</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systematic error that skews results away from the true value.</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E8827D"/>
            </a:solidFill>
            <a:prstDash val="solid"/>
          </a:ln>
        </p:spPr>
      </p:sp>
      <p:sp>
        <p:nvSpPr>
          <p:cNvPr id="13" name="Shape 11"/>
          <p:cNvSpPr/>
          <p:nvPr/>
        </p:nvSpPr>
        <p:spPr>
          <a:xfrm>
            <a:off x="221285" y="4107485"/>
            <a:ext cx="4586630" cy="654290"/>
          </a:xfrm>
          <a:prstGeom prst="rect">
            <a:avLst/>
          </a:prstGeom>
          <a:solidFill>
            <a:srgbClr val="E8827D"/>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SHARING</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Abstract</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200 to 250 word summary of purpose, method, results, and conclusion.</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E8827D"/>
            </a:solidFill>
            <a:prstDash val="solid"/>
          </a:ln>
        </p:spPr>
      </p:sp>
      <p:sp>
        <p:nvSpPr>
          <p:cNvPr id="18" name="Shape 16"/>
          <p:cNvSpPr/>
          <p:nvPr/>
        </p:nvSpPr>
        <p:spPr>
          <a:xfrm>
            <a:off x="5250485" y="4107485"/>
            <a:ext cx="4586630" cy="654290"/>
          </a:xfrm>
          <a:prstGeom prst="rect">
            <a:avLst/>
          </a:prstGeom>
          <a:solidFill>
            <a:srgbClr val="E8827D"/>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SHARING</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Peer review</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Evaluation of work by others with relevant knowledge, to catch errors and improve rigor.</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FairGame Initiative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FairGame Vocabulary Word Wall Cards, Grades 7 to 8</dc:title>
  <dc:subject>PptxGenJS Presentation</dc:subject>
  <dc:creator>FairGame Initiative</dc:creator>
  <cp:lastModifiedBy>FairGame Initiative</cp:lastModifiedBy>
  <cp:revision>1</cp:revision>
  <dcterms:created xsi:type="dcterms:W3CDTF">2026-07-27T18:40:26Z</dcterms:created>
  <dcterms:modified xsi:type="dcterms:W3CDTF">2026-07-27T18:40:26Z</dcterms:modified>
</cp:coreProperties>
</file>