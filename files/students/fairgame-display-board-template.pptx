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0" cy="4023360"/>
          </a:xfrm>
          <a:prstGeom prst="rect">
            <a:avLst/>
          </a:prstGeom>
          <a:solidFill>
            <a:srgbClr val="1C3A1C"/>
          </a:solidFill>
          <a:ln/>
        </p:spPr>
      </p:sp>
      <p:sp>
        <p:nvSpPr>
          <p:cNvPr id="3" name="Text 1"/>
          <p:cNvSpPr/>
          <p:nvPr/>
        </p:nvSpPr>
        <p:spPr>
          <a:xfrm>
            <a:off x="1828800" y="457200"/>
            <a:ext cx="40233600" cy="2011680"/>
          </a:xfrm>
          <a:prstGeom prst="rect">
            <a:avLst/>
          </a:prstGeom>
          <a:noFill/>
          <a:ln/>
        </p:spPr>
        <p:txBody>
          <a:bodyPr wrap="square" rtlCol="0" anchor="ctr"/>
          <a:lstStyle/>
          <a:p>
            <a:pPr algn="ctr" indent="0" marL="0">
              <a:buNone/>
            </a:pPr>
            <a:r>
              <a:rPr lang="en-US" sz="9600" dirty="0">
                <a:solidFill>
                  <a:srgbClr val="FFFFFF"/>
                </a:solidFill>
                <a:latin typeface="Anton" pitchFamily="34" charset="0"/>
                <a:ea typeface="Anton" pitchFamily="34" charset="-122"/>
                <a:cs typeface="Anton" pitchFamily="34" charset="-120"/>
              </a:rPr>
              <a:t>[PROJECT TITLE]</a:t>
            </a:r>
            <a:endParaRPr lang="en-US" sz="9600" dirty="0"/>
          </a:p>
        </p:txBody>
      </p:sp>
      <p:sp>
        <p:nvSpPr>
          <p:cNvPr id="4" name="Text 2"/>
          <p:cNvSpPr/>
          <p:nvPr/>
        </p:nvSpPr>
        <p:spPr>
          <a:xfrm>
            <a:off x="1828800" y="2468880"/>
            <a:ext cx="40233600" cy="1097280"/>
          </a:xfrm>
          <a:prstGeom prst="rect">
            <a:avLst/>
          </a:prstGeom>
          <a:noFill/>
          <a:ln/>
        </p:spPr>
        <p:txBody>
          <a:bodyPr wrap="square" rtlCol="0" anchor="ctr"/>
          <a:lstStyle/>
          <a:p>
            <a:pPr algn="ctr" indent="0" marL="0">
              <a:buNone/>
            </a:pPr>
            <a:r>
              <a:rPr lang="en-US" sz="4000" dirty="0">
                <a:solidFill>
                  <a:srgbClr val="6AB86E"/>
                </a:solidFill>
                <a:latin typeface="DM Sans" pitchFamily="34" charset="0"/>
                <a:ea typeface="DM Sans" pitchFamily="34" charset="-122"/>
                <a:cs typeface="DM Sans" pitchFamily="34" charset="-120"/>
              </a:rPr>
              <a:t>[Your Name]   ·   [School]   ·   [Grade]</a:t>
            </a:r>
            <a:endParaRPr lang="en-US" sz="4000" dirty="0"/>
          </a:p>
        </p:txBody>
      </p:sp>
      <p:sp>
        <p:nvSpPr>
          <p:cNvPr id="5" name="Shape 3"/>
          <p:cNvSpPr/>
          <p:nvPr/>
        </p:nvSpPr>
        <p:spPr>
          <a:xfrm>
            <a:off x="14630400" y="4023360"/>
            <a:ext cx="0" cy="28895040"/>
          </a:xfrm>
          <a:prstGeom prst="line">
            <a:avLst/>
          </a:prstGeom>
          <a:noFill/>
          <a:ln w="25400">
            <a:solidFill>
              <a:srgbClr val="C8CEC8"/>
            </a:solidFill>
            <a:prstDash val="dash"/>
          </a:ln>
        </p:spPr>
      </p:sp>
      <p:sp>
        <p:nvSpPr>
          <p:cNvPr id="6" name="Shape 4"/>
          <p:cNvSpPr/>
          <p:nvPr/>
        </p:nvSpPr>
        <p:spPr>
          <a:xfrm>
            <a:off x="29260800" y="4023360"/>
            <a:ext cx="0" cy="28895040"/>
          </a:xfrm>
          <a:prstGeom prst="line">
            <a:avLst/>
          </a:prstGeom>
          <a:noFill/>
          <a:ln w="25400">
            <a:solidFill>
              <a:srgbClr val="C8CEC8"/>
            </a:solidFill>
            <a:prstDash val="dash"/>
          </a:ln>
        </p:spPr>
      </p:sp>
      <p:sp>
        <p:nvSpPr>
          <p:cNvPr id="7" name="Shape 5"/>
          <p:cNvSpPr/>
          <p:nvPr/>
        </p:nvSpPr>
        <p:spPr>
          <a:xfrm>
            <a:off x="1097280" y="4937760"/>
            <a:ext cx="12435840" cy="1005840"/>
          </a:xfrm>
          <a:prstGeom prst="rect">
            <a:avLst/>
          </a:prstGeom>
          <a:solidFill>
            <a:srgbClr val="357A38"/>
          </a:solidFill>
          <a:ln/>
        </p:spPr>
      </p:sp>
      <p:sp>
        <p:nvSpPr>
          <p:cNvPr id="8" name="Text 6"/>
          <p:cNvSpPr/>
          <p:nvPr/>
        </p:nvSpPr>
        <p:spPr>
          <a:xfrm>
            <a:off x="1371600" y="493776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QUESTION</a:t>
            </a:r>
            <a:endParaRPr lang="en-US" sz="3200" dirty="0"/>
          </a:p>
        </p:txBody>
      </p:sp>
      <p:sp>
        <p:nvSpPr>
          <p:cNvPr id="9" name="Shape 7"/>
          <p:cNvSpPr/>
          <p:nvPr/>
        </p:nvSpPr>
        <p:spPr>
          <a:xfrm>
            <a:off x="1097280" y="5943600"/>
            <a:ext cx="12435840" cy="4114800"/>
          </a:xfrm>
          <a:prstGeom prst="rect">
            <a:avLst/>
          </a:prstGeom>
          <a:solidFill>
            <a:srgbClr val="FFFFFF"/>
          </a:solidFill>
          <a:ln w="19050">
            <a:solidFill>
              <a:srgbClr val="C8CEC8"/>
            </a:solidFill>
            <a:prstDash val="solid"/>
          </a:ln>
        </p:spPr>
      </p:sp>
      <p:sp>
        <p:nvSpPr>
          <p:cNvPr id="10" name="Text 8"/>
          <p:cNvSpPr/>
          <p:nvPr/>
        </p:nvSpPr>
        <p:spPr>
          <a:xfrm>
            <a:off x="1417320" y="6126480"/>
            <a:ext cx="11795760" cy="374904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[State the question your project answers]</a:t>
            </a:r>
            <a:endParaRPr lang="en-US" sz="2000" dirty="0"/>
          </a:p>
        </p:txBody>
      </p:sp>
      <p:sp>
        <p:nvSpPr>
          <p:cNvPr id="11" name="Shape 9"/>
          <p:cNvSpPr/>
          <p:nvPr/>
        </p:nvSpPr>
        <p:spPr>
          <a:xfrm>
            <a:off x="1097280" y="10607040"/>
            <a:ext cx="12435840" cy="1005840"/>
          </a:xfrm>
          <a:prstGeom prst="rect">
            <a:avLst/>
          </a:prstGeom>
          <a:solidFill>
            <a:srgbClr val="357A38"/>
          </a:solidFill>
          <a:ln/>
        </p:spPr>
      </p:sp>
      <p:sp>
        <p:nvSpPr>
          <p:cNvPr id="12" name="Text 10"/>
          <p:cNvSpPr/>
          <p:nvPr/>
        </p:nvSpPr>
        <p:spPr>
          <a:xfrm>
            <a:off x="1371600" y="1060704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HYPOTHESIS</a:t>
            </a:r>
            <a:endParaRPr lang="en-US" sz="3200" dirty="0"/>
          </a:p>
        </p:txBody>
      </p:sp>
      <p:sp>
        <p:nvSpPr>
          <p:cNvPr id="13" name="Shape 11"/>
          <p:cNvSpPr/>
          <p:nvPr/>
        </p:nvSpPr>
        <p:spPr>
          <a:xfrm>
            <a:off x="1097280" y="11612880"/>
            <a:ext cx="12435840" cy="5029200"/>
          </a:xfrm>
          <a:prstGeom prst="rect">
            <a:avLst/>
          </a:prstGeom>
          <a:solidFill>
            <a:srgbClr val="FFFFFF"/>
          </a:solidFill>
          <a:ln w="19050">
            <a:solidFill>
              <a:srgbClr val="C8CEC8"/>
            </a:solidFill>
            <a:prstDash val="solid"/>
          </a:ln>
        </p:spPr>
      </p:sp>
      <p:sp>
        <p:nvSpPr>
          <p:cNvPr id="14" name="Text 12"/>
          <p:cNvSpPr/>
          <p:nvPr/>
        </p:nvSpPr>
        <p:spPr>
          <a:xfrm>
            <a:off x="1417320" y="11795760"/>
            <a:ext cx="11795760" cy="466344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[Your if, then, because statement]</a:t>
            </a:r>
            <a:endParaRPr lang="en-US" sz="2000" dirty="0"/>
          </a:p>
        </p:txBody>
      </p:sp>
      <p:sp>
        <p:nvSpPr>
          <p:cNvPr id="15" name="Shape 13"/>
          <p:cNvSpPr/>
          <p:nvPr/>
        </p:nvSpPr>
        <p:spPr>
          <a:xfrm>
            <a:off x="1097280" y="17190720"/>
            <a:ext cx="12435840" cy="1005840"/>
          </a:xfrm>
          <a:prstGeom prst="rect">
            <a:avLst/>
          </a:prstGeom>
          <a:solidFill>
            <a:srgbClr val="357A38"/>
          </a:solidFill>
          <a:ln/>
        </p:spPr>
      </p:sp>
      <p:sp>
        <p:nvSpPr>
          <p:cNvPr id="16" name="Text 14"/>
          <p:cNvSpPr/>
          <p:nvPr/>
        </p:nvSpPr>
        <p:spPr>
          <a:xfrm>
            <a:off x="1371600" y="1719072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MATERIALS</a:t>
            </a:r>
            <a:endParaRPr lang="en-US" sz="3200" dirty="0"/>
          </a:p>
        </p:txBody>
      </p:sp>
      <p:sp>
        <p:nvSpPr>
          <p:cNvPr id="17" name="Shape 15"/>
          <p:cNvSpPr/>
          <p:nvPr/>
        </p:nvSpPr>
        <p:spPr>
          <a:xfrm>
            <a:off x="1097280" y="18196560"/>
            <a:ext cx="12435840" cy="5212080"/>
          </a:xfrm>
          <a:prstGeom prst="rect">
            <a:avLst/>
          </a:prstGeom>
          <a:solidFill>
            <a:srgbClr val="FFFFFF"/>
          </a:solidFill>
          <a:ln w="19050">
            <a:solidFill>
              <a:srgbClr val="C8CEC8"/>
            </a:solidFill>
            <a:prstDash val="solid"/>
          </a:ln>
        </p:spPr>
      </p:sp>
      <p:sp>
        <p:nvSpPr>
          <p:cNvPr id="18" name="Text 16"/>
          <p:cNvSpPr/>
          <p:nvPr/>
        </p:nvSpPr>
        <p:spPr>
          <a:xfrm>
            <a:off x="1417320" y="18379440"/>
            <a:ext cx="11795760" cy="484632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[List your materials]</a:t>
            </a:r>
            <a:endParaRPr lang="en-US" sz="2000" dirty="0"/>
          </a:p>
        </p:txBody>
      </p:sp>
      <p:sp>
        <p:nvSpPr>
          <p:cNvPr id="19" name="Shape 17"/>
          <p:cNvSpPr/>
          <p:nvPr/>
        </p:nvSpPr>
        <p:spPr>
          <a:xfrm>
            <a:off x="1097280" y="23957280"/>
            <a:ext cx="12435840" cy="1005840"/>
          </a:xfrm>
          <a:prstGeom prst="rect">
            <a:avLst/>
          </a:prstGeom>
          <a:solidFill>
            <a:srgbClr val="357A38"/>
          </a:solidFill>
          <a:ln/>
        </p:spPr>
      </p:sp>
      <p:sp>
        <p:nvSpPr>
          <p:cNvPr id="20" name="Text 18"/>
          <p:cNvSpPr/>
          <p:nvPr/>
        </p:nvSpPr>
        <p:spPr>
          <a:xfrm>
            <a:off x="1371600" y="2395728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PROCEDURE</a:t>
            </a:r>
            <a:endParaRPr lang="en-US" sz="3200" dirty="0"/>
          </a:p>
        </p:txBody>
      </p:sp>
      <p:sp>
        <p:nvSpPr>
          <p:cNvPr id="21" name="Shape 19"/>
          <p:cNvSpPr/>
          <p:nvPr/>
        </p:nvSpPr>
        <p:spPr>
          <a:xfrm>
            <a:off x="1097280" y="24963120"/>
            <a:ext cx="12435840" cy="6858000"/>
          </a:xfrm>
          <a:prstGeom prst="rect">
            <a:avLst/>
          </a:prstGeom>
          <a:solidFill>
            <a:srgbClr val="FFFFFF"/>
          </a:solidFill>
          <a:ln w="19050">
            <a:solidFill>
              <a:srgbClr val="C8CEC8"/>
            </a:solidFill>
            <a:prstDash val="solid"/>
          </a:ln>
        </p:spPr>
      </p:sp>
      <p:sp>
        <p:nvSpPr>
          <p:cNvPr id="22" name="Text 20"/>
          <p:cNvSpPr/>
          <p:nvPr/>
        </p:nvSpPr>
        <p:spPr>
          <a:xfrm>
            <a:off x="1417320" y="25146000"/>
            <a:ext cx="11795760" cy="649224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[Number your steps so a reader could repeat your experiment]</a:t>
            </a:r>
            <a:endParaRPr lang="en-US" sz="2000" dirty="0"/>
          </a:p>
        </p:txBody>
      </p:sp>
      <p:sp>
        <p:nvSpPr>
          <p:cNvPr id="23" name="Shape 21"/>
          <p:cNvSpPr/>
          <p:nvPr/>
        </p:nvSpPr>
        <p:spPr>
          <a:xfrm>
            <a:off x="15727680" y="4937760"/>
            <a:ext cx="12435840" cy="1005840"/>
          </a:xfrm>
          <a:prstGeom prst="rect">
            <a:avLst/>
          </a:prstGeom>
          <a:solidFill>
            <a:srgbClr val="1C3A1C"/>
          </a:solidFill>
          <a:ln/>
        </p:spPr>
      </p:sp>
      <p:sp>
        <p:nvSpPr>
          <p:cNvPr id="24" name="Text 22"/>
          <p:cNvSpPr/>
          <p:nvPr/>
        </p:nvSpPr>
        <p:spPr>
          <a:xfrm>
            <a:off x="16002000" y="493776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DATA</a:t>
            </a:r>
            <a:endParaRPr lang="en-US" sz="3200" dirty="0"/>
          </a:p>
        </p:txBody>
      </p:sp>
      <p:sp>
        <p:nvSpPr>
          <p:cNvPr id="25" name="Shape 23"/>
          <p:cNvSpPr/>
          <p:nvPr/>
        </p:nvSpPr>
        <p:spPr>
          <a:xfrm>
            <a:off x="15727680" y="5943600"/>
            <a:ext cx="12435840" cy="11247120"/>
          </a:xfrm>
          <a:prstGeom prst="rect">
            <a:avLst/>
          </a:prstGeom>
          <a:solidFill>
            <a:srgbClr val="FFFFFF"/>
          </a:solidFill>
          <a:ln w="19050">
            <a:solidFill>
              <a:srgbClr val="C8CEC8"/>
            </a:solidFill>
            <a:prstDash val="solid"/>
          </a:ln>
        </p:spPr>
      </p:sp>
      <p:sp>
        <p:nvSpPr>
          <p:cNvPr id="26" name="Text 24"/>
          <p:cNvSpPr/>
          <p:nvPr/>
        </p:nvSpPr>
        <p:spPr>
          <a:xfrm>
            <a:off x="16047720" y="6126480"/>
            <a:ext cx="11795760" cy="1088136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[Place your main data table and graphs here. Print high-quality graphics. Charts from the FairGame Graph Templates paste cleanly.]</a:t>
            </a:r>
            <a:endParaRPr lang="en-US" sz="2000" dirty="0"/>
          </a:p>
        </p:txBody>
      </p:sp>
      <p:sp>
        <p:nvSpPr>
          <p:cNvPr id="27" name="Shape 25"/>
          <p:cNvSpPr/>
          <p:nvPr/>
        </p:nvSpPr>
        <p:spPr>
          <a:xfrm>
            <a:off x="15727680" y="17739360"/>
            <a:ext cx="12435840" cy="1005840"/>
          </a:xfrm>
          <a:prstGeom prst="rect">
            <a:avLst/>
          </a:prstGeom>
          <a:solidFill>
            <a:srgbClr val="1C3A1C"/>
          </a:solidFill>
          <a:ln/>
        </p:spPr>
      </p:sp>
      <p:sp>
        <p:nvSpPr>
          <p:cNvPr id="28" name="Text 26"/>
          <p:cNvSpPr/>
          <p:nvPr/>
        </p:nvSpPr>
        <p:spPr>
          <a:xfrm>
            <a:off x="16002000" y="1773936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GRAPHS</a:t>
            </a:r>
            <a:endParaRPr lang="en-US" sz="3200" dirty="0"/>
          </a:p>
        </p:txBody>
      </p:sp>
      <p:sp>
        <p:nvSpPr>
          <p:cNvPr id="29" name="Shape 27"/>
          <p:cNvSpPr/>
          <p:nvPr/>
        </p:nvSpPr>
        <p:spPr>
          <a:xfrm>
            <a:off x="15727680" y="18745200"/>
            <a:ext cx="12435840" cy="7223760"/>
          </a:xfrm>
          <a:prstGeom prst="rect">
            <a:avLst/>
          </a:prstGeom>
          <a:solidFill>
            <a:srgbClr val="FFFFFF"/>
          </a:solidFill>
          <a:ln w="19050">
            <a:solidFill>
              <a:srgbClr val="C8CEC8"/>
            </a:solidFill>
            <a:prstDash val="solid"/>
          </a:ln>
        </p:spPr>
      </p:sp>
      <p:sp>
        <p:nvSpPr>
          <p:cNvPr id="30" name="Text 28"/>
          <p:cNvSpPr/>
          <p:nvPr/>
        </p:nvSpPr>
        <p:spPr>
          <a:xfrm>
            <a:off x="16047720" y="18928080"/>
            <a:ext cx="11795760" cy="685800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[One clear graph beats three crowded ones. Label axes with units.]</a:t>
            </a:r>
            <a:endParaRPr lang="en-US" sz="2000" dirty="0"/>
          </a:p>
        </p:txBody>
      </p:sp>
      <p:sp>
        <p:nvSpPr>
          <p:cNvPr id="31" name="Shape 29"/>
          <p:cNvSpPr/>
          <p:nvPr/>
        </p:nvSpPr>
        <p:spPr>
          <a:xfrm>
            <a:off x="15727680" y="26517600"/>
            <a:ext cx="12435840" cy="1005840"/>
          </a:xfrm>
          <a:prstGeom prst="rect">
            <a:avLst/>
          </a:prstGeom>
          <a:solidFill>
            <a:srgbClr val="1C3A1C"/>
          </a:solidFill>
          <a:ln/>
        </p:spPr>
      </p:sp>
      <p:sp>
        <p:nvSpPr>
          <p:cNvPr id="32" name="Text 30"/>
          <p:cNvSpPr/>
          <p:nvPr/>
        </p:nvSpPr>
        <p:spPr>
          <a:xfrm>
            <a:off x="16002000" y="2651760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PHOTOS OF THE EXPERIMENT</a:t>
            </a:r>
            <a:endParaRPr lang="en-US" sz="3200" dirty="0"/>
          </a:p>
        </p:txBody>
      </p:sp>
      <p:sp>
        <p:nvSpPr>
          <p:cNvPr id="33" name="Shape 31"/>
          <p:cNvSpPr/>
          <p:nvPr/>
        </p:nvSpPr>
        <p:spPr>
          <a:xfrm>
            <a:off x="15727680" y="27523440"/>
            <a:ext cx="12435840" cy="4297680"/>
          </a:xfrm>
          <a:prstGeom prst="rect">
            <a:avLst/>
          </a:prstGeom>
          <a:solidFill>
            <a:srgbClr val="FFFFFF"/>
          </a:solidFill>
          <a:ln w="19050">
            <a:solidFill>
              <a:srgbClr val="C8CEC8"/>
            </a:solidFill>
            <a:prstDash val="solid"/>
          </a:ln>
        </p:spPr>
      </p:sp>
      <p:sp>
        <p:nvSpPr>
          <p:cNvPr id="34" name="Text 32"/>
          <p:cNvSpPr/>
          <p:nvPr/>
        </p:nvSpPr>
        <p:spPr>
          <a:xfrm>
            <a:off x="16047720" y="27706320"/>
            <a:ext cx="11795760" cy="393192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[Show photos of you doing the work]</a:t>
            </a:r>
            <a:endParaRPr lang="en-US" sz="2000" dirty="0"/>
          </a:p>
        </p:txBody>
      </p:sp>
      <p:sp>
        <p:nvSpPr>
          <p:cNvPr id="35" name="Shape 33"/>
          <p:cNvSpPr/>
          <p:nvPr/>
        </p:nvSpPr>
        <p:spPr>
          <a:xfrm>
            <a:off x="30358080" y="4937760"/>
            <a:ext cx="12435840" cy="1005840"/>
          </a:xfrm>
          <a:prstGeom prst="rect">
            <a:avLst/>
          </a:prstGeom>
          <a:solidFill>
            <a:srgbClr val="357A38"/>
          </a:solidFill>
          <a:ln/>
        </p:spPr>
      </p:sp>
      <p:sp>
        <p:nvSpPr>
          <p:cNvPr id="36" name="Text 34"/>
          <p:cNvSpPr/>
          <p:nvPr/>
        </p:nvSpPr>
        <p:spPr>
          <a:xfrm>
            <a:off x="30632400" y="493776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RESULTS</a:t>
            </a:r>
            <a:endParaRPr lang="en-US" sz="3200" dirty="0"/>
          </a:p>
        </p:txBody>
      </p:sp>
      <p:sp>
        <p:nvSpPr>
          <p:cNvPr id="37" name="Shape 35"/>
          <p:cNvSpPr/>
          <p:nvPr/>
        </p:nvSpPr>
        <p:spPr>
          <a:xfrm>
            <a:off x="30358080" y="5943600"/>
            <a:ext cx="12435840" cy="6858000"/>
          </a:xfrm>
          <a:prstGeom prst="rect">
            <a:avLst/>
          </a:prstGeom>
          <a:solidFill>
            <a:srgbClr val="FFFFFF"/>
          </a:solidFill>
          <a:ln w="19050">
            <a:solidFill>
              <a:srgbClr val="C8CEC8"/>
            </a:solidFill>
            <a:prstDash val="solid"/>
          </a:ln>
        </p:spPr>
      </p:sp>
      <p:sp>
        <p:nvSpPr>
          <p:cNvPr id="38" name="Text 36"/>
          <p:cNvSpPr/>
          <p:nvPr/>
        </p:nvSpPr>
        <p:spPr>
          <a:xfrm>
            <a:off x="30678120" y="6126480"/>
            <a:ext cx="11795760" cy="649224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[What happened, in plain language, with your key numbers]</a:t>
            </a:r>
            <a:endParaRPr lang="en-US" sz="2000" dirty="0"/>
          </a:p>
        </p:txBody>
      </p:sp>
      <p:sp>
        <p:nvSpPr>
          <p:cNvPr id="39" name="Shape 37"/>
          <p:cNvSpPr/>
          <p:nvPr/>
        </p:nvSpPr>
        <p:spPr>
          <a:xfrm>
            <a:off x="30358080" y="13350240"/>
            <a:ext cx="12435840" cy="1005840"/>
          </a:xfrm>
          <a:prstGeom prst="rect">
            <a:avLst/>
          </a:prstGeom>
          <a:solidFill>
            <a:srgbClr val="357A38"/>
          </a:solidFill>
          <a:ln/>
        </p:spPr>
      </p:sp>
      <p:sp>
        <p:nvSpPr>
          <p:cNvPr id="40" name="Text 38"/>
          <p:cNvSpPr/>
          <p:nvPr/>
        </p:nvSpPr>
        <p:spPr>
          <a:xfrm>
            <a:off x="30632400" y="1335024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CONCLUSIONS</a:t>
            </a:r>
            <a:endParaRPr lang="en-US" sz="3200" dirty="0"/>
          </a:p>
        </p:txBody>
      </p:sp>
      <p:sp>
        <p:nvSpPr>
          <p:cNvPr id="41" name="Shape 39"/>
          <p:cNvSpPr/>
          <p:nvPr/>
        </p:nvSpPr>
        <p:spPr>
          <a:xfrm>
            <a:off x="30358080" y="14356080"/>
            <a:ext cx="12435840" cy="6858000"/>
          </a:xfrm>
          <a:prstGeom prst="rect">
            <a:avLst/>
          </a:prstGeom>
          <a:solidFill>
            <a:srgbClr val="FFFFFF"/>
          </a:solidFill>
          <a:ln w="19050">
            <a:solidFill>
              <a:srgbClr val="C8CEC8"/>
            </a:solidFill>
            <a:prstDash val="solid"/>
          </a:ln>
        </p:spPr>
      </p:sp>
      <p:sp>
        <p:nvSpPr>
          <p:cNvPr id="42" name="Text 40"/>
          <p:cNvSpPr/>
          <p:nvPr/>
        </p:nvSpPr>
        <p:spPr>
          <a:xfrm>
            <a:off x="30678120" y="14538960"/>
            <a:ext cx="11795760" cy="649224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[Did the results support your hypothesis? An unsupported hypothesis is still a result.]</a:t>
            </a:r>
            <a:endParaRPr lang="en-US" sz="2000" dirty="0"/>
          </a:p>
        </p:txBody>
      </p:sp>
      <p:sp>
        <p:nvSpPr>
          <p:cNvPr id="43" name="Shape 41"/>
          <p:cNvSpPr/>
          <p:nvPr/>
        </p:nvSpPr>
        <p:spPr>
          <a:xfrm>
            <a:off x="30358080" y="21762720"/>
            <a:ext cx="12435840" cy="1005840"/>
          </a:xfrm>
          <a:prstGeom prst="rect">
            <a:avLst/>
          </a:prstGeom>
          <a:solidFill>
            <a:srgbClr val="357A38"/>
          </a:solidFill>
          <a:ln/>
        </p:spPr>
      </p:sp>
      <p:sp>
        <p:nvSpPr>
          <p:cNvPr id="44" name="Text 42"/>
          <p:cNvSpPr/>
          <p:nvPr/>
        </p:nvSpPr>
        <p:spPr>
          <a:xfrm>
            <a:off x="30632400" y="2176272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REAL-WORLD APPLICATIONS</a:t>
            </a:r>
            <a:endParaRPr lang="en-US" sz="3200" dirty="0"/>
          </a:p>
        </p:txBody>
      </p:sp>
      <p:sp>
        <p:nvSpPr>
          <p:cNvPr id="45" name="Shape 43"/>
          <p:cNvSpPr/>
          <p:nvPr/>
        </p:nvSpPr>
        <p:spPr>
          <a:xfrm>
            <a:off x="30358080" y="22768560"/>
            <a:ext cx="12435840" cy="4663440"/>
          </a:xfrm>
          <a:prstGeom prst="rect">
            <a:avLst/>
          </a:prstGeom>
          <a:solidFill>
            <a:srgbClr val="FFFFFF"/>
          </a:solidFill>
          <a:ln w="19050">
            <a:solidFill>
              <a:srgbClr val="C8CEC8"/>
            </a:solidFill>
            <a:prstDash val="solid"/>
          </a:ln>
        </p:spPr>
      </p:sp>
      <p:sp>
        <p:nvSpPr>
          <p:cNvPr id="46" name="Text 44"/>
          <p:cNvSpPr/>
          <p:nvPr/>
        </p:nvSpPr>
        <p:spPr>
          <a:xfrm>
            <a:off x="30678120" y="22951440"/>
            <a:ext cx="11795760" cy="429768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[Why your finding matters outside the fair]</a:t>
            </a:r>
            <a:endParaRPr lang="en-US" sz="2000" dirty="0"/>
          </a:p>
        </p:txBody>
      </p:sp>
      <p:sp>
        <p:nvSpPr>
          <p:cNvPr id="47" name="Shape 45"/>
          <p:cNvSpPr/>
          <p:nvPr/>
        </p:nvSpPr>
        <p:spPr>
          <a:xfrm>
            <a:off x="30358080" y="27980640"/>
            <a:ext cx="12435840" cy="1005840"/>
          </a:xfrm>
          <a:prstGeom prst="rect">
            <a:avLst/>
          </a:prstGeom>
          <a:solidFill>
            <a:srgbClr val="357A38"/>
          </a:solidFill>
          <a:ln/>
        </p:spPr>
      </p:sp>
      <p:sp>
        <p:nvSpPr>
          <p:cNvPr id="48" name="Text 46"/>
          <p:cNvSpPr/>
          <p:nvPr/>
        </p:nvSpPr>
        <p:spPr>
          <a:xfrm>
            <a:off x="30632400" y="27980640"/>
            <a:ext cx="11887200" cy="1005840"/>
          </a:xfrm>
          <a:prstGeom prst="rect">
            <a:avLst/>
          </a:prstGeom>
          <a:noFill/>
          <a:ln/>
        </p:spPr>
        <p:txBody>
          <a:bodyPr wrap="square" lIns="0" tIns="0" rIns="0" bIns="0" rtlCol="0" anchor="ctr"/>
          <a:lstStyle/>
          <a:p>
            <a:pPr indent="0" marL="0">
              <a:buNone/>
            </a:pPr>
            <a:r>
              <a:rPr lang="en-US" sz="3200" b="1" spc="400" kern="0" dirty="0">
                <a:solidFill>
                  <a:srgbClr val="FFFFFF"/>
                </a:solidFill>
                <a:latin typeface="DM Sans" pitchFamily="34" charset="0"/>
                <a:ea typeface="DM Sans" pitchFamily="34" charset="-122"/>
                <a:cs typeface="DM Sans" pitchFamily="34" charset="-120"/>
              </a:rPr>
              <a:t>ACKNOWLEDGMENTS</a:t>
            </a:r>
            <a:endParaRPr lang="en-US" sz="3200" dirty="0"/>
          </a:p>
        </p:txBody>
      </p:sp>
      <p:sp>
        <p:nvSpPr>
          <p:cNvPr id="49" name="Shape 47"/>
          <p:cNvSpPr/>
          <p:nvPr/>
        </p:nvSpPr>
        <p:spPr>
          <a:xfrm>
            <a:off x="30358080" y="28986480"/>
            <a:ext cx="12435840" cy="2834640"/>
          </a:xfrm>
          <a:prstGeom prst="rect">
            <a:avLst/>
          </a:prstGeom>
          <a:solidFill>
            <a:srgbClr val="FFFFFF"/>
          </a:solidFill>
          <a:ln w="19050">
            <a:solidFill>
              <a:srgbClr val="C8CEC8"/>
            </a:solidFill>
            <a:prstDash val="solid"/>
          </a:ln>
        </p:spPr>
      </p:sp>
      <p:sp>
        <p:nvSpPr>
          <p:cNvPr id="50" name="Text 48"/>
          <p:cNvSpPr/>
          <p:nvPr/>
        </p:nvSpPr>
        <p:spPr>
          <a:xfrm>
            <a:off x="30678120" y="29169360"/>
            <a:ext cx="11795760" cy="2468880"/>
          </a:xfrm>
          <a:prstGeom prst="rect">
            <a:avLst/>
          </a:prstGeom>
          <a:noFill/>
          <a:ln/>
        </p:spPr>
        <p:txBody>
          <a:bodyPr wrap="square" lIns="0" tIns="0" rIns="0" bIns="0" rtlCol="0" anchor="t"/>
          <a:lstStyle/>
          <a:p>
            <a:pPr indent="0" marL="0">
              <a:buNone/>
            </a:pPr>
            <a:r>
              <a:rPr lang="en-US" sz="2000" i="1" dirty="0">
                <a:solidFill>
                  <a:srgbClr val="6B756B"/>
                </a:solidFill>
                <a:latin typeface="DM Sans" pitchFamily="34" charset="0"/>
                <a:ea typeface="DM Sans" pitchFamily="34" charset="-122"/>
                <a:cs typeface="DM Sans" pitchFamily="34" charset="-120"/>
              </a:rPr>
              <a:t>[Who helped, and what they did]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3A1C"/>
        </a:solidFill>
      </p:bgPr>
    </p:bg>
    <p:spTree>
      <p:nvGrpSpPr>
        <p:cNvPr id="1" name=""/>
        <p:cNvGrpSpPr/>
        <p:nvPr/>
      </p:nvGrpSpPr>
      <p:grpSpPr>
        <a:xfrm>
          <a:off x="0" y="0"/>
          <a:ext cx="0" cy="0"/>
          <a:chOff x="0" y="0"/>
          <a:chExt cx="0" cy="0"/>
        </a:xfrm>
      </p:grpSpPr>
      <p:sp>
        <p:nvSpPr>
          <p:cNvPr id="2" name="Text 0"/>
          <p:cNvSpPr/>
          <p:nvPr/>
        </p:nvSpPr>
        <p:spPr>
          <a:xfrm>
            <a:off x="2743200" y="2011680"/>
            <a:ext cx="38404800" cy="2743200"/>
          </a:xfrm>
          <a:prstGeom prst="rect">
            <a:avLst/>
          </a:prstGeom>
          <a:noFill/>
          <a:ln/>
        </p:spPr>
        <p:txBody>
          <a:bodyPr wrap="square" rtlCol="0" anchor="ctr"/>
          <a:lstStyle/>
          <a:p>
            <a:pPr indent="0" marL="0">
              <a:buNone/>
            </a:pPr>
            <a:r>
              <a:rPr lang="en-US" sz="11000" dirty="0">
                <a:solidFill>
                  <a:srgbClr val="FFFFFF"/>
                </a:solidFill>
                <a:latin typeface="Anton" pitchFamily="34" charset="0"/>
                <a:ea typeface="Anton" pitchFamily="34" charset="-122"/>
                <a:cs typeface="Anton" pitchFamily="34" charset="-120"/>
              </a:rPr>
              <a:t>HOW TO USE THIS TEMPLATE</a:t>
            </a:r>
            <a:endParaRPr lang="en-US" sz="11000" dirty="0"/>
          </a:p>
        </p:txBody>
      </p:sp>
      <p:sp>
        <p:nvSpPr>
          <p:cNvPr id="3" name="Text 1"/>
          <p:cNvSpPr/>
          <p:nvPr/>
        </p:nvSpPr>
        <p:spPr>
          <a:xfrm>
            <a:off x="2743200" y="4937760"/>
            <a:ext cx="38404800" cy="1463040"/>
          </a:xfrm>
          <a:prstGeom prst="rect">
            <a:avLst/>
          </a:prstGeom>
          <a:noFill/>
          <a:ln/>
        </p:spPr>
        <p:txBody>
          <a:bodyPr wrap="square" rtlCol="0" anchor="ctr"/>
          <a:lstStyle/>
          <a:p>
            <a:pPr indent="0" marL="0">
              <a:buNone/>
            </a:pPr>
            <a:r>
              <a:rPr lang="en-US" sz="4400" i="1" dirty="0">
                <a:solidFill>
                  <a:srgbClr val="E0615A"/>
                </a:solidFill>
                <a:latin typeface="Playfair Display" pitchFamily="34" charset="0"/>
                <a:ea typeface="Playfair Display" pitchFamily="34" charset="-122"/>
                <a:cs typeface="Playfair Display" pitchFamily="34" charset="-120"/>
              </a:rPr>
              <a:t>Science fairs without barriers.</a:t>
            </a:r>
            <a:endParaRPr lang="en-US" sz="4400" dirty="0"/>
          </a:p>
        </p:txBody>
      </p:sp>
      <p:sp>
        <p:nvSpPr>
          <p:cNvPr id="4" name="Shape 2"/>
          <p:cNvSpPr/>
          <p:nvPr/>
        </p:nvSpPr>
        <p:spPr>
          <a:xfrm>
            <a:off x="2743200" y="7543800"/>
            <a:ext cx="640080" cy="640080"/>
          </a:xfrm>
          <a:prstGeom prst="ellipse">
            <a:avLst/>
          </a:prstGeom>
          <a:solidFill>
            <a:srgbClr val="6AB86E"/>
          </a:solidFill>
          <a:ln/>
        </p:spPr>
      </p:sp>
      <p:sp>
        <p:nvSpPr>
          <p:cNvPr id="5" name="Text 3"/>
          <p:cNvSpPr/>
          <p:nvPr/>
        </p:nvSpPr>
        <p:spPr>
          <a:xfrm>
            <a:off x="3840480" y="7315200"/>
            <a:ext cx="36576000" cy="1005840"/>
          </a:xfrm>
          <a:prstGeom prst="rect">
            <a:avLst/>
          </a:prstGeom>
          <a:noFill/>
          <a:ln/>
        </p:spPr>
        <p:txBody>
          <a:bodyPr wrap="square" lIns="0" tIns="0" rIns="0" bIns="0" rtlCol="0" anchor="ctr"/>
          <a:lstStyle/>
          <a:p>
            <a:pPr indent="0" marL="0">
              <a:buNone/>
            </a:pPr>
            <a:r>
              <a:rPr lang="en-US" sz="3400" b="1" spc="300" kern="0" dirty="0">
                <a:solidFill>
                  <a:srgbClr val="6AB86E"/>
                </a:solidFill>
                <a:latin typeface="DM Sans" pitchFamily="34" charset="0"/>
                <a:ea typeface="DM Sans" pitchFamily="34" charset="-122"/>
                <a:cs typeface="DM Sans" pitchFamily="34" charset="-120"/>
              </a:rPr>
              <a:t>BOARD SPECIFICATIONS</a:t>
            </a:r>
            <a:endParaRPr lang="en-US" sz="3400" dirty="0"/>
          </a:p>
        </p:txBody>
      </p:sp>
      <p:sp>
        <p:nvSpPr>
          <p:cNvPr id="6" name="Text 4"/>
          <p:cNvSpPr/>
          <p:nvPr/>
        </p:nvSpPr>
        <p:spPr>
          <a:xfrm>
            <a:off x="3840480" y="8366760"/>
            <a:ext cx="37033200" cy="3108960"/>
          </a:xfrm>
          <a:prstGeom prst="rect">
            <a:avLst/>
          </a:prstGeom>
          <a:noFill/>
          <a:ln/>
        </p:spPr>
        <p:txBody>
          <a:bodyPr wrap="square" lIns="0" tIns="0" rIns="0" bIns="0" rtlCol="0" anchor="t"/>
          <a:lstStyle/>
          <a:p>
            <a:pPr indent="0" marL="0">
              <a:buNone/>
            </a:pPr>
            <a:r>
              <a:rPr lang="en-US" sz="2600" dirty="0">
                <a:solidFill>
                  <a:srgbClr val="D6E8D6"/>
                </a:solidFill>
                <a:latin typeface="DM Sans" pitchFamily="34" charset="0"/>
                <a:ea typeface="DM Sans" pitchFamily="34" charset="-122"/>
                <a:cs typeface="DM Sans" pitchFamily="34" charset="-120"/>
              </a:rPr>
              <a:t>This page is sized 48 by 36 inches to match a standard tri-fold board. The dashed lines mark the folds. Check your competition's size limits before printing.</a:t>
            </a:r>
            <a:endParaRPr lang="en-US" sz="2600" dirty="0"/>
          </a:p>
        </p:txBody>
      </p:sp>
      <p:sp>
        <p:nvSpPr>
          <p:cNvPr id="7" name="Shape 5"/>
          <p:cNvSpPr/>
          <p:nvPr/>
        </p:nvSpPr>
        <p:spPr>
          <a:xfrm>
            <a:off x="2743200" y="12207240"/>
            <a:ext cx="640080" cy="640080"/>
          </a:xfrm>
          <a:prstGeom prst="ellipse">
            <a:avLst/>
          </a:prstGeom>
          <a:solidFill>
            <a:srgbClr val="6AB86E"/>
          </a:solidFill>
          <a:ln/>
        </p:spPr>
      </p:sp>
      <p:sp>
        <p:nvSpPr>
          <p:cNvPr id="8" name="Text 6"/>
          <p:cNvSpPr/>
          <p:nvPr/>
        </p:nvSpPr>
        <p:spPr>
          <a:xfrm>
            <a:off x="3840480" y="11978640"/>
            <a:ext cx="36576000" cy="1005840"/>
          </a:xfrm>
          <a:prstGeom prst="rect">
            <a:avLst/>
          </a:prstGeom>
          <a:noFill/>
          <a:ln/>
        </p:spPr>
        <p:txBody>
          <a:bodyPr wrap="square" lIns="0" tIns="0" rIns="0" bIns="0" rtlCol="0" anchor="ctr"/>
          <a:lstStyle/>
          <a:p>
            <a:pPr indent="0" marL="0">
              <a:buNone/>
            </a:pPr>
            <a:r>
              <a:rPr lang="en-US" sz="3400" b="1" spc="300" kern="0" dirty="0">
                <a:solidFill>
                  <a:srgbClr val="6AB86E"/>
                </a:solidFill>
                <a:latin typeface="DM Sans" pitchFamily="34" charset="0"/>
                <a:ea typeface="DM Sans" pitchFamily="34" charset="-122"/>
                <a:cs typeface="DM Sans" pitchFamily="34" charset="-120"/>
              </a:rPr>
              <a:t>FILL IN EVERY PLACEHOLDER</a:t>
            </a:r>
            <a:endParaRPr lang="en-US" sz="3400" dirty="0"/>
          </a:p>
        </p:txBody>
      </p:sp>
      <p:sp>
        <p:nvSpPr>
          <p:cNvPr id="9" name="Text 7"/>
          <p:cNvSpPr/>
          <p:nvPr/>
        </p:nvSpPr>
        <p:spPr>
          <a:xfrm>
            <a:off x="3840480" y="13030200"/>
            <a:ext cx="37033200" cy="3108960"/>
          </a:xfrm>
          <a:prstGeom prst="rect">
            <a:avLst/>
          </a:prstGeom>
          <a:noFill/>
          <a:ln/>
        </p:spPr>
        <p:txBody>
          <a:bodyPr wrap="square" lIns="0" tIns="0" rIns="0" bIns="0" rtlCol="0" anchor="t"/>
          <a:lstStyle/>
          <a:p>
            <a:pPr indent="0" marL="0">
              <a:buNone/>
            </a:pPr>
            <a:r>
              <a:rPr lang="en-US" sz="2600" dirty="0">
                <a:solidFill>
                  <a:srgbClr val="D6E8D6"/>
                </a:solidFill>
                <a:latin typeface="DM Sans" pitchFamily="34" charset="0"/>
                <a:ea typeface="DM Sans" pitchFamily="34" charset="-122"/>
                <a:cs typeface="DM Sans" pitchFamily="34" charset="-120"/>
              </a:rPr>
              <a:t>Replace the italic gray text with your own content. Keep body text at 16 point or larger and headings at 24 point or larger so the board reads from three feet away.</a:t>
            </a:r>
            <a:endParaRPr lang="en-US" sz="2600" dirty="0"/>
          </a:p>
        </p:txBody>
      </p:sp>
      <p:sp>
        <p:nvSpPr>
          <p:cNvPr id="10" name="Shape 8"/>
          <p:cNvSpPr/>
          <p:nvPr/>
        </p:nvSpPr>
        <p:spPr>
          <a:xfrm>
            <a:off x="2743200" y="16870680"/>
            <a:ext cx="640080" cy="640080"/>
          </a:xfrm>
          <a:prstGeom prst="ellipse">
            <a:avLst/>
          </a:prstGeom>
          <a:solidFill>
            <a:srgbClr val="6AB86E"/>
          </a:solidFill>
          <a:ln/>
        </p:spPr>
      </p:sp>
      <p:sp>
        <p:nvSpPr>
          <p:cNvPr id="11" name="Text 9"/>
          <p:cNvSpPr/>
          <p:nvPr/>
        </p:nvSpPr>
        <p:spPr>
          <a:xfrm>
            <a:off x="3840480" y="16642080"/>
            <a:ext cx="36576000" cy="1005840"/>
          </a:xfrm>
          <a:prstGeom prst="rect">
            <a:avLst/>
          </a:prstGeom>
          <a:noFill/>
          <a:ln/>
        </p:spPr>
        <p:txBody>
          <a:bodyPr wrap="square" lIns="0" tIns="0" rIns="0" bIns="0" rtlCol="0" anchor="ctr"/>
          <a:lstStyle/>
          <a:p>
            <a:pPr indent="0" marL="0">
              <a:buNone/>
            </a:pPr>
            <a:r>
              <a:rPr lang="en-US" sz="3400" b="1" spc="300" kern="0" dirty="0">
                <a:solidFill>
                  <a:srgbClr val="6AB86E"/>
                </a:solidFill>
                <a:latin typeface="DM Sans" pitchFamily="34" charset="0"/>
                <a:ea typeface="DM Sans" pitchFamily="34" charset="-122"/>
                <a:cs typeface="DM Sans" pitchFamily="34" charset="-120"/>
              </a:rPr>
              <a:t>TWO WAYS TO USE IT</a:t>
            </a:r>
            <a:endParaRPr lang="en-US" sz="3400" dirty="0"/>
          </a:p>
        </p:txBody>
      </p:sp>
      <p:sp>
        <p:nvSpPr>
          <p:cNvPr id="12" name="Text 10"/>
          <p:cNvSpPr/>
          <p:nvPr/>
        </p:nvSpPr>
        <p:spPr>
          <a:xfrm>
            <a:off x="3840480" y="17693640"/>
            <a:ext cx="37033200" cy="3108960"/>
          </a:xfrm>
          <a:prstGeom prst="rect">
            <a:avLst/>
          </a:prstGeom>
          <a:noFill/>
          <a:ln/>
        </p:spPr>
        <p:txBody>
          <a:bodyPr wrap="square" lIns="0" tIns="0" rIns="0" bIns="0" rtlCol="0" anchor="t"/>
          <a:lstStyle/>
          <a:p>
            <a:pPr indent="0" marL="0">
              <a:buNone/>
            </a:pPr>
            <a:r>
              <a:rPr lang="en-US" sz="2600" dirty="0">
                <a:solidFill>
                  <a:srgbClr val="D6E8D6"/>
                </a:solidFill>
                <a:latin typeface="DM Sans" pitchFamily="34" charset="0"/>
                <a:ea typeface="DM Sans" pitchFamily="34" charset="-122"/>
                <a:cs typeface="DM Sans" pitchFamily="34" charset="-120"/>
              </a:rPr>
              <a:t>Option 1: edit this slide in PowerPoint, then print panels at a print shop. Option 2: use the layout as a map, and arrange printed sections on a physical board in the same order.</a:t>
            </a:r>
            <a:endParaRPr lang="en-US" sz="2600" dirty="0"/>
          </a:p>
        </p:txBody>
      </p:sp>
      <p:sp>
        <p:nvSpPr>
          <p:cNvPr id="13" name="Shape 11"/>
          <p:cNvSpPr/>
          <p:nvPr/>
        </p:nvSpPr>
        <p:spPr>
          <a:xfrm>
            <a:off x="2743200" y="21534120"/>
            <a:ext cx="640080" cy="640080"/>
          </a:xfrm>
          <a:prstGeom prst="ellipse">
            <a:avLst/>
          </a:prstGeom>
          <a:solidFill>
            <a:srgbClr val="6AB86E"/>
          </a:solidFill>
          <a:ln/>
        </p:spPr>
      </p:sp>
      <p:sp>
        <p:nvSpPr>
          <p:cNvPr id="14" name="Text 12"/>
          <p:cNvSpPr/>
          <p:nvPr/>
        </p:nvSpPr>
        <p:spPr>
          <a:xfrm>
            <a:off x="3840480" y="21305520"/>
            <a:ext cx="36576000" cy="1005840"/>
          </a:xfrm>
          <a:prstGeom prst="rect">
            <a:avLst/>
          </a:prstGeom>
          <a:noFill/>
          <a:ln/>
        </p:spPr>
        <p:txBody>
          <a:bodyPr wrap="square" lIns="0" tIns="0" rIns="0" bIns="0" rtlCol="0" anchor="ctr"/>
          <a:lstStyle/>
          <a:p>
            <a:pPr indent="0" marL="0">
              <a:buNone/>
            </a:pPr>
            <a:r>
              <a:rPr lang="en-US" sz="3400" b="1" spc="300" kern="0" dirty="0">
                <a:solidFill>
                  <a:srgbClr val="6AB86E"/>
                </a:solidFill>
                <a:latin typeface="DM Sans" pitchFamily="34" charset="0"/>
                <a:ea typeface="DM Sans" pitchFamily="34" charset="-122"/>
                <a:cs typeface="DM Sans" pitchFamily="34" charset="-120"/>
              </a:rPr>
              <a:t>DESIGN TIPS</a:t>
            </a:r>
            <a:endParaRPr lang="en-US" sz="3400" dirty="0"/>
          </a:p>
        </p:txBody>
      </p:sp>
      <p:sp>
        <p:nvSpPr>
          <p:cNvPr id="15" name="Text 13"/>
          <p:cNvSpPr/>
          <p:nvPr/>
        </p:nvSpPr>
        <p:spPr>
          <a:xfrm>
            <a:off x="3840480" y="22357080"/>
            <a:ext cx="37033200" cy="3108960"/>
          </a:xfrm>
          <a:prstGeom prst="rect">
            <a:avLst/>
          </a:prstGeom>
          <a:noFill/>
          <a:ln/>
        </p:spPr>
        <p:txBody>
          <a:bodyPr wrap="square" lIns="0" tIns="0" rIns="0" bIns="0" rtlCol="0" anchor="t"/>
          <a:lstStyle/>
          <a:p>
            <a:pPr indent="0" marL="0">
              <a:buNone/>
            </a:pPr>
            <a:r>
              <a:rPr lang="en-US" sz="2600" dirty="0">
                <a:solidFill>
                  <a:srgbClr val="D6E8D6"/>
                </a:solidFill>
                <a:latin typeface="DM Sans" pitchFamily="34" charset="0"/>
                <a:ea typeface="DM Sans" pitchFamily="34" charset="-122"/>
                <a:cs typeface="DM Sans" pitchFamily="34" charset="-120"/>
              </a:rPr>
              <a:t>Leave white space so the board does not feel crowded. Use color with restraint. Print high-quality graphics. Proofread for spelling and grammar. Show photos of you doing the experiment.</a:t>
            </a:r>
            <a:endParaRPr lang="en-US" sz="2600" dirty="0"/>
          </a:p>
        </p:txBody>
      </p:sp>
      <p:sp>
        <p:nvSpPr>
          <p:cNvPr id="16" name="Shape 14"/>
          <p:cNvSpPr/>
          <p:nvPr/>
        </p:nvSpPr>
        <p:spPr>
          <a:xfrm>
            <a:off x="2743200" y="26197560"/>
            <a:ext cx="640080" cy="640080"/>
          </a:xfrm>
          <a:prstGeom prst="ellipse">
            <a:avLst/>
          </a:prstGeom>
          <a:solidFill>
            <a:srgbClr val="6AB86E"/>
          </a:solidFill>
          <a:ln/>
        </p:spPr>
      </p:sp>
      <p:sp>
        <p:nvSpPr>
          <p:cNvPr id="17" name="Text 15"/>
          <p:cNvSpPr/>
          <p:nvPr/>
        </p:nvSpPr>
        <p:spPr>
          <a:xfrm>
            <a:off x="3840480" y="25968960"/>
            <a:ext cx="36576000" cy="1005840"/>
          </a:xfrm>
          <a:prstGeom prst="rect">
            <a:avLst/>
          </a:prstGeom>
          <a:noFill/>
          <a:ln/>
        </p:spPr>
        <p:txBody>
          <a:bodyPr wrap="square" lIns="0" tIns="0" rIns="0" bIns="0" rtlCol="0" anchor="ctr"/>
          <a:lstStyle/>
          <a:p>
            <a:pPr indent="0" marL="0">
              <a:buNone/>
            </a:pPr>
            <a:r>
              <a:rPr lang="en-US" sz="3400" b="1" spc="300" kern="0" dirty="0">
                <a:solidFill>
                  <a:srgbClr val="6AB86E"/>
                </a:solidFill>
                <a:latin typeface="DM Sans" pitchFamily="34" charset="0"/>
                <a:ea typeface="DM Sans" pitchFamily="34" charset="-122"/>
                <a:cs typeface="DM Sans" pitchFamily="34" charset="-120"/>
              </a:rPr>
              <a:t>KEEP THESE OFF YOUR BOARD</a:t>
            </a:r>
            <a:endParaRPr lang="en-US" sz="3400" dirty="0"/>
          </a:p>
        </p:txBody>
      </p:sp>
      <p:sp>
        <p:nvSpPr>
          <p:cNvPr id="18" name="Text 16"/>
          <p:cNvSpPr/>
          <p:nvPr/>
        </p:nvSpPr>
        <p:spPr>
          <a:xfrm>
            <a:off x="3840480" y="27020520"/>
            <a:ext cx="37033200" cy="3108960"/>
          </a:xfrm>
          <a:prstGeom prst="rect">
            <a:avLst/>
          </a:prstGeom>
          <a:noFill/>
          <a:ln/>
        </p:spPr>
        <p:txBody>
          <a:bodyPr wrap="square" lIns="0" tIns="0" rIns="0" bIns="0" rtlCol="0" anchor="t"/>
          <a:lstStyle/>
          <a:p>
            <a:pPr indent="0" marL="0">
              <a:buNone/>
            </a:pPr>
            <a:r>
              <a:rPr lang="en-US" sz="2600" dirty="0">
                <a:solidFill>
                  <a:srgbClr val="D6E8D6"/>
                </a:solidFill>
                <a:latin typeface="DM Sans" pitchFamily="34" charset="0"/>
                <a:ea typeface="DM Sans" pitchFamily="34" charset="-122"/>
                <a:cs typeface="DM Sans" pitchFamily="34" charset="-120"/>
              </a:rPr>
              <a:t>Live or improperly preserved animals, chemicals, flames or fire, dangerous materials, and unshielded batteries.</a:t>
            </a:r>
            <a:endParaRPr lang="en-US" sz="2600" dirty="0"/>
          </a:p>
        </p:txBody>
      </p:sp>
      <p:sp>
        <p:nvSpPr>
          <p:cNvPr id="19" name="Text 17"/>
          <p:cNvSpPr/>
          <p:nvPr/>
        </p:nvSpPr>
        <p:spPr>
          <a:xfrm>
            <a:off x="2743200" y="31089600"/>
            <a:ext cx="18288000" cy="1097280"/>
          </a:xfrm>
          <a:prstGeom prst="rect">
            <a:avLst/>
          </a:prstGeom>
          <a:noFill/>
          <a:ln/>
        </p:spPr>
        <p:txBody>
          <a:bodyPr wrap="square" rtlCol="0" anchor="ctr"/>
          <a:lstStyle/>
          <a:p>
            <a:pPr indent="0" marL="0">
              <a:buNone/>
            </a:pPr>
            <a:r>
              <a:rPr lang="en-US" sz="2400" dirty="0">
                <a:solidFill>
                  <a:srgbClr val="6AB86E"/>
                </a:solidFill>
                <a:latin typeface="DM Sans" pitchFamily="34" charset="0"/>
                <a:ea typeface="DM Sans" pitchFamily="34" charset="-122"/>
                <a:cs typeface="DM Sans" pitchFamily="34" charset="-120"/>
              </a:rPr>
              <a:t>fairgameinitiative.org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FairGame Display Board Template</dc:title>
  <dc:subject>PptxGenJS Presentation</dc:subject>
  <dc:creator>FairGame Initiative</dc:creator>
  <cp:lastModifiedBy>FairGame Initiative</cp:lastModifiedBy>
  <cp:revision>1</cp:revision>
  <dcterms:created xsi:type="dcterms:W3CDTF">2026-07-10T00:11:31Z</dcterms:created>
  <dcterms:modified xsi:type="dcterms:W3CDTF">2026-07-10T00:11:31Z</dcterms:modified>
</cp:coreProperties>
</file>