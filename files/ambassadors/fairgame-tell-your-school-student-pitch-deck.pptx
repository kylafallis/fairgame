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bracketed text before you present. Open by saying who you are and that this will take eight minutes. Ask for the decision at the end, not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ask. Adults relax when they know the size of the request in the first thirty seconds. Do not bury it on slide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know a specific number about your own school, such as how many students have never entered a fair, use it here. A local number beats a national one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Administrators sometimes picture a baking soda volcano. Say the words original investigation early to reset that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a printed copy of the Setup Guide to the meeting. Handing over something physical makes the support concrete in a way a slide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money question. Answering it before it is asked is what makes the rest of the pitch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you win or lose. Naming what you will personally do converts the pitch from a request into an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school year is already underway, say which month you would start and adjust the timeline out loud. Do not pretend the calendar is flexible when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these out loud. Saying the objection before the adult does makes you look prepared rather than defensive.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small, specific, answerable question. Can we pick a date is far easier for an administrator to say yes to than will you approve this programme. Then stop talking and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A1C"/>
        </a:solidFill>
      </p:bgPr>
    </p:bg>
    <p:spTree>
      <p:nvGrpSpPr>
        <p:cNvPr id="1" name=""/>
        <p:cNvGrpSpPr/>
        <p:nvPr/>
      </p:nvGrpSpPr>
      <p:grpSpPr>
        <a:xfrm>
          <a:off x="0" y="0"/>
          <a:ext cx="0" cy="0"/>
          <a:chOff x="0" y="0"/>
          <a:chExt cx="0" cy="0"/>
        </a:xfrm>
      </p:grpSpPr>
      <p:pic>
        <p:nvPicPr>
          <p:cNvPr id="2" name="Image 0" descr="/tmp/fairgame_logo_white.png">    </p:cNvPr>
          <p:cNvPicPr>
            <a:picLocks noChangeAspect="1"/>
          </p:cNvPicPr>
          <p:nvPr/>
        </p:nvPicPr>
        <p:blipFill>
          <a:blip r:embed="rId1"/>
          <a:stretch>
            <a:fillRect/>
          </a:stretch>
        </p:blipFill>
        <p:spPr>
          <a:xfrm>
            <a:off x="9539935" y="1463040"/>
            <a:ext cx="1828800" cy="2161093"/>
          </a:xfrm>
          <a:prstGeom prst="rect">
            <a:avLst/>
          </a:prstGeom>
        </p:spPr>
      </p:pic>
      <p:sp>
        <p:nvSpPr>
          <p:cNvPr id="3" name="Text 0"/>
          <p:cNvSpPr/>
          <p:nvPr/>
        </p:nvSpPr>
        <p:spPr>
          <a:xfrm>
            <a:off x="658368" y="1371600"/>
            <a:ext cx="8424367" cy="365760"/>
          </a:xfrm>
          <a:prstGeom prst="rect">
            <a:avLst/>
          </a:prstGeom>
          <a:noFill/>
          <a:ln/>
        </p:spPr>
        <p:txBody>
          <a:bodyPr wrap="square" lIns="0" tIns="0" rIns="0" bIns="0" rtlCol="0" anchor="ctr"/>
          <a:lstStyle/>
          <a:p>
            <a:pPr indent="0" marL="0">
              <a:buNone/>
            </a:pPr>
            <a:r>
              <a:rPr lang="en-US" sz="1300" b="1" spc="400" kern="0" dirty="0">
                <a:solidFill>
                  <a:srgbClr val="6AB86E"/>
                </a:solidFill>
                <a:latin typeface="DM Sans" pitchFamily="34" charset="0"/>
                <a:ea typeface="DM Sans" pitchFamily="34" charset="-122"/>
                <a:cs typeface="DM Sans" pitchFamily="34" charset="-120"/>
              </a:rPr>
              <a:t>A PROPOSAL FROM A STUDENT</a:t>
            </a:r>
            <a:endParaRPr lang="en-US" sz="1300" dirty="0"/>
          </a:p>
        </p:txBody>
      </p:sp>
      <p:sp>
        <p:nvSpPr>
          <p:cNvPr id="4" name="Text 1"/>
          <p:cNvSpPr/>
          <p:nvPr/>
        </p:nvSpPr>
        <p:spPr>
          <a:xfrm>
            <a:off x="603504" y="1874520"/>
            <a:ext cx="8607247" cy="914400"/>
          </a:xfrm>
          <a:prstGeom prst="rect">
            <a:avLst/>
          </a:prstGeom>
          <a:noFill/>
          <a:ln/>
        </p:spPr>
        <p:txBody>
          <a:bodyPr wrap="square" lIns="0" tIns="0" rIns="0" bIns="0" rtlCol="0" anchor="ctr"/>
          <a:lstStyle/>
          <a:p>
            <a:pPr indent="0" marL="0">
              <a:buNone/>
            </a:pPr>
            <a:r>
              <a:rPr lang="en-US" sz="5800" dirty="0">
                <a:solidFill>
                  <a:srgbClr val="FFFFFF"/>
                </a:solidFill>
                <a:latin typeface="Anton" pitchFamily="34" charset="0"/>
                <a:ea typeface="Anton" pitchFamily="34" charset="-122"/>
                <a:cs typeface="Anton" pitchFamily="34" charset="-120"/>
              </a:rPr>
              <a:t>LET'S START</a:t>
            </a:r>
            <a:endParaRPr lang="en-US" sz="5800" dirty="0"/>
          </a:p>
        </p:txBody>
      </p:sp>
      <p:sp>
        <p:nvSpPr>
          <p:cNvPr id="5" name="Text 2"/>
          <p:cNvSpPr/>
          <p:nvPr/>
        </p:nvSpPr>
        <p:spPr>
          <a:xfrm>
            <a:off x="603504" y="2697480"/>
            <a:ext cx="8607247" cy="914400"/>
          </a:xfrm>
          <a:prstGeom prst="rect">
            <a:avLst/>
          </a:prstGeom>
          <a:noFill/>
          <a:ln/>
        </p:spPr>
        <p:txBody>
          <a:bodyPr wrap="square" lIns="0" tIns="0" rIns="0" bIns="0" rtlCol="0" anchor="ctr"/>
          <a:lstStyle/>
          <a:p>
            <a:pPr indent="0" marL="0">
              <a:buNone/>
            </a:pPr>
            <a:r>
              <a:rPr lang="en-US" sz="5800" dirty="0">
                <a:solidFill>
                  <a:srgbClr val="6AB86E"/>
                </a:solidFill>
                <a:latin typeface="Anton" pitchFamily="34" charset="0"/>
                <a:ea typeface="Anton" pitchFamily="34" charset="-122"/>
                <a:cs typeface="Anton" pitchFamily="34" charset="-120"/>
              </a:rPr>
              <a:t>A SCIENCE FAIR</a:t>
            </a:r>
            <a:endParaRPr lang="en-US" sz="5800" dirty="0"/>
          </a:p>
        </p:txBody>
      </p:sp>
      <p:sp>
        <p:nvSpPr>
          <p:cNvPr id="6" name="Text 3"/>
          <p:cNvSpPr/>
          <p:nvPr/>
        </p:nvSpPr>
        <p:spPr>
          <a:xfrm>
            <a:off x="658368" y="3703320"/>
            <a:ext cx="8424367" cy="548640"/>
          </a:xfrm>
          <a:prstGeom prst="rect">
            <a:avLst/>
          </a:prstGeom>
          <a:noFill/>
          <a:ln/>
        </p:spPr>
        <p:txBody>
          <a:bodyPr wrap="square" lIns="0" tIns="0" rIns="0" bIns="0" rtlCol="0" anchor="ctr"/>
          <a:lstStyle/>
          <a:p>
            <a:pPr indent="0" marL="0">
              <a:buNone/>
            </a:pPr>
            <a:r>
              <a:rPr lang="en-US" sz="2000" i="1" dirty="0">
                <a:solidFill>
                  <a:srgbClr val="E8827D"/>
                </a:solidFill>
                <a:latin typeface="Playfair Display" pitchFamily="34" charset="0"/>
                <a:ea typeface="Playfair Display" pitchFamily="34" charset="-122"/>
                <a:cs typeface="Playfair Display" pitchFamily="34" charset="-120"/>
              </a:rPr>
              <a:t>Everything it takes is already free. We just have to say yes.</a:t>
            </a:r>
            <a:endParaRPr lang="en-US" sz="2000" dirty="0"/>
          </a:p>
        </p:txBody>
      </p:sp>
      <p:sp>
        <p:nvSpPr>
          <p:cNvPr id="7" name="Text 4"/>
          <p:cNvSpPr/>
          <p:nvPr/>
        </p:nvSpPr>
        <p:spPr>
          <a:xfrm>
            <a:off x="658368" y="4297680"/>
            <a:ext cx="8424367" cy="365760"/>
          </a:xfrm>
          <a:prstGeom prst="rect">
            <a:avLst/>
          </a:prstGeom>
          <a:noFill/>
          <a:ln/>
        </p:spPr>
        <p:txBody>
          <a:bodyPr wrap="square" lIns="0" tIns="0" rIns="0" bIns="0" rtlCol="0" anchor="ctr"/>
          <a:lstStyle/>
          <a:p>
            <a:pPr indent="0" marL="0">
              <a:buNone/>
            </a:pPr>
            <a:r>
              <a:rPr lang="en-US" sz="1300" dirty="0">
                <a:solidFill>
                  <a:srgbClr val="9DB89D"/>
                </a:solidFill>
                <a:latin typeface="DM Sans" pitchFamily="34" charset="0"/>
                <a:ea typeface="DM Sans" pitchFamily="34" charset="-122"/>
                <a:cs typeface="DM Sans" pitchFamily="34" charset="-120"/>
              </a:rPr>
              <a:t>Presented by [your name]  ·  [your school]  ·  [date]</a:t>
            </a:r>
            <a:endParaRPr lang="en-US" sz="1300" dirty="0"/>
          </a:p>
        </p:txBody>
      </p:sp>
      <p:sp>
        <p:nvSpPr>
          <p:cNvPr id="8" name="Shape 5"/>
          <p:cNvSpPr/>
          <p:nvPr/>
        </p:nvSpPr>
        <p:spPr>
          <a:xfrm>
            <a:off x="658368" y="5806440"/>
            <a:ext cx="10874959" cy="0"/>
          </a:xfrm>
          <a:prstGeom prst="line">
            <a:avLst/>
          </a:prstGeom>
          <a:noFill/>
          <a:ln w="12700">
            <a:solidFill>
              <a:srgbClr val="3A5C3A"/>
            </a:solidFill>
            <a:prstDash val="solid"/>
          </a:ln>
        </p:spPr>
      </p:sp>
      <p:sp>
        <p:nvSpPr>
          <p:cNvPr id="9" name="Text 6"/>
          <p:cNvSpPr/>
          <p:nvPr/>
        </p:nvSpPr>
        <p:spPr>
          <a:xfrm>
            <a:off x="658368" y="5943600"/>
            <a:ext cx="4572000" cy="320040"/>
          </a:xfrm>
          <a:prstGeom prst="rect">
            <a:avLst/>
          </a:prstGeom>
          <a:noFill/>
          <a:ln/>
        </p:spPr>
        <p:txBody>
          <a:bodyPr wrap="square" lIns="0" tIns="0" rIns="0" bIns="0" rtlCol="0" anchor="ctr"/>
          <a:lstStyle/>
          <a:p>
            <a:pPr indent="0" marL="0">
              <a:buNone/>
            </a:pPr>
            <a:r>
              <a:rPr lang="en-US" sz="1100" dirty="0">
                <a:solidFill>
                  <a:srgbClr val="9DB89D"/>
                </a:solidFill>
                <a:latin typeface="DM Sans" pitchFamily="34" charset="0"/>
                <a:ea typeface="DM Sans" pitchFamily="34" charset="-122"/>
                <a:cs typeface="DM Sans" pitchFamily="34" charset="-120"/>
              </a:rPr>
              <a:t>fairgameinitiative.org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C3A1C"/>
          </a:solidFill>
          <a:ln/>
        </p:spPr>
      </p:sp>
      <p:sp>
        <p:nvSpPr>
          <p:cNvPr id="3" name="Text 1"/>
          <p:cNvSpPr/>
          <p:nvPr/>
        </p:nvSpPr>
        <p:spPr>
          <a:xfrm>
            <a:off x="658368" y="384048"/>
            <a:ext cx="10874959" cy="274320"/>
          </a:xfrm>
          <a:prstGeom prst="rect">
            <a:avLst/>
          </a:prstGeom>
          <a:noFill/>
          <a:ln/>
        </p:spPr>
        <p:txBody>
          <a:bodyPr wrap="square" lIns="0" tIns="0" rIns="0" bIns="0" rtlCol="0" anchor="ctr"/>
          <a:lstStyle/>
          <a:p>
            <a:pPr indent="0" marL="0">
              <a:buNone/>
            </a:pPr>
            <a:r>
              <a:rPr lang="en-US" sz="1100" b="1" spc="300" kern="0" dirty="0">
                <a:solidFill>
                  <a:srgbClr val="E0615A"/>
                </a:solidFill>
                <a:latin typeface="DM Sans" pitchFamily="34" charset="0"/>
                <a:ea typeface="DM Sans" pitchFamily="34" charset="-122"/>
                <a:cs typeface="DM Sans" pitchFamily="34" charset="-120"/>
              </a:rPr>
              <a:t>START HERE</a:t>
            </a:r>
            <a:endParaRPr lang="en-US" sz="1100" dirty="0"/>
          </a:p>
        </p:txBody>
      </p:sp>
      <p:sp>
        <p:nvSpPr>
          <p:cNvPr id="4" name="Text 2"/>
          <p:cNvSpPr/>
          <p:nvPr/>
        </p:nvSpPr>
        <p:spPr>
          <a:xfrm>
            <a:off x="612648" y="658368"/>
            <a:ext cx="10874959" cy="685800"/>
          </a:xfrm>
          <a:prstGeom prst="rect">
            <a:avLst/>
          </a:prstGeom>
          <a:noFill/>
          <a:ln/>
        </p:spPr>
        <p:txBody>
          <a:bodyPr wrap="square" lIns="0" tIns="0" rIns="0" bIns="0" rtlCol="0" anchor="ctr"/>
          <a:lstStyle/>
          <a:p>
            <a:pPr indent="0" marL="0">
              <a:buNone/>
            </a:pPr>
            <a:r>
              <a:rPr lang="en-US" sz="3300" dirty="0">
                <a:solidFill>
                  <a:srgbClr val="1C3A1C"/>
                </a:solidFill>
                <a:latin typeface="Anton" pitchFamily="34" charset="0"/>
                <a:ea typeface="Anton" pitchFamily="34" charset="-122"/>
                <a:cs typeface="Anton" pitchFamily="34" charset="-120"/>
              </a:rPr>
              <a:t>WHAT I AM ASKING FOR</a:t>
            </a:r>
            <a:endParaRPr lang="en-US" sz="3300" dirty="0"/>
          </a:p>
        </p:txBody>
      </p:sp>
      <p:sp>
        <p:nvSpPr>
          <p:cNvPr id="5" name="Shape 3"/>
          <p:cNvSpPr/>
          <p:nvPr/>
        </p:nvSpPr>
        <p:spPr>
          <a:xfrm>
            <a:off x="658368" y="1389888"/>
            <a:ext cx="10874959" cy="0"/>
          </a:xfrm>
          <a:prstGeom prst="line">
            <a:avLst/>
          </a:prstGeom>
          <a:noFill/>
          <a:ln w="17780">
            <a:solidFill>
              <a:srgbClr val="6AB86E"/>
            </a:solidFill>
            <a:prstDash val="solid"/>
          </a:ln>
        </p:spPr>
      </p:sp>
      <p:sp>
        <p:nvSpPr>
          <p:cNvPr id="6" name="Text 4"/>
          <p:cNvSpPr/>
          <p:nvPr/>
        </p:nvSpPr>
        <p:spPr>
          <a:xfrm>
            <a:off x="7875727" y="6355080"/>
            <a:ext cx="3657600" cy="274320"/>
          </a:xfrm>
          <a:prstGeom prst="rect">
            <a:avLst/>
          </a:prstGeom>
          <a:noFill/>
          <a:ln/>
        </p:spPr>
        <p:txBody>
          <a:bodyPr wrap="square" lIns="0" tIns="0" rIns="0" bIns="0" rtlCol="0" anchor="ctr"/>
          <a:lstStyle/>
          <a:p>
            <a:pPr algn="r" indent="0" marL="0">
              <a:buNone/>
            </a:pPr>
            <a:r>
              <a:rPr lang="en-US" sz="900" dirty="0">
                <a:solidFill>
                  <a:srgbClr val="6B756B"/>
                </a:solidFill>
                <a:latin typeface="DM Sans" pitchFamily="34" charset="0"/>
                <a:ea typeface="DM Sans" pitchFamily="34" charset="-122"/>
                <a:cs typeface="DM Sans" pitchFamily="34" charset="-120"/>
              </a:rPr>
              <a:t>fairgameinitiative.org</a:t>
            </a:r>
            <a:endParaRPr lang="en-US" sz="900" dirty="0"/>
          </a:p>
        </p:txBody>
      </p:sp>
      <p:sp>
        <p:nvSpPr>
          <p:cNvPr id="7" name="Shape 5"/>
          <p:cNvSpPr/>
          <p:nvPr/>
        </p:nvSpPr>
        <p:spPr>
          <a:xfrm>
            <a:off x="658368" y="1783080"/>
            <a:ext cx="10874959" cy="1143000"/>
          </a:xfrm>
          <a:prstGeom prst="rect">
            <a:avLst/>
          </a:prstGeom>
          <a:solidFill>
            <a:srgbClr val="E8F5E9"/>
          </a:solidFill>
          <a:ln/>
        </p:spPr>
      </p:sp>
      <p:sp>
        <p:nvSpPr>
          <p:cNvPr id="8" name="Text 6"/>
          <p:cNvSpPr/>
          <p:nvPr/>
        </p:nvSpPr>
        <p:spPr>
          <a:xfrm>
            <a:off x="978408" y="1920240"/>
            <a:ext cx="10234879" cy="868680"/>
          </a:xfrm>
          <a:prstGeom prst="rect">
            <a:avLst/>
          </a:prstGeom>
          <a:noFill/>
          <a:ln/>
        </p:spPr>
        <p:txBody>
          <a:bodyPr wrap="square" lIns="0" tIns="0" rIns="0" bIns="0" rtlCol="0" anchor="ctr"/>
          <a:lstStyle/>
          <a:p>
            <a:pPr indent="0" marL="0">
              <a:buNone/>
            </a:pPr>
            <a:r>
              <a:rPr lang="en-US" sz="2100" b="1" i="1" dirty="0">
                <a:solidFill>
                  <a:srgbClr val="254F25"/>
                </a:solidFill>
                <a:latin typeface="Playfair Display" pitchFamily="34" charset="0"/>
                <a:ea typeface="Playfair Display" pitchFamily="34" charset="-122"/>
                <a:cs typeface="Playfair Display" pitchFamily="34" charset="-120"/>
              </a:rPr>
              <a:t>Permission to run a science fair here, a room for one afternoon, and a teacher willing to sponsor it.</a:t>
            </a:r>
            <a:endParaRPr lang="en-US" sz="2100" dirty="0"/>
          </a:p>
        </p:txBody>
      </p:sp>
      <p:sp>
        <p:nvSpPr>
          <p:cNvPr id="9" name="Text 7"/>
          <p:cNvSpPr/>
          <p:nvPr/>
        </p:nvSpPr>
        <p:spPr>
          <a:xfrm>
            <a:off x="658368" y="3108960"/>
            <a:ext cx="10874959" cy="548640"/>
          </a:xfrm>
          <a:prstGeom prst="rect">
            <a:avLst/>
          </a:prstGeom>
          <a:noFill/>
          <a:ln/>
        </p:spPr>
        <p:txBody>
          <a:bodyPr wrap="square" lIns="0" tIns="0" rIns="0" bIns="0" rtlCol="0" anchor="t"/>
          <a:lstStyle/>
          <a:p>
            <a:pPr indent="0" marL="0">
              <a:buNone/>
            </a:pPr>
            <a:r>
              <a:rPr lang="en-US" sz="1600" dirty="0">
                <a:solidFill>
                  <a:srgbClr val="1A1E1A"/>
                </a:solidFill>
                <a:latin typeface="DM Sans" pitchFamily="34" charset="0"/>
                <a:ea typeface="DM Sans" pitchFamily="34" charset="-122"/>
                <a:cs typeface="DM Sans" pitchFamily="34" charset="-120"/>
              </a:rPr>
              <a:t>That is the whole ask. I am not asking for a budget line, and I am not asking anyone to build a curriculum from scratch.</a:t>
            </a:r>
            <a:endParaRPr lang="en-US" sz="1600" dirty="0"/>
          </a:p>
        </p:txBody>
      </p:sp>
      <p:sp>
        <p:nvSpPr>
          <p:cNvPr id="10" name="Shape 8"/>
          <p:cNvSpPr/>
          <p:nvPr/>
        </p:nvSpPr>
        <p:spPr>
          <a:xfrm>
            <a:off x="658368" y="3931920"/>
            <a:ext cx="3407487" cy="1371600"/>
          </a:xfrm>
          <a:prstGeom prst="rect">
            <a:avLst/>
          </a:prstGeom>
          <a:solidFill>
            <a:srgbClr val="FFFFFF"/>
          </a:solidFill>
          <a:ln w="20320">
            <a:solidFill>
              <a:srgbClr val="6AB86E"/>
            </a:solidFill>
            <a:prstDash val="solid"/>
          </a:ln>
        </p:spPr>
      </p:sp>
      <p:sp>
        <p:nvSpPr>
          <p:cNvPr id="11" name="Text 9"/>
          <p:cNvSpPr/>
          <p:nvPr/>
        </p:nvSpPr>
        <p:spPr>
          <a:xfrm>
            <a:off x="886968" y="4114800"/>
            <a:ext cx="2899989" cy="411480"/>
          </a:xfrm>
          <a:prstGeom prst="rect">
            <a:avLst/>
          </a:prstGeom>
          <a:noFill/>
          <a:ln/>
        </p:spPr>
        <p:txBody>
          <a:bodyPr wrap="square" lIns="0" tIns="0" rIns="0" bIns="0" rtlCol="0" anchor="ctr"/>
          <a:lstStyle/>
          <a:p>
            <a:pPr indent="0" marL="0">
              <a:buNone/>
            </a:pPr>
            <a:r>
              <a:rPr lang="en-US" sz="2200" b="1" dirty="0">
                <a:solidFill>
                  <a:srgbClr val="357A38"/>
                </a:solidFill>
                <a:latin typeface="Playfair Display" pitchFamily="34" charset="0"/>
                <a:ea typeface="Playfair Display" pitchFamily="34" charset="-122"/>
                <a:cs typeface="Playfair Display" pitchFamily="34" charset="-120"/>
              </a:rPr>
              <a:t>A room</a:t>
            </a:r>
            <a:endParaRPr lang="en-US" sz="2200" dirty="0"/>
          </a:p>
        </p:txBody>
      </p:sp>
      <p:sp>
        <p:nvSpPr>
          <p:cNvPr id="12" name="Text 10"/>
          <p:cNvSpPr/>
          <p:nvPr/>
        </p:nvSpPr>
        <p:spPr>
          <a:xfrm>
            <a:off x="886968" y="4553712"/>
            <a:ext cx="289998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One afternoon, gym or cafeteria</a:t>
            </a:r>
            <a:endParaRPr lang="en-US" sz="1300" dirty="0"/>
          </a:p>
        </p:txBody>
      </p:sp>
      <p:sp>
        <p:nvSpPr>
          <p:cNvPr id="13" name="Shape 11"/>
          <p:cNvSpPr/>
          <p:nvPr/>
        </p:nvSpPr>
        <p:spPr>
          <a:xfrm>
            <a:off x="4283354" y="3931920"/>
            <a:ext cx="3407487" cy="1371600"/>
          </a:xfrm>
          <a:prstGeom prst="rect">
            <a:avLst/>
          </a:prstGeom>
          <a:solidFill>
            <a:srgbClr val="FFFFFF"/>
          </a:solidFill>
          <a:ln w="20320">
            <a:solidFill>
              <a:srgbClr val="6AB86E"/>
            </a:solidFill>
            <a:prstDash val="solid"/>
          </a:ln>
        </p:spPr>
      </p:sp>
      <p:sp>
        <p:nvSpPr>
          <p:cNvPr id="14" name="Text 12"/>
          <p:cNvSpPr/>
          <p:nvPr/>
        </p:nvSpPr>
        <p:spPr>
          <a:xfrm>
            <a:off x="4511954" y="4114800"/>
            <a:ext cx="2899989" cy="411480"/>
          </a:xfrm>
          <a:prstGeom prst="rect">
            <a:avLst/>
          </a:prstGeom>
          <a:noFill/>
          <a:ln/>
        </p:spPr>
        <p:txBody>
          <a:bodyPr wrap="square" lIns="0" tIns="0" rIns="0" bIns="0" rtlCol="0" anchor="ctr"/>
          <a:lstStyle/>
          <a:p>
            <a:pPr indent="0" marL="0">
              <a:buNone/>
            </a:pPr>
            <a:r>
              <a:rPr lang="en-US" sz="2200" b="1" dirty="0">
                <a:solidFill>
                  <a:srgbClr val="357A38"/>
                </a:solidFill>
                <a:latin typeface="Playfair Display" pitchFamily="34" charset="0"/>
                <a:ea typeface="Playfair Display" pitchFamily="34" charset="-122"/>
                <a:cs typeface="Playfair Display" pitchFamily="34" charset="-120"/>
              </a:rPr>
              <a:t>A sponsor</a:t>
            </a:r>
            <a:endParaRPr lang="en-US" sz="2200" dirty="0"/>
          </a:p>
        </p:txBody>
      </p:sp>
      <p:sp>
        <p:nvSpPr>
          <p:cNvPr id="15" name="Text 13"/>
          <p:cNvSpPr/>
          <p:nvPr/>
        </p:nvSpPr>
        <p:spPr>
          <a:xfrm>
            <a:off x="4511954" y="4553712"/>
            <a:ext cx="289998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One teacher, about 5 hours a month</a:t>
            </a:r>
            <a:endParaRPr lang="en-US" sz="1300" dirty="0"/>
          </a:p>
        </p:txBody>
      </p:sp>
      <p:sp>
        <p:nvSpPr>
          <p:cNvPr id="16" name="Shape 14"/>
          <p:cNvSpPr/>
          <p:nvPr/>
        </p:nvSpPr>
        <p:spPr>
          <a:xfrm>
            <a:off x="7908341" y="3931920"/>
            <a:ext cx="3407487" cy="1371600"/>
          </a:xfrm>
          <a:prstGeom prst="rect">
            <a:avLst/>
          </a:prstGeom>
          <a:solidFill>
            <a:srgbClr val="FFFFFF"/>
          </a:solidFill>
          <a:ln w="20320">
            <a:solidFill>
              <a:srgbClr val="6AB86E"/>
            </a:solidFill>
            <a:prstDash val="solid"/>
          </a:ln>
        </p:spPr>
      </p:sp>
      <p:sp>
        <p:nvSpPr>
          <p:cNvPr id="17" name="Text 15"/>
          <p:cNvSpPr/>
          <p:nvPr/>
        </p:nvSpPr>
        <p:spPr>
          <a:xfrm>
            <a:off x="8136941" y="4114800"/>
            <a:ext cx="2899989" cy="411480"/>
          </a:xfrm>
          <a:prstGeom prst="rect">
            <a:avLst/>
          </a:prstGeom>
          <a:noFill/>
          <a:ln/>
        </p:spPr>
        <p:txBody>
          <a:bodyPr wrap="square" lIns="0" tIns="0" rIns="0" bIns="0" rtlCol="0" anchor="ctr"/>
          <a:lstStyle/>
          <a:p>
            <a:pPr indent="0" marL="0">
              <a:buNone/>
            </a:pPr>
            <a:r>
              <a:rPr lang="en-US" sz="2200" b="1" dirty="0">
                <a:solidFill>
                  <a:srgbClr val="357A38"/>
                </a:solidFill>
                <a:latin typeface="Playfair Display" pitchFamily="34" charset="0"/>
                <a:ea typeface="Playfair Display" pitchFamily="34" charset="-122"/>
                <a:cs typeface="Playfair Display" pitchFamily="34" charset="-120"/>
              </a:rPr>
              <a:t>A yes</a:t>
            </a:r>
            <a:endParaRPr lang="en-US" sz="2200" dirty="0"/>
          </a:p>
        </p:txBody>
      </p:sp>
      <p:sp>
        <p:nvSpPr>
          <p:cNvPr id="18" name="Text 16"/>
          <p:cNvSpPr/>
          <p:nvPr/>
        </p:nvSpPr>
        <p:spPr>
          <a:xfrm>
            <a:off x="8136941" y="4553712"/>
            <a:ext cx="289998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Permission to tell students it is happening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C3A1C"/>
          </a:solidFill>
          <a:ln/>
        </p:spPr>
      </p:sp>
      <p:sp>
        <p:nvSpPr>
          <p:cNvPr id="3" name="Text 1"/>
          <p:cNvSpPr/>
          <p:nvPr/>
        </p:nvSpPr>
        <p:spPr>
          <a:xfrm>
            <a:off x="658368" y="384048"/>
            <a:ext cx="10874959" cy="274320"/>
          </a:xfrm>
          <a:prstGeom prst="rect">
            <a:avLst/>
          </a:prstGeom>
          <a:noFill/>
          <a:ln/>
        </p:spPr>
        <p:txBody>
          <a:bodyPr wrap="square" lIns="0" tIns="0" rIns="0" bIns="0" rtlCol="0" anchor="ctr"/>
          <a:lstStyle/>
          <a:p>
            <a:pPr indent="0" marL="0">
              <a:buNone/>
            </a:pPr>
            <a:r>
              <a:rPr lang="en-US" sz="1100" b="1" spc="300" kern="0" dirty="0">
                <a:solidFill>
                  <a:srgbClr val="E0615A"/>
                </a:solidFill>
                <a:latin typeface="DM Sans" pitchFamily="34" charset="0"/>
                <a:ea typeface="DM Sans" pitchFamily="34" charset="-122"/>
                <a:cs typeface="DM Sans" pitchFamily="34" charset="-120"/>
              </a:rPr>
              <a:t>WHY</a:t>
            </a:r>
            <a:endParaRPr lang="en-US" sz="1100" dirty="0"/>
          </a:p>
        </p:txBody>
      </p:sp>
      <p:sp>
        <p:nvSpPr>
          <p:cNvPr id="4" name="Text 2"/>
          <p:cNvSpPr/>
          <p:nvPr/>
        </p:nvSpPr>
        <p:spPr>
          <a:xfrm>
            <a:off x="612648" y="658368"/>
            <a:ext cx="10874959" cy="685800"/>
          </a:xfrm>
          <a:prstGeom prst="rect">
            <a:avLst/>
          </a:prstGeom>
          <a:noFill/>
          <a:ln/>
        </p:spPr>
        <p:txBody>
          <a:bodyPr wrap="square" lIns="0" tIns="0" rIns="0" bIns="0" rtlCol="0" anchor="ctr"/>
          <a:lstStyle/>
          <a:p>
            <a:pPr indent="0" marL="0">
              <a:buNone/>
            </a:pPr>
            <a:r>
              <a:rPr lang="en-US" sz="3300" dirty="0">
                <a:solidFill>
                  <a:srgbClr val="1C3A1C"/>
                </a:solidFill>
                <a:latin typeface="Anton" pitchFamily="34" charset="0"/>
                <a:ea typeface="Anton" pitchFamily="34" charset="-122"/>
                <a:cs typeface="Anton" pitchFamily="34" charset="-120"/>
              </a:rPr>
              <a:t>THE GAP THIS CLOSES</a:t>
            </a:r>
            <a:endParaRPr lang="en-US" sz="3300" dirty="0"/>
          </a:p>
        </p:txBody>
      </p:sp>
      <p:sp>
        <p:nvSpPr>
          <p:cNvPr id="5" name="Shape 3"/>
          <p:cNvSpPr/>
          <p:nvPr/>
        </p:nvSpPr>
        <p:spPr>
          <a:xfrm>
            <a:off x="658368" y="1389888"/>
            <a:ext cx="10874959" cy="0"/>
          </a:xfrm>
          <a:prstGeom prst="line">
            <a:avLst/>
          </a:prstGeom>
          <a:noFill/>
          <a:ln w="17780">
            <a:solidFill>
              <a:srgbClr val="6AB86E"/>
            </a:solidFill>
            <a:prstDash val="solid"/>
          </a:ln>
        </p:spPr>
      </p:sp>
      <p:sp>
        <p:nvSpPr>
          <p:cNvPr id="6" name="Text 4"/>
          <p:cNvSpPr/>
          <p:nvPr/>
        </p:nvSpPr>
        <p:spPr>
          <a:xfrm>
            <a:off x="7875727" y="6355080"/>
            <a:ext cx="3657600" cy="274320"/>
          </a:xfrm>
          <a:prstGeom prst="rect">
            <a:avLst/>
          </a:prstGeom>
          <a:noFill/>
          <a:ln/>
        </p:spPr>
        <p:txBody>
          <a:bodyPr wrap="square" lIns="0" tIns="0" rIns="0" bIns="0" rtlCol="0" anchor="ctr"/>
          <a:lstStyle/>
          <a:p>
            <a:pPr algn="r" indent="0" marL="0">
              <a:buNone/>
            </a:pPr>
            <a:r>
              <a:rPr lang="en-US" sz="900" dirty="0">
                <a:solidFill>
                  <a:srgbClr val="6B756B"/>
                </a:solidFill>
                <a:latin typeface="DM Sans" pitchFamily="34" charset="0"/>
                <a:ea typeface="DM Sans" pitchFamily="34" charset="-122"/>
                <a:cs typeface="DM Sans" pitchFamily="34" charset="-120"/>
              </a:rPr>
              <a:t>fairgameinitiative.org</a:t>
            </a:r>
            <a:endParaRPr lang="en-US" sz="900" dirty="0"/>
          </a:p>
        </p:txBody>
      </p:sp>
      <p:sp>
        <p:nvSpPr>
          <p:cNvPr id="7" name="Text 5"/>
          <p:cNvSpPr/>
          <p:nvPr/>
        </p:nvSpPr>
        <p:spPr>
          <a:xfrm>
            <a:off x="658368" y="1783080"/>
            <a:ext cx="10874959" cy="1005840"/>
          </a:xfrm>
          <a:prstGeom prst="rect">
            <a:avLst/>
          </a:prstGeom>
          <a:noFill/>
          <a:ln/>
        </p:spPr>
        <p:txBody>
          <a:bodyPr wrap="square" lIns="0" tIns="0" rIns="0" bIns="0" rtlCol="0" anchor="t"/>
          <a:lstStyle/>
          <a:p>
            <a:pPr indent="0" marL="0">
              <a:buNone/>
            </a:pPr>
            <a:r>
              <a:rPr lang="en-US" sz="2000" i="1" dirty="0">
                <a:solidFill>
                  <a:srgbClr val="254F25"/>
                </a:solidFill>
                <a:latin typeface="Playfair Display" pitchFamily="34" charset="0"/>
                <a:ea typeface="Playfair Display" pitchFamily="34" charset="-122"/>
                <a:cs typeface="Playfair Display" pitchFamily="34" charset="-120"/>
              </a:rPr>
              <a:t>Students in under-resourced and rural schools do not lack intelligence or curiosity. They lack the infrastructure, knowledge, and connections to run competitive science programs.</a:t>
            </a:r>
            <a:endParaRPr lang="en-US" sz="2000" dirty="0"/>
          </a:p>
        </p:txBody>
      </p:sp>
      <p:sp>
        <p:nvSpPr>
          <p:cNvPr id="8" name="Shape 6"/>
          <p:cNvSpPr/>
          <p:nvPr/>
        </p:nvSpPr>
        <p:spPr>
          <a:xfrm>
            <a:off x="658368" y="2926080"/>
            <a:ext cx="457200" cy="457200"/>
          </a:xfrm>
          <a:prstGeom prst="ellipse">
            <a:avLst/>
          </a:prstGeom>
          <a:solidFill>
            <a:srgbClr val="1C3A1C"/>
          </a:solidFill>
          <a:ln/>
        </p:spPr>
      </p:sp>
      <p:sp>
        <p:nvSpPr>
          <p:cNvPr id="9" name="Text 7"/>
          <p:cNvSpPr/>
          <p:nvPr/>
        </p:nvSpPr>
        <p:spPr>
          <a:xfrm>
            <a:off x="658368" y="2926080"/>
            <a:ext cx="457200" cy="457200"/>
          </a:xfrm>
          <a:prstGeom prst="rect">
            <a:avLst/>
          </a:prstGeom>
          <a:noFill/>
          <a:ln/>
        </p:spPr>
        <p:txBody>
          <a:bodyPr wrap="square" lIns="0" tIns="0" rIns="0" bIns="0" rtlCol="0" anchor="ctr"/>
          <a:lstStyle/>
          <a:p>
            <a:pPr algn="ctr" indent="0" marL="0">
              <a:buNone/>
            </a:pPr>
            <a:r>
              <a:rPr lang="en-US" sz="1900" b="1" dirty="0">
                <a:solidFill>
                  <a:srgbClr val="6AB86E"/>
                </a:solidFill>
                <a:latin typeface="Playfair Display" pitchFamily="34" charset="0"/>
                <a:ea typeface="Playfair Display" pitchFamily="34" charset="-122"/>
                <a:cs typeface="Playfair Display" pitchFamily="34" charset="-120"/>
              </a:rPr>
              <a:t>1</a:t>
            </a:r>
            <a:endParaRPr lang="en-US" sz="1900" dirty="0"/>
          </a:p>
        </p:txBody>
      </p:sp>
      <p:sp>
        <p:nvSpPr>
          <p:cNvPr id="10" name="Text 8"/>
          <p:cNvSpPr/>
          <p:nvPr/>
        </p:nvSpPr>
        <p:spPr>
          <a:xfrm>
            <a:off x="1344168" y="2880360"/>
            <a:ext cx="10189159" cy="347472"/>
          </a:xfrm>
          <a:prstGeom prst="rect">
            <a:avLst/>
          </a:prstGeom>
          <a:noFill/>
          <a:ln/>
        </p:spPr>
        <p:txBody>
          <a:bodyPr wrap="square" lIns="0" tIns="0" rIns="0" bIns="0" rtlCol="0" anchor="ctr"/>
          <a:lstStyle/>
          <a:p>
            <a:pPr indent="0" marL="0">
              <a:buNone/>
            </a:pPr>
            <a:r>
              <a:rPr lang="en-US" sz="1700" b="1" dirty="0">
                <a:solidFill>
                  <a:srgbClr val="1C3A1C"/>
                </a:solidFill>
                <a:latin typeface="DM Sans" pitchFamily="34" charset="0"/>
                <a:ea typeface="DM Sans" pitchFamily="34" charset="-122"/>
                <a:cs typeface="DM Sans" pitchFamily="34" charset="-120"/>
              </a:rPr>
              <a:t>Science fairs are not evenly distributed</a:t>
            </a:r>
            <a:endParaRPr lang="en-US" sz="1700" dirty="0"/>
          </a:p>
        </p:txBody>
      </p:sp>
      <p:sp>
        <p:nvSpPr>
          <p:cNvPr id="11" name="Text 9"/>
          <p:cNvSpPr/>
          <p:nvPr/>
        </p:nvSpPr>
        <p:spPr>
          <a:xfrm>
            <a:off x="1344168" y="3227832"/>
            <a:ext cx="1018915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Schools in rural and high-poverty areas are far less likely to have an established program or the network to run one.</a:t>
            </a:r>
            <a:endParaRPr lang="en-US" sz="1300" dirty="0"/>
          </a:p>
        </p:txBody>
      </p:sp>
      <p:sp>
        <p:nvSpPr>
          <p:cNvPr id="12" name="Shape 10"/>
          <p:cNvSpPr/>
          <p:nvPr/>
        </p:nvSpPr>
        <p:spPr>
          <a:xfrm>
            <a:off x="658368" y="4023360"/>
            <a:ext cx="457200" cy="457200"/>
          </a:xfrm>
          <a:prstGeom prst="ellipse">
            <a:avLst/>
          </a:prstGeom>
          <a:solidFill>
            <a:srgbClr val="1C3A1C"/>
          </a:solidFill>
          <a:ln/>
        </p:spPr>
      </p:sp>
      <p:sp>
        <p:nvSpPr>
          <p:cNvPr id="13" name="Text 11"/>
          <p:cNvSpPr/>
          <p:nvPr/>
        </p:nvSpPr>
        <p:spPr>
          <a:xfrm>
            <a:off x="658368" y="4023360"/>
            <a:ext cx="457200" cy="457200"/>
          </a:xfrm>
          <a:prstGeom prst="rect">
            <a:avLst/>
          </a:prstGeom>
          <a:noFill/>
          <a:ln/>
        </p:spPr>
        <p:txBody>
          <a:bodyPr wrap="square" lIns="0" tIns="0" rIns="0" bIns="0" rtlCol="0" anchor="ctr"/>
          <a:lstStyle/>
          <a:p>
            <a:pPr algn="ctr" indent="0" marL="0">
              <a:buNone/>
            </a:pPr>
            <a:r>
              <a:rPr lang="en-US" sz="1900" b="1" dirty="0">
                <a:solidFill>
                  <a:srgbClr val="6AB86E"/>
                </a:solidFill>
                <a:latin typeface="Playfair Display" pitchFamily="34" charset="0"/>
                <a:ea typeface="Playfair Display" pitchFamily="34" charset="-122"/>
                <a:cs typeface="Playfair Display" pitchFamily="34" charset="-120"/>
              </a:rPr>
              <a:t>2</a:t>
            </a:r>
            <a:endParaRPr lang="en-US" sz="1900" dirty="0"/>
          </a:p>
        </p:txBody>
      </p:sp>
      <p:sp>
        <p:nvSpPr>
          <p:cNvPr id="14" name="Text 12"/>
          <p:cNvSpPr/>
          <p:nvPr/>
        </p:nvSpPr>
        <p:spPr>
          <a:xfrm>
            <a:off x="1344168" y="3977640"/>
            <a:ext cx="10189159" cy="347472"/>
          </a:xfrm>
          <a:prstGeom prst="rect">
            <a:avLst/>
          </a:prstGeom>
          <a:noFill/>
          <a:ln/>
        </p:spPr>
        <p:txBody>
          <a:bodyPr wrap="square" lIns="0" tIns="0" rIns="0" bIns="0" rtlCol="0" anchor="ctr"/>
          <a:lstStyle/>
          <a:p>
            <a:pPr indent="0" marL="0">
              <a:buNone/>
            </a:pPr>
            <a:r>
              <a:rPr lang="en-US" sz="1700" b="1" dirty="0">
                <a:solidFill>
                  <a:srgbClr val="1C3A1C"/>
                </a:solidFill>
                <a:latin typeface="DM Sans" pitchFamily="34" charset="0"/>
                <a:ea typeface="DM Sans" pitchFamily="34" charset="-122"/>
                <a:cs typeface="DM Sans" pitchFamily="34" charset="-120"/>
              </a:rPr>
              <a:t>The pathway is real and it is closed to us</a:t>
            </a:r>
            <a:endParaRPr lang="en-US" sz="1700" dirty="0"/>
          </a:p>
        </p:txBody>
      </p:sp>
      <p:sp>
        <p:nvSpPr>
          <p:cNvPr id="15" name="Text 13"/>
          <p:cNvSpPr/>
          <p:nvPr/>
        </p:nvSpPr>
        <p:spPr>
          <a:xfrm>
            <a:off x="1344168" y="4325112"/>
            <a:ext cx="1018915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OAS regional and district fairs lead to State Science Day and to ISEF. Students at schools without a fair cannot enter that pathway at all.</a:t>
            </a:r>
            <a:endParaRPr lang="en-US" sz="1300" dirty="0"/>
          </a:p>
        </p:txBody>
      </p:sp>
      <p:sp>
        <p:nvSpPr>
          <p:cNvPr id="16" name="Shape 14"/>
          <p:cNvSpPr/>
          <p:nvPr/>
        </p:nvSpPr>
        <p:spPr>
          <a:xfrm>
            <a:off x="658368" y="5120640"/>
            <a:ext cx="457200" cy="457200"/>
          </a:xfrm>
          <a:prstGeom prst="ellipse">
            <a:avLst/>
          </a:prstGeom>
          <a:solidFill>
            <a:srgbClr val="1C3A1C"/>
          </a:solidFill>
          <a:ln/>
        </p:spPr>
      </p:sp>
      <p:sp>
        <p:nvSpPr>
          <p:cNvPr id="17" name="Text 15"/>
          <p:cNvSpPr/>
          <p:nvPr/>
        </p:nvSpPr>
        <p:spPr>
          <a:xfrm>
            <a:off x="658368" y="5120640"/>
            <a:ext cx="457200" cy="457200"/>
          </a:xfrm>
          <a:prstGeom prst="rect">
            <a:avLst/>
          </a:prstGeom>
          <a:noFill/>
          <a:ln/>
        </p:spPr>
        <p:txBody>
          <a:bodyPr wrap="square" lIns="0" tIns="0" rIns="0" bIns="0" rtlCol="0" anchor="ctr"/>
          <a:lstStyle/>
          <a:p>
            <a:pPr algn="ctr" indent="0" marL="0">
              <a:buNone/>
            </a:pPr>
            <a:r>
              <a:rPr lang="en-US" sz="1900" b="1" dirty="0">
                <a:solidFill>
                  <a:srgbClr val="6AB86E"/>
                </a:solidFill>
                <a:latin typeface="Playfair Display" pitchFamily="34" charset="0"/>
                <a:ea typeface="Playfair Display" pitchFamily="34" charset="-122"/>
                <a:cs typeface="Playfair Display" pitchFamily="34" charset="-120"/>
              </a:rPr>
              <a:t>3</a:t>
            </a:r>
            <a:endParaRPr lang="en-US" sz="1900" dirty="0"/>
          </a:p>
        </p:txBody>
      </p:sp>
      <p:sp>
        <p:nvSpPr>
          <p:cNvPr id="18" name="Text 16"/>
          <p:cNvSpPr/>
          <p:nvPr/>
        </p:nvSpPr>
        <p:spPr>
          <a:xfrm>
            <a:off x="1344168" y="5074920"/>
            <a:ext cx="10189159" cy="347472"/>
          </a:xfrm>
          <a:prstGeom prst="rect">
            <a:avLst/>
          </a:prstGeom>
          <a:noFill/>
          <a:ln/>
        </p:spPr>
        <p:txBody>
          <a:bodyPr wrap="square" lIns="0" tIns="0" rIns="0" bIns="0" rtlCol="0" anchor="ctr"/>
          <a:lstStyle/>
          <a:p>
            <a:pPr indent="0" marL="0">
              <a:buNone/>
            </a:pPr>
            <a:r>
              <a:rPr lang="en-US" sz="1700" b="1" dirty="0">
                <a:solidFill>
                  <a:srgbClr val="1C3A1C"/>
                </a:solidFill>
                <a:latin typeface="DM Sans" pitchFamily="34" charset="0"/>
                <a:ea typeface="DM Sans" pitchFamily="34" charset="-122"/>
                <a:cs typeface="DM Sans" pitchFamily="34" charset="-120"/>
              </a:rPr>
              <a:t>This is fixable in one school year</a:t>
            </a:r>
            <a:endParaRPr lang="en-US" sz="1700" dirty="0"/>
          </a:p>
        </p:txBody>
      </p:sp>
      <p:sp>
        <p:nvSpPr>
          <p:cNvPr id="19" name="Text 17"/>
          <p:cNvSpPr/>
          <p:nvPr/>
        </p:nvSpPr>
        <p:spPr>
          <a:xfrm>
            <a:off x="1344168" y="5422392"/>
            <a:ext cx="1018915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Nothing about the gap is about ability. It is about whether an adult here signs off on a date and a room.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C3A1C"/>
          </a:solidFill>
          <a:ln/>
        </p:spPr>
      </p:sp>
      <p:sp>
        <p:nvSpPr>
          <p:cNvPr id="3" name="Text 1"/>
          <p:cNvSpPr/>
          <p:nvPr/>
        </p:nvSpPr>
        <p:spPr>
          <a:xfrm>
            <a:off x="658368" y="384048"/>
            <a:ext cx="10874959" cy="274320"/>
          </a:xfrm>
          <a:prstGeom prst="rect">
            <a:avLst/>
          </a:prstGeom>
          <a:noFill/>
          <a:ln/>
        </p:spPr>
        <p:txBody>
          <a:bodyPr wrap="square" lIns="0" tIns="0" rIns="0" bIns="0" rtlCol="0" anchor="ctr"/>
          <a:lstStyle/>
          <a:p>
            <a:pPr indent="0" marL="0">
              <a:buNone/>
            </a:pPr>
            <a:r>
              <a:rPr lang="en-US" sz="1100" b="1" spc="300" kern="0" dirty="0">
                <a:solidFill>
                  <a:srgbClr val="E0615A"/>
                </a:solidFill>
                <a:latin typeface="DM Sans" pitchFamily="34" charset="0"/>
                <a:ea typeface="DM Sans" pitchFamily="34" charset="-122"/>
                <a:cs typeface="DM Sans" pitchFamily="34" charset="-120"/>
              </a:rPr>
              <a:t>WHAT IT IS</a:t>
            </a:r>
            <a:endParaRPr lang="en-US" sz="1100" dirty="0"/>
          </a:p>
        </p:txBody>
      </p:sp>
      <p:sp>
        <p:nvSpPr>
          <p:cNvPr id="4" name="Text 2"/>
          <p:cNvSpPr/>
          <p:nvPr/>
        </p:nvSpPr>
        <p:spPr>
          <a:xfrm>
            <a:off x="612648" y="658368"/>
            <a:ext cx="10874959" cy="685800"/>
          </a:xfrm>
          <a:prstGeom prst="rect">
            <a:avLst/>
          </a:prstGeom>
          <a:noFill/>
          <a:ln/>
        </p:spPr>
        <p:txBody>
          <a:bodyPr wrap="square" lIns="0" tIns="0" rIns="0" bIns="0" rtlCol="0" anchor="ctr"/>
          <a:lstStyle/>
          <a:p>
            <a:pPr indent="0" marL="0">
              <a:buNone/>
            </a:pPr>
            <a:r>
              <a:rPr lang="en-US" sz="3300" dirty="0">
                <a:solidFill>
                  <a:srgbClr val="1C3A1C"/>
                </a:solidFill>
                <a:latin typeface="Anton" pitchFamily="34" charset="0"/>
                <a:ea typeface="Anton" pitchFamily="34" charset="-122"/>
                <a:cs typeface="Anton" pitchFamily="34" charset="-120"/>
              </a:rPr>
              <a:t>WHAT A SCIENCE FAIR INVOLVES</a:t>
            </a:r>
            <a:endParaRPr lang="en-US" sz="3300" dirty="0"/>
          </a:p>
        </p:txBody>
      </p:sp>
      <p:sp>
        <p:nvSpPr>
          <p:cNvPr id="5" name="Shape 3"/>
          <p:cNvSpPr/>
          <p:nvPr/>
        </p:nvSpPr>
        <p:spPr>
          <a:xfrm>
            <a:off x="658368" y="1389888"/>
            <a:ext cx="10874959" cy="0"/>
          </a:xfrm>
          <a:prstGeom prst="line">
            <a:avLst/>
          </a:prstGeom>
          <a:noFill/>
          <a:ln w="17780">
            <a:solidFill>
              <a:srgbClr val="6AB86E"/>
            </a:solidFill>
            <a:prstDash val="solid"/>
          </a:ln>
        </p:spPr>
      </p:sp>
      <p:sp>
        <p:nvSpPr>
          <p:cNvPr id="6" name="Text 4"/>
          <p:cNvSpPr/>
          <p:nvPr/>
        </p:nvSpPr>
        <p:spPr>
          <a:xfrm>
            <a:off x="7875727" y="6355080"/>
            <a:ext cx="3657600" cy="274320"/>
          </a:xfrm>
          <a:prstGeom prst="rect">
            <a:avLst/>
          </a:prstGeom>
          <a:noFill/>
          <a:ln/>
        </p:spPr>
        <p:txBody>
          <a:bodyPr wrap="square" lIns="0" tIns="0" rIns="0" bIns="0" rtlCol="0" anchor="ctr"/>
          <a:lstStyle/>
          <a:p>
            <a:pPr algn="r" indent="0" marL="0">
              <a:buNone/>
            </a:pPr>
            <a:r>
              <a:rPr lang="en-US" sz="900" dirty="0">
                <a:solidFill>
                  <a:srgbClr val="6B756B"/>
                </a:solidFill>
                <a:latin typeface="DM Sans" pitchFamily="34" charset="0"/>
                <a:ea typeface="DM Sans" pitchFamily="34" charset="-122"/>
                <a:cs typeface="DM Sans" pitchFamily="34" charset="-120"/>
              </a:rPr>
              <a:t>fairgameinitiative.org</a:t>
            </a:r>
            <a:endParaRPr lang="en-US" sz="900" dirty="0"/>
          </a:p>
        </p:txBody>
      </p:sp>
      <p:sp>
        <p:nvSpPr>
          <p:cNvPr id="7" name="Shape 5"/>
          <p:cNvSpPr/>
          <p:nvPr/>
        </p:nvSpPr>
        <p:spPr>
          <a:xfrm>
            <a:off x="658368" y="1783080"/>
            <a:ext cx="457200" cy="457200"/>
          </a:xfrm>
          <a:prstGeom prst="ellipse">
            <a:avLst/>
          </a:prstGeom>
          <a:solidFill>
            <a:srgbClr val="1C3A1C"/>
          </a:solidFill>
          <a:ln/>
        </p:spPr>
      </p:sp>
      <p:sp>
        <p:nvSpPr>
          <p:cNvPr id="8" name="Text 6"/>
          <p:cNvSpPr/>
          <p:nvPr/>
        </p:nvSpPr>
        <p:spPr>
          <a:xfrm>
            <a:off x="658368" y="1783080"/>
            <a:ext cx="457200" cy="457200"/>
          </a:xfrm>
          <a:prstGeom prst="rect">
            <a:avLst/>
          </a:prstGeom>
          <a:noFill/>
          <a:ln/>
        </p:spPr>
        <p:txBody>
          <a:bodyPr wrap="square" lIns="0" tIns="0" rIns="0" bIns="0" rtlCol="0" anchor="ctr"/>
          <a:lstStyle/>
          <a:p>
            <a:pPr algn="ctr" indent="0" marL="0">
              <a:buNone/>
            </a:pPr>
            <a:r>
              <a:rPr lang="en-US" sz="1900" b="1" dirty="0">
                <a:solidFill>
                  <a:srgbClr val="6AB86E"/>
                </a:solidFill>
                <a:latin typeface="Playfair Display" pitchFamily="34" charset="0"/>
                <a:ea typeface="Playfair Display" pitchFamily="34" charset="-122"/>
                <a:cs typeface="Playfair Display" pitchFamily="34" charset="-120"/>
              </a:rPr>
              <a:t>1</a:t>
            </a:r>
            <a:endParaRPr lang="en-US" sz="1900" dirty="0"/>
          </a:p>
        </p:txBody>
      </p:sp>
      <p:sp>
        <p:nvSpPr>
          <p:cNvPr id="9" name="Text 7"/>
          <p:cNvSpPr/>
          <p:nvPr/>
        </p:nvSpPr>
        <p:spPr>
          <a:xfrm>
            <a:off x="1344168" y="1737360"/>
            <a:ext cx="10189159" cy="347472"/>
          </a:xfrm>
          <a:prstGeom prst="rect">
            <a:avLst/>
          </a:prstGeom>
          <a:noFill/>
          <a:ln/>
        </p:spPr>
        <p:txBody>
          <a:bodyPr wrap="square" lIns="0" tIns="0" rIns="0" bIns="0" rtlCol="0" anchor="ctr"/>
          <a:lstStyle/>
          <a:p>
            <a:pPr indent="0" marL="0">
              <a:buNone/>
            </a:pPr>
            <a:r>
              <a:rPr lang="en-US" sz="1700" b="1" dirty="0">
                <a:solidFill>
                  <a:srgbClr val="1C3A1C"/>
                </a:solidFill>
                <a:latin typeface="DM Sans" pitchFamily="34" charset="0"/>
                <a:ea typeface="DM Sans" pitchFamily="34" charset="-122"/>
                <a:cs typeface="DM Sans" pitchFamily="34" charset="-120"/>
              </a:rPr>
              <a:t>Students design their own experiment</a:t>
            </a:r>
            <a:endParaRPr lang="en-US" sz="1700" dirty="0"/>
          </a:p>
        </p:txBody>
      </p:sp>
      <p:sp>
        <p:nvSpPr>
          <p:cNvPr id="10" name="Text 8"/>
          <p:cNvSpPr/>
          <p:nvPr/>
        </p:nvSpPr>
        <p:spPr>
          <a:xfrm>
            <a:off x="1344168" y="2084832"/>
            <a:ext cx="1018915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Not a demonstration and not a poster of looked-up facts. A real test with a result nobody can search for.</a:t>
            </a:r>
            <a:endParaRPr lang="en-US" sz="1300" dirty="0"/>
          </a:p>
        </p:txBody>
      </p:sp>
      <p:sp>
        <p:nvSpPr>
          <p:cNvPr id="11" name="Shape 9"/>
          <p:cNvSpPr/>
          <p:nvPr/>
        </p:nvSpPr>
        <p:spPr>
          <a:xfrm>
            <a:off x="658368" y="2880360"/>
            <a:ext cx="457200" cy="457200"/>
          </a:xfrm>
          <a:prstGeom prst="ellipse">
            <a:avLst/>
          </a:prstGeom>
          <a:solidFill>
            <a:srgbClr val="1C3A1C"/>
          </a:solidFill>
          <a:ln/>
        </p:spPr>
      </p:sp>
      <p:sp>
        <p:nvSpPr>
          <p:cNvPr id="12" name="Text 10"/>
          <p:cNvSpPr/>
          <p:nvPr/>
        </p:nvSpPr>
        <p:spPr>
          <a:xfrm>
            <a:off x="658368" y="2880360"/>
            <a:ext cx="457200" cy="457200"/>
          </a:xfrm>
          <a:prstGeom prst="rect">
            <a:avLst/>
          </a:prstGeom>
          <a:noFill/>
          <a:ln/>
        </p:spPr>
        <p:txBody>
          <a:bodyPr wrap="square" lIns="0" tIns="0" rIns="0" bIns="0" rtlCol="0" anchor="ctr"/>
          <a:lstStyle/>
          <a:p>
            <a:pPr algn="ctr" indent="0" marL="0">
              <a:buNone/>
            </a:pPr>
            <a:r>
              <a:rPr lang="en-US" sz="1900" b="1" dirty="0">
                <a:solidFill>
                  <a:srgbClr val="6AB86E"/>
                </a:solidFill>
                <a:latin typeface="Playfair Display" pitchFamily="34" charset="0"/>
                <a:ea typeface="Playfair Display" pitchFamily="34" charset="-122"/>
                <a:cs typeface="Playfair Display" pitchFamily="34" charset="-120"/>
              </a:rPr>
              <a:t>2</a:t>
            </a:r>
            <a:endParaRPr lang="en-US" sz="1900" dirty="0"/>
          </a:p>
        </p:txBody>
      </p:sp>
      <p:sp>
        <p:nvSpPr>
          <p:cNvPr id="13" name="Text 11"/>
          <p:cNvSpPr/>
          <p:nvPr/>
        </p:nvSpPr>
        <p:spPr>
          <a:xfrm>
            <a:off x="1344168" y="2834640"/>
            <a:ext cx="10189159" cy="347472"/>
          </a:xfrm>
          <a:prstGeom prst="rect">
            <a:avLst/>
          </a:prstGeom>
          <a:noFill/>
          <a:ln/>
        </p:spPr>
        <p:txBody>
          <a:bodyPr wrap="square" lIns="0" tIns="0" rIns="0" bIns="0" rtlCol="0" anchor="ctr"/>
          <a:lstStyle/>
          <a:p>
            <a:pPr indent="0" marL="0">
              <a:buNone/>
            </a:pPr>
            <a:r>
              <a:rPr lang="en-US" sz="1700" b="1" dirty="0">
                <a:solidFill>
                  <a:srgbClr val="1C3A1C"/>
                </a:solidFill>
                <a:latin typeface="DM Sans" pitchFamily="34" charset="0"/>
                <a:ea typeface="DM Sans" pitchFamily="34" charset="-122"/>
                <a:cs typeface="DM Sans" pitchFamily="34" charset="-120"/>
              </a:rPr>
              <a:t>They keep a dated record of the work</a:t>
            </a:r>
            <a:endParaRPr lang="en-US" sz="1700" dirty="0"/>
          </a:p>
        </p:txBody>
      </p:sp>
      <p:sp>
        <p:nvSpPr>
          <p:cNvPr id="14" name="Text 12"/>
          <p:cNvSpPr/>
          <p:nvPr/>
        </p:nvSpPr>
        <p:spPr>
          <a:xfrm>
            <a:off x="1344168" y="3182112"/>
            <a:ext cx="1018915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A science journal, collected four times, which is also how teachers know the work is genuine.</a:t>
            </a:r>
            <a:endParaRPr lang="en-US" sz="1300" dirty="0"/>
          </a:p>
        </p:txBody>
      </p:sp>
      <p:sp>
        <p:nvSpPr>
          <p:cNvPr id="15" name="Shape 13"/>
          <p:cNvSpPr/>
          <p:nvPr/>
        </p:nvSpPr>
        <p:spPr>
          <a:xfrm>
            <a:off x="658368" y="3977640"/>
            <a:ext cx="457200" cy="457200"/>
          </a:xfrm>
          <a:prstGeom prst="ellipse">
            <a:avLst/>
          </a:prstGeom>
          <a:solidFill>
            <a:srgbClr val="1C3A1C"/>
          </a:solidFill>
          <a:ln/>
        </p:spPr>
      </p:sp>
      <p:sp>
        <p:nvSpPr>
          <p:cNvPr id="16" name="Text 14"/>
          <p:cNvSpPr/>
          <p:nvPr/>
        </p:nvSpPr>
        <p:spPr>
          <a:xfrm>
            <a:off x="658368" y="3977640"/>
            <a:ext cx="457200" cy="457200"/>
          </a:xfrm>
          <a:prstGeom prst="rect">
            <a:avLst/>
          </a:prstGeom>
          <a:noFill/>
          <a:ln/>
        </p:spPr>
        <p:txBody>
          <a:bodyPr wrap="square" lIns="0" tIns="0" rIns="0" bIns="0" rtlCol="0" anchor="ctr"/>
          <a:lstStyle/>
          <a:p>
            <a:pPr algn="ctr" indent="0" marL="0">
              <a:buNone/>
            </a:pPr>
            <a:r>
              <a:rPr lang="en-US" sz="1900" b="1" dirty="0">
                <a:solidFill>
                  <a:srgbClr val="6AB86E"/>
                </a:solidFill>
                <a:latin typeface="Playfair Display" pitchFamily="34" charset="0"/>
                <a:ea typeface="Playfair Display" pitchFamily="34" charset="-122"/>
                <a:cs typeface="Playfair Display" pitchFamily="34" charset="-120"/>
              </a:rPr>
              <a:t>3</a:t>
            </a:r>
            <a:endParaRPr lang="en-US" sz="1900" dirty="0"/>
          </a:p>
        </p:txBody>
      </p:sp>
      <p:sp>
        <p:nvSpPr>
          <p:cNvPr id="17" name="Text 15"/>
          <p:cNvSpPr/>
          <p:nvPr/>
        </p:nvSpPr>
        <p:spPr>
          <a:xfrm>
            <a:off x="1344168" y="3931920"/>
            <a:ext cx="10189159" cy="347472"/>
          </a:xfrm>
          <a:prstGeom prst="rect">
            <a:avLst/>
          </a:prstGeom>
          <a:noFill/>
          <a:ln/>
        </p:spPr>
        <p:txBody>
          <a:bodyPr wrap="square" lIns="0" tIns="0" rIns="0" bIns="0" rtlCol="0" anchor="ctr"/>
          <a:lstStyle/>
          <a:p>
            <a:pPr indent="0" marL="0">
              <a:buNone/>
            </a:pPr>
            <a:r>
              <a:rPr lang="en-US" sz="1700" b="1" dirty="0">
                <a:solidFill>
                  <a:srgbClr val="1C3A1C"/>
                </a:solidFill>
                <a:latin typeface="DM Sans" pitchFamily="34" charset="0"/>
                <a:ea typeface="DM Sans" pitchFamily="34" charset="-122"/>
                <a:cs typeface="DM Sans" pitchFamily="34" charset="-120"/>
              </a:rPr>
              <a:t>They present to judges</a:t>
            </a:r>
            <a:endParaRPr lang="en-US" sz="1700" dirty="0"/>
          </a:p>
        </p:txBody>
      </p:sp>
      <p:sp>
        <p:nvSpPr>
          <p:cNvPr id="18" name="Text 16"/>
          <p:cNvSpPr/>
          <p:nvPr/>
        </p:nvSpPr>
        <p:spPr>
          <a:xfrm>
            <a:off x="1344168" y="4279392"/>
            <a:ext cx="1018915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Working STEM professionals ask about the project. FairGame recruits and trains them at no cost.</a:t>
            </a:r>
            <a:endParaRPr lang="en-US" sz="1300" dirty="0"/>
          </a:p>
        </p:txBody>
      </p:sp>
      <p:sp>
        <p:nvSpPr>
          <p:cNvPr id="19" name="Shape 17"/>
          <p:cNvSpPr/>
          <p:nvPr/>
        </p:nvSpPr>
        <p:spPr>
          <a:xfrm>
            <a:off x="658368" y="5074920"/>
            <a:ext cx="457200" cy="457200"/>
          </a:xfrm>
          <a:prstGeom prst="ellipse">
            <a:avLst/>
          </a:prstGeom>
          <a:solidFill>
            <a:srgbClr val="1C3A1C"/>
          </a:solidFill>
          <a:ln/>
        </p:spPr>
      </p:sp>
      <p:sp>
        <p:nvSpPr>
          <p:cNvPr id="20" name="Text 18"/>
          <p:cNvSpPr/>
          <p:nvPr/>
        </p:nvSpPr>
        <p:spPr>
          <a:xfrm>
            <a:off x="658368" y="5074920"/>
            <a:ext cx="457200" cy="457200"/>
          </a:xfrm>
          <a:prstGeom prst="rect">
            <a:avLst/>
          </a:prstGeom>
          <a:noFill/>
          <a:ln/>
        </p:spPr>
        <p:txBody>
          <a:bodyPr wrap="square" lIns="0" tIns="0" rIns="0" bIns="0" rtlCol="0" anchor="ctr"/>
          <a:lstStyle/>
          <a:p>
            <a:pPr algn="ctr" indent="0" marL="0">
              <a:buNone/>
            </a:pPr>
            <a:r>
              <a:rPr lang="en-US" sz="1900" b="1" dirty="0">
                <a:solidFill>
                  <a:srgbClr val="6AB86E"/>
                </a:solidFill>
                <a:latin typeface="Playfair Display" pitchFamily="34" charset="0"/>
                <a:ea typeface="Playfair Display" pitchFamily="34" charset="-122"/>
                <a:cs typeface="Playfair Display" pitchFamily="34" charset="-120"/>
              </a:rPr>
              <a:t>4</a:t>
            </a:r>
            <a:endParaRPr lang="en-US" sz="1900" dirty="0"/>
          </a:p>
        </p:txBody>
      </p:sp>
      <p:sp>
        <p:nvSpPr>
          <p:cNvPr id="21" name="Text 19"/>
          <p:cNvSpPr/>
          <p:nvPr/>
        </p:nvSpPr>
        <p:spPr>
          <a:xfrm>
            <a:off x="1344168" y="5029200"/>
            <a:ext cx="10189159" cy="347472"/>
          </a:xfrm>
          <a:prstGeom prst="rect">
            <a:avLst/>
          </a:prstGeom>
          <a:noFill/>
          <a:ln/>
        </p:spPr>
        <p:txBody>
          <a:bodyPr wrap="square" lIns="0" tIns="0" rIns="0" bIns="0" rtlCol="0" anchor="ctr"/>
          <a:lstStyle/>
          <a:p>
            <a:pPr indent="0" marL="0">
              <a:buNone/>
            </a:pPr>
            <a:r>
              <a:rPr lang="en-US" sz="1700" b="1" dirty="0">
                <a:solidFill>
                  <a:srgbClr val="1C3A1C"/>
                </a:solidFill>
                <a:latin typeface="DM Sans" pitchFamily="34" charset="0"/>
                <a:ea typeface="DM Sans" pitchFamily="34" charset="-122"/>
                <a:cs typeface="DM Sans" pitchFamily="34" charset="-120"/>
              </a:rPr>
              <a:t>The best projects advance</a:t>
            </a:r>
            <a:endParaRPr lang="en-US" sz="1700" dirty="0"/>
          </a:p>
        </p:txBody>
      </p:sp>
      <p:sp>
        <p:nvSpPr>
          <p:cNvPr id="22" name="Text 20"/>
          <p:cNvSpPr/>
          <p:nvPr/>
        </p:nvSpPr>
        <p:spPr>
          <a:xfrm>
            <a:off x="1344168" y="5376672"/>
            <a:ext cx="10189159"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Through OAS regional and district fairs, to State Science Day in Columbus.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C3A1C"/>
          </a:solidFill>
          <a:ln/>
        </p:spPr>
      </p:sp>
      <p:sp>
        <p:nvSpPr>
          <p:cNvPr id="3" name="Text 1"/>
          <p:cNvSpPr/>
          <p:nvPr/>
        </p:nvSpPr>
        <p:spPr>
          <a:xfrm>
            <a:off x="658368" y="384048"/>
            <a:ext cx="10874959" cy="274320"/>
          </a:xfrm>
          <a:prstGeom prst="rect">
            <a:avLst/>
          </a:prstGeom>
          <a:noFill/>
          <a:ln/>
        </p:spPr>
        <p:txBody>
          <a:bodyPr wrap="square" lIns="0" tIns="0" rIns="0" bIns="0" rtlCol="0" anchor="ctr"/>
          <a:lstStyle/>
          <a:p>
            <a:pPr indent="0" marL="0">
              <a:buNone/>
            </a:pPr>
            <a:r>
              <a:rPr lang="en-US" sz="1100" b="1" spc="300" kern="0" dirty="0">
                <a:solidFill>
                  <a:srgbClr val="E0615A"/>
                </a:solidFill>
                <a:latin typeface="DM Sans" pitchFamily="34" charset="0"/>
                <a:ea typeface="DM Sans" pitchFamily="34" charset="-122"/>
                <a:cs typeface="DM Sans" pitchFamily="34" charset="-120"/>
              </a:rPr>
              <a:t>THE SUPPORT</a:t>
            </a:r>
            <a:endParaRPr lang="en-US" sz="1100" dirty="0"/>
          </a:p>
        </p:txBody>
      </p:sp>
      <p:sp>
        <p:nvSpPr>
          <p:cNvPr id="4" name="Text 2"/>
          <p:cNvSpPr/>
          <p:nvPr/>
        </p:nvSpPr>
        <p:spPr>
          <a:xfrm>
            <a:off x="612648" y="658368"/>
            <a:ext cx="10874959" cy="685800"/>
          </a:xfrm>
          <a:prstGeom prst="rect">
            <a:avLst/>
          </a:prstGeom>
          <a:noFill/>
          <a:ln/>
        </p:spPr>
        <p:txBody>
          <a:bodyPr wrap="square" lIns="0" tIns="0" rIns="0" bIns="0" rtlCol="0" anchor="ctr"/>
          <a:lstStyle/>
          <a:p>
            <a:pPr indent="0" marL="0">
              <a:buNone/>
            </a:pPr>
            <a:r>
              <a:rPr lang="en-US" sz="3300" dirty="0">
                <a:solidFill>
                  <a:srgbClr val="1C3A1C"/>
                </a:solidFill>
                <a:latin typeface="Anton" pitchFamily="34" charset="0"/>
                <a:ea typeface="Anton" pitchFamily="34" charset="-122"/>
                <a:cs typeface="Anton" pitchFamily="34" charset="-120"/>
              </a:rPr>
              <a:t>WHAT FAIRGAME PROVIDES FREE</a:t>
            </a:r>
            <a:endParaRPr lang="en-US" sz="3300" dirty="0"/>
          </a:p>
        </p:txBody>
      </p:sp>
      <p:sp>
        <p:nvSpPr>
          <p:cNvPr id="5" name="Shape 3"/>
          <p:cNvSpPr/>
          <p:nvPr/>
        </p:nvSpPr>
        <p:spPr>
          <a:xfrm>
            <a:off x="658368" y="1389888"/>
            <a:ext cx="10874959" cy="0"/>
          </a:xfrm>
          <a:prstGeom prst="line">
            <a:avLst/>
          </a:prstGeom>
          <a:noFill/>
          <a:ln w="17780">
            <a:solidFill>
              <a:srgbClr val="6AB86E"/>
            </a:solidFill>
            <a:prstDash val="solid"/>
          </a:ln>
        </p:spPr>
      </p:sp>
      <p:sp>
        <p:nvSpPr>
          <p:cNvPr id="6" name="Text 4"/>
          <p:cNvSpPr/>
          <p:nvPr/>
        </p:nvSpPr>
        <p:spPr>
          <a:xfrm>
            <a:off x="7875727" y="6355080"/>
            <a:ext cx="3657600" cy="274320"/>
          </a:xfrm>
          <a:prstGeom prst="rect">
            <a:avLst/>
          </a:prstGeom>
          <a:noFill/>
          <a:ln/>
        </p:spPr>
        <p:txBody>
          <a:bodyPr wrap="square" lIns="0" tIns="0" rIns="0" bIns="0" rtlCol="0" anchor="ctr"/>
          <a:lstStyle/>
          <a:p>
            <a:pPr algn="r" indent="0" marL="0">
              <a:buNone/>
            </a:pPr>
            <a:r>
              <a:rPr lang="en-US" sz="900" dirty="0">
                <a:solidFill>
                  <a:srgbClr val="6B756B"/>
                </a:solidFill>
                <a:latin typeface="DM Sans" pitchFamily="34" charset="0"/>
                <a:ea typeface="DM Sans" pitchFamily="34" charset="-122"/>
                <a:cs typeface="DM Sans" pitchFamily="34" charset="-120"/>
              </a:rPr>
              <a:t>fairgameinitiative.org</a:t>
            </a:r>
            <a:endParaRPr lang="en-US" sz="900" dirty="0"/>
          </a:p>
        </p:txBody>
      </p:sp>
      <p:sp>
        <p:nvSpPr>
          <p:cNvPr id="7" name="Shape 5"/>
          <p:cNvSpPr/>
          <p:nvPr/>
        </p:nvSpPr>
        <p:spPr>
          <a:xfrm>
            <a:off x="658368" y="1956816"/>
            <a:ext cx="146304" cy="146304"/>
          </a:xfrm>
          <a:prstGeom prst="rect">
            <a:avLst/>
          </a:prstGeom>
          <a:solidFill>
            <a:srgbClr val="6AB86E"/>
          </a:solidFill>
          <a:ln/>
        </p:spPr>
      </p:sp>
      <p:sp>
        <p:nvSpPr>
          <p:cNvPr id="8" name="Text 6"/>
          <p:cNvSpPr/>
          <p:nvPr/>
        </p:nvSpPr>
        <p:spPr>
          <a:xfrm>
            <a:off x="969264" y="1828800"/>
            <a:ext cx="5002481" cy="457200"/>
          </a:xfrm>
          <a:prstGeom prst="rect">
            <a:avLst/>
          </a:prstGeom>
          <a:noFill/>
          <a:ln/>
        </p:spPr>
        <p:txBody>
          <a:bodyPr wrap="square" lIns="0" tIns="0" rIns="0" bIns="0" rtlCol="0" anchor="ctr"/>
          <a:lstStyle/>
          <a:p>
            <a:pPr indent="0" marL="0">
              <a:buNone/>
            </a:pPr>
            <a:r>
              <a:rPr lang="en-US" sz="1500" dirty="0">
                <a:solidFill>
                  <a:srgbClr val="1A1E1A"/>
                </a:solidFill>
                <a:latin typeface="DM Sans" pitchFamily="34" charset="0"/>
                <a:ea typeface="DM Sans" pitchFamily="34" charset="-122"/>
                <a:cs typeface="DM Sans" pitchFamily="34" charset="-120"/>
              </a:rPr>
              <a:t>Complete setup guide and 12 month timeline</a:t>
            </a:r>
            <a:endParaRPr lang="en-US" sz="1500" dirty="0"/>
          </a:p>
        </p:txBody>
      </p:sp>
      <p:sp>
        <p:nvSpPr>
          <p:cNvPr id="9" name="Shape 7"/>
          <p:cNvSpPr/>
          <p:nvPr/>
        </p:nvSpPr>
        <p:spPr>
          <a:xfrm>
            <a:off x="6095848" y="1956816"/>
            <a:ext cx="146304" cy="146304"/>
          </a:xfrm>
          <a:prstGeom prst="rect">
            <a:avLst/>
          </a:prstGeom>
          <a:solidFill>
            <a:srgbClr val="6AB86E"/>
          </a:solidFill>
          <a:ln/>
        </p:spPr>
      </p:sp>
      <p:sp>
        <p:nvSpPr>
          <p:cNvPr id="10" name="Text 8"/>
          <p:cNvSpPr/>
          <p:nvPr/>
        </p:nvSpPr>
        <p:spPr>
          <a:xfrm>
            <a:off x="6406744" y="1828800"/>
            <a:ext cx="5002481" cy="457200"/>
          </a:xfrm>
          <a:prstGeom prst="rect">
            <a:avLst/>
          </a:prstGeom>
          <a:noFill/>
          <a:ln/>
        </p:spPr>
        <p:txBody>
          <a:bodyPr wrap="square" lIns="0" tIns="0" rIns="0" bIns="0" rtlCol="0" anchor="ctr"/>
          <a:lstStyle/>
          <a:p>
            <a:pPr indent="0" marL="0">
              <a:buNone/>
            </a:pPr>
            <a:r>
              <a:rPr lang="en-US" sz="1500" dirty="0">
                <a:solidFill>
                  <a:srgbClr val="1A1E1A"/>
                </a:solidFill>
                <a:latin typeface="DM Sans" pitchFamily="34" charset="0"/>
                <a:ea typeface="DM Sans" pitchFamily="34" charset="-122"/>
                <a:cs typeface="DM Sans" pitchFamily="34" charset="-120"/>
              </a:rPr>
              <a:t>Full curriculum for Grades 5 to 8</a:t>
            </a:r>
            <a:endParaRPr lang="en-US" sz="1500" dirty="0"/>
          </a:p>
        </p:txBody>
      </p:sp>
      <p:sp>
        <p:nvSpPr>
          <p:cNvPr id="11" name="Shape 9"/>
          <p:cNvSpPr/>
          <p:nvPr/>
        </p:nvSpPr>
        <p:spPr>
          <a:xfrm>
            <a:off x="658368" y="2523744"/>
            <a:ext cx="146304" cy="146304"/>
          </a:xfrm>
          <a:prstGeom prst="rect">
            <a:avLst/>
          </a:prstGeom>
          <a:solidFill>
            <a:srgbClr val="6AB86E"/>
          </a:solidFill>
          <a:ln/>
        </p:spPr>
      </p:sp>
      <p:sp>
        <p:nvSpPr>
          <p:cNvPr id="12" name="Text 10"/>
          <p:cNvSpPr/>
          <p:nvPr/>
        </p:nvSpPr>
        <p:spPr>
          <a:xfrm>
            <a:off x="969264" y="2395728"/>
            <a:ext cx="5002481" cy="457200"/>
          </a:xfrm>
          <a:prstGeom prst="rect">
            <a:avLst/>
          </a:prstGeom>
          <a:noFill/>
          <a:ln/>
        </p:spPr>
        <p:txBody>
          <a:bodyPr wrap="square" lIns="0" tIns="0" rIns="0" bIns="0" rtlCol="0" anchor="ctr"/>
          <a:lstStyle/>
          <a:p>
            <a:pPr indent="0" marL="0">
              <a:buNone/>
            </a:pPr>
            <a:r>
              <a:rPr lang="en-US" sz="1500" dirty="0">
                <a:solidFill>
                  <a:srgbClr val="1A1E1A"/>
                </a:solidFill>
                <a:latin typeface="DM Sans" pitchFamily="34" charset="0"/>
                <a:ea typeface="DM Sans" pitchFamily="34" charset="-122"/>
                <a:cs typeface="DM Sans" pitchFamily="34" charset="-120"/>
              </a:rPr>
              <a:t>Judge recruitment and training</a:t>
            </a:r>
            <a:endParaRPr lang="en-US" sz="1500" dirty="0"/>
          </a:p>
        </p:txBody>
      </p:sp>
      <p:sp>
        <p:nvSpPr>
          <p:cNvPr id="13" name="Shape 11"/>
          <p:cNvSpPr/>
          <p:nvPr/>
        </p:nvSpPr>
        <p:spPr>
          <a:xfrm>
            <a:off x="6095848" y="2523744"/>
            <a:ext cx="146304" cy="146304"/>
          </a:xfrm>
          <a:prstGeom prst="rect">
            <a:avLst/>
          </a:prstGeom>
          <a:solidFill>
            <a:srgbClr val="6AB86E"/>
          </a:solidFill>
          <a:ln/>
        </p:spPr>
      </p:sp>
      <p:sp>
        <p:nvSpPr>
          <p:cNvPr id="14" name="Text 12"/>
          <p:cNvSpPr/>
          <p:nvPr/>
        </p:nvSpPr>
        <p:spPr>
          <a:xfrm>
            <a:off x="6406744" y="2395728"/>
            <a:ext cx="5002481" cy="457200"/>
          </a:xfrm>
          <a:prstGeom prst="rect">
            <a:avLst/>
          </a:prstGeom>
          <a:noFill/>
          <a:ln/>
        </p:spPr>
        <p:txBody>
          <a:bodyPr wrap="square" lIns="0" tIns="0" rIns="0" bIns="0" rtlCol="0" anchor="ctr"/>
          <a:lstStyle/>
          <a:p>
            <a:pPr indent="0" marL="0">
              <a:buNone/>
            </a:pPr>
            <a:r>
              <a:rPr lang="en-US" sz="1500" dirty="0">
                <a:solidFill>
                  <a:srgbClr val="1A1E1A"/>
                </a:solidFill>
                <a:latin typeface="DM Sans" pitchFamily="34" charset="0"/>
                <a:ea typeface="DM Sans" pitchFamily="34" charset="-122"/>
                <a:cs typeface="DM Sans" pitchFamily="34" charset="-120"/>
              </a:rPr>
              <a:t>Student worksheets and templates</a:t>
            </a:r>
            <a:endParaRPr lang="en-US" sz="1500" dirty="0"/>
          </a:p>
        </p:txBody>
      </p:sp>
      <p:sp>
        <p:nvSpPr>
          <p:cNvPr id="15" name="Shape 13"/>
          <p:cNvSpPr/>
          <p:nvPr/>
        </p:nvSpPr>
        <p:spPr>
          <a:xfrm>
            <a:off x="658368" y="3090672"/>
            <a:ext cx="146304" cy="146304"/>
          </a:xfrm>
          <a:prstGeom prst="rect">
            <a:avLst/>
          </a:prstGeom>
          <a:solidFill>
            <a:srgbClr val="6AB86E"/>
          </a:solidFill>
          <a:ln/>
        </p:spPr>
      </p:sp>
      <p:sp>
        <p:nvSpPr>
          <p:cNvPr id="16" name="Text 14"/>
          <p:cNvSpPr/>
          <p:nvPr/>
        </p:nvSpPr>
        <p:spPr>
          <a:xfrm>
            <a:off x="969264" y="2962656"/>
            <a:ext cx="5002481" cy="457200"/>
          </a:xfrm>
          <a:prstGeom prst="rect">
            <a:avLst/>
          </a:prstGeom>
          <a:noFill/>
          <a:ln/>
        </p:spPr>
        <p:txBody>
          <a:bodyPr wrap="square" lIns="0" tIns="0" rIns="0" bIns="0" rtlCol="0" anchor="ctr"/>
          <a:lstStyle/>
          <a:p>
            <a:pPr indent="0" marL="0">
              <a:buNone/>
            </a:pPr>
            <a:r>
              <a:rPr lang="en-US" sz="1500" dirty="0">
                <a:solidFill>
                  <a:srgbClr val="1A1E1A"/>
                </a:solidFill>
                <a:latin typeface="DM Sans" pitchFamily="34" charset="0"/>
                <a:ea typeface="DM Sans" pitchFamily="34" charset="-122"/>
                <a:cs typeface="DM Sans" pitchFamily="34" charset="-120"/>
              </a:rPr>
              <a:t>Display board and research guides</a:t>
            </a:r>
            <a:endParaRPr lang="en-US" sz="1500" dirty="0"/>
          </a:p>
        </p:txBody>
      </p:sp>
      <p:sp>
        <p:nvSpPr>
          <p:cNvPr id="17" name="Shape 15"/>
          <p:cNvSpPr/>
          <p:nvPr/>
        </p:nvSpPr>
        <p:spPr>
          <a:xfrm>
            <a:off x="6095848" y="3090672"/>
            <a:ext cx="146304" cy="146304"/>
          </a:xfrm>
          <a:prstGeom prst="rect">
            <a:avLst/>
          </a:prstGeom>
          <a:solidFill>
            <a:srgbClr val="6AB86E"/>
          </a:solidFill>
          <a:ln/>
        </p:spPr>
      </p:sp>
      <p:sp>
        <p:nvSpPr>
          <p:cNvPr id="18" name="Text 16"/>
          <p:cNvSpPr/>
          <p:nvPr/>
        </p:nvSpPr>
        <p:spPr>
          <a:xfrm>
            <a:off x="6406744" y="2962656"/>
            <a:ext cx="5002481" cy="457200"/>
          </a:xfrm>
          <a:prstGeom prst="rect">
            <a:avLst/>
          </a:prstGeom>
          <a:noFill/>
          <a:ln/>
        </p:spPr>
        <p:txBody>
          <a:bodyPr wrap="square" lIns="0" tIns="0" rIns="0" bIns="0" rtlCol="0" anchor="ctr"/>
          <a:lstStyle/>
          <a:p>
            <a:pPr indent="0" marL="0">
              <a:buNone/>
            </a:pPr>
            <a:r>
              <a:rPr lang="en-US" sz="1500" dirty="0">
                <a:solidFill>
                  <a:srgbClr val="1A1E1A"/>
                </a:solidFill>
                <a:latin typeface="DM Sans" pitchFamily="34" charset="0"/>
                <a:ea typeface="DM Sans" pitchFamily="34" charset="-122"/>
                <a:cs typeface="DM Sans" pitchFamily="34" charset="-120"/>
              </a:rPr>
              <a:t>OAS registration support</a:t>
            </a:r>
            <a:endParaRPr lang="en-US" sz="1500" dirty="0"/>
          </a:p>
        </p:txBody>
      </p:sp>
      <p:sp>
        <p:nvSpPr>
          <p:cNvPr id="19" name="Shape 17"/>
          <p:cNvSpPr/>
          <p:nvPr/>
        </p:nvSpPr>
        <p:spPr>
          <a:xfrm>
            <a:off x="658368" y="3657600"/>
            <a:ext cx="146304" cy="146304"/>
          </a:xfrm>
          <a:prstGeom prst="rect">
            <a:avLst/>
          </a:prstGeom>
          <a:solidFill>
            <a:srgbClr val="6AB86E"/>
          </a:solidFill>
          <a:ln/>
        </p:spPr>
      </p:sp>
      <p:sp>
        <p:nvSpPr>
          <p:cNvPr id="20" name="Text 18"/>
          <p:cNvSpPr/>
          <p:nvPr/>
        </p:nvSpPr>
        <p:spPr>
          <a:xfrm>
            <a:off x="969264" y="3529584"/>
            <a:ext cx="5002481" cy="457200"/>
          </a:xfrm>
          <a:prstGeom prst="rect">
            <a:avLst/>
          </a:prstGeom>
          <a:noFill/>
          <a:ln/>
        </p:spPr>
        <p:txBody>
          <a:bodyPr wrap="square" lIns="0" tIns="0" rIns="0" bIns="0" rtlCol="0" anchor="ctr"/>
          <a:lstStyle/>
          <a:p>
            <a:pPr indent="0" marL="0">
              <a:buNone/>
            </a:pPr>
            <a:r>
              <a:rPr lang="en-US" sz="1500" dirty="0">
                <a:solidFill>
                  <a:srgbClr val="1A1E1A"/>
                </a:solidFill>
                <a:latin typeface="DM Sans" pitchFamily="34" charset="0"/>
                <a:ea typeface="DM Sans" pitchFamily="34" charset="-122"/>
                <a:cs typeface="DM Sans" pitchFamily="34" charset="-120"/>
              </a:rPr>
              <a:t>Teacher handbook and grading rubrics</a:t>
            </a:r>
            <a:endParaRPr lang="en-US" sz="1500" dirty="0"/>
          </a:p>
        </p:txBody>
      </p:sp>
      <p:sp>
        <p:nvSpPr>
          <p:cNvPr id="21" name="Shape 19"/>
          <p:cNvSpPr/>
          <p:nvPr/>
        </p:nvSpPr>
        <p:spPr>
          <a:xfrm>
            <a:off x="6095848" y="3657600"/>
            <a:ext cx="146304" cy="146304"/>
          </a:xfrm>
          <a:prstGeom prst="rect">
            <a:avLst/>
          </a:prstGeom>
          <a:solidFill>
            <a:srgbClr val="6AB86E"/>
          </a:solidFill>
          <a:ln/>
        </p:spPr>
      </p:sp>
      <p:sp>
        <p:nvSpPr>
          <p:cNvPr id="22" name="Text 20"/>
          <p:cNvSpPr/>
          <p:nvPr/>
        </p:nvSpPr>
        <p:spPr>
          <a:xfrm>
            <a:off x="6406744" y="3529584"/>
            <a:ext cx="5002481" cy="457200"/>
          </a:xfrm>
          <a:prstGeom prst="rect">
            <a:avLst/>
          </a:prstGeom>
          <a:noFill/>
          <a:ln/>
        </p:spPr>
        <p:txBody>
          <a:bodyPr wrap="square" lIns="0" tIns="0" rIns="0" bIns="0" rtlCol="0" anchor="ctr"/>
          <a:lstStyle/>
          <a:p>
            <a:pPr indent="0" marL="0">
              <a:buNone/>
            </a:pPr>
            <a:r>
              <a:rPr lang="en-US" sz="1500" dirty="0">
                <a:solidFill>
                  <a:srgbClr val="1A1E1A"/>
                </a:solidFill>
                <a:latin typeface="DM Sans" pitchFamily="34" charset="0"/>
                <a:ea typeface="DM Sans" pitchFamily="34" charset="-122"/>
                <a:cs typeface="DM Sans" pitchFamily="34" charset="-120"/>
              </a:rPr>
              <a:t>Mentor matching with STEM professionals</a:t>
            </a:r>
            <a:endParaRPr lang="en-US" sz="1500" dirty="0"/>
          </a:p>
        </p:txBody>
      </p:sp>
      <p:sp>
        <p:nvSpPr>
          <p:cNvPr id="23" name="Shape 21"/>
          <p:cNvSpPr/>
          <p:nvPr/>
        </p:nvSpPr>
        <p:spPr>
          <a:xfrm>
            <a:off x="658368" y="4343400"/>
            <a:ext cx="10874959" cy="1051560"/>
          </a:xfrm>
          <a:prstGeom prst="rect">
            <a:avLst/>
          </a:prstGeom>
          <a:solidFill>
            <a:srgbClr val="E8F5E9"/>
          </a:solidFill>
          <a:ln/>
        </p:spPr>
      </p:sp>
      <p:sp>
        <p:nvSpPr>
          <p:cNvPr id="24" name="Text 22"/>
          <p:cNvSpPr/>
          <p:nvPr/>
        </p:nvSpPr>
        <p:spPr>
          <a:xfrm>
            <a:off x="978408" y="4526280"/>
            <a:ext cx="10234879" cy="731520"/>
          </a:xfrm>
          <a:prstGeom prst="rect">
            <a:avLst/>
          </a:prstGeom>
          <a:noFill/>
          <a:ln/>
        </p:spPr>
        <p:txBody>
          <a:bodyPr wrap="square" lIns="0" tIns="0" rIns="0" bIns="0" rtlCol="0" anchor="t"/>
          <a:lstStyle/>
          <a:p>
            <a:pPr indent="0" marL="0">
              <a:buNone/>
            </a:pPr>
            <a:r>
              <a:rPr lang="en-US" sz="1500" dirty="0">
                <a:solidFill>
                  <a:srgbClr val="254F25"/>
                </a:solidFill>
                <a:latin typeface="DM Sans" pitchFamily="34" charset="0"/>
                <a:ea typeface="DM Sans" pitchFamily="34" charset="-122"/>
                <a:cs typeface="DM Sans" pitchFamily="34" charset="-120"/>
              </a:rPr>
              <a:t>Every item above is already written and already free. The only thing missing is a school that says yes.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C3A1C"/>
          </a:solidFill>
          <a:ln/>
        </p:spPr>
      </p:sp>
      <p:sp>
        <p:nvSpPr>
          <p:cNvPr id="3" name="Text 1"/>
          <p:cNvSpPr/>
          <p:nvPr/>
        </p:nvSpPr>
        <p:spPr>
          <a:xfrm>
            <a:off x="658368" y="384048"/>
            <a:ext cx="10874959" cy="274320"/>
          </a:xfrm>
          <a:prstGeom prst="rect">
            <a:avLst/>
          </a:prstGeom>
          <a:noFill/>
          <a:ln/>
        </p:spPr>
        <p:txBody>
          <a:bodyPr wrap="square" lIns="0" tIns="0" rIns="0" bIns="0" rtlCol="0" anchor="ctr"/>
          <a:lstStyle/>
          <a:p>
            <a:pPr indent="0" marL="0">
              <a:buNone/>
            </a:pPr>
            <a:r>
              <a:rPr lang="en-US" sz="1100" b="1" spc="300" kern="0" dirty="0">
                <a:solidFill>
                  <a:srgbClr val="E0615A"/>
                </a:solidFill>
                <a:latin typeface="DM Sans" pitchFamily="34" charset="0"/>
                <a:ea typeface="DM Sans" pitchFamily="34" charset="-122"/>
                <a:cs typeface="DM Sans" pitchFamily="34" charset="-120"/>
              </a:rPr>
              <a:t>MONEY</a:t>
            </a:r>
            <a:endParaRPr lang="en-US" sz="1100" dirty="0"/>
          </a:p>
        </p:txBody>
      </p:sp>
      <p:sp>
        <p:nvSpPr>
          <p:cNvPr id="4" name="Text 2"/>
          <p:cNvSpPr/>
          <p:nvPr/>
        </p:nvSpPr>
        <p:spPr>
          <a:xfrm>
            <a:off x="612648" y="658368"/>
            <a:ext cx="10874959" cy="685800"/>
          </a:xfrm>
          <a:prstGeom prst="rect">
            <a:avLst/>
          </a:prstGeom>
          <a:noFill/>
          <a:ln/>
        </p:spPr>
        <p:txBody>
          <a:bodyPr wrap="square" lIns="0" tIns="0" rIns="0" bIns="0" rtlCol="0" anchor="ctr"/>
          <a:lstStyle/>
          <a:p>
            <a:pPr indent="0" marL="0">
              <a:buNone/>
            </a:pPr>
            <a:r>
              <a:rPr lang="en-US" sz="3300" dirty="0">
                <a:solidFill>
                  <a:srgbClr val="1C3A1C"/>
                </a:solidFill>
                <a:latin typeface="Anton" pitchFamily="34" charset="0"/>
                <a:ea typeface="Anton" pitchFamily="34" charset="-122"/>
                <a:cs typeface="Anton" pitchFamily="34" charset="-120"/>
              </a:rPr>
              <a:t>WHAT IT COSTS</a:t>
            </a:r>
            <a:endParaRPr lang="en-US" sz="3300" dirty="0"/>
          </a:p>
        </p:txBody>
      </p:sp>
      <p:sp>
        <p:nvSpPr>
          <p:cNvPr id="5" name="Shape 3"/>
          <p:cNvSpPr/>
          <p:nvPr/>
        </p:nvSpPr>
        <p:spPr>
          <a:xfrm>
            <a:off x="658368" y="1389888"/>
            <a:ext cx="10874959" cy="0"/>
          </a:xfrm>
          <a:prstGeom prst="line">
            <a:avLst/>
          </a:prstGeom>
          <a:noFill/>
          <a:ln w="17780">
            <a:solidFill>
              <a:srgbClr val="6AB86E"/>
            </a:solidFill>
            <a:prstDash val="solid"/>
          </a:ln>
        </p:spPr>
      </p:sp>
      <p:sp>
        <p:nvSpPr>
          <p:cNvPr id="6" name="Text 4"/>
          <p:cNvSpPr/>
          <p:nvPr/>
        </p:nvSpPr>
        <p:spPr>
          <a:xfrm>
            <a:off x="7875727" y="6355080"/>
            <a:ext cx="3657600" cy="274320"/>
          </a:xfrm>
          <a:prstGeom prst="rect">
            <a:avLst/>
          </a:prstGeom>
          <a:noFill/>
          <a:ln/>
        </p:spPr>
        <p:txBody>
          <a:bodyPr wrap="square" lIns="0" tIns="0" rIns="0" bIns="0" rtlCol="0" anchor="ctr"/>
          <a:lstStyle/>
          <a:p>
            <a:pPr algn="r" indent="0" marL="0">
              <a:buNone/>
            </a:pPr>
            <a:r>
              <a:rPr lang="en-US" sz="900" dirty="0">
                <a:solidFill>
                  <a:srgbClr val="6B756B"/>
                </a:solidFill>
                <a:latin typeface="DM Sans" pitchFamily="34" charset="0"/>
                <a:ea typeface="DM Sans" pitchFamily="34" charset="-122"/>
                <a:cs typeface="DM Sans" pitchFamily="34" charset="-120"/>
              </a:rPr>
              <a:t>fairgameinitiative.org</a:t>
            </a:r>
            <a:endParaRPr lang="en-US" sz="900" dirty="0"/>
          </a:p>
        </p:txBody>
      </p:sp>
      <p:sp>
        <p:nvSpPr>
          <p:cNvPr id="7" name="Text 5"/>
          <p:cNvSpPr/>
          <p:nvPr/>
        </p:nvSpPr>
        <p:spPr>
          <a:xfrm>
            <a:off x="658368" y="1828800"/>
            <a:ext cx="3262488" cy="1005840"/>
          </a:xfrm>
          <a:prstGeom prst="rect">
            <a:avLst/>
          </a:prstGeom>
          <a:noFill/>
          <a:ln/>
        </p:spPr>
        <p:txBody>
          <a:bodyPr wrap="square" lIns="0" tIns="0" rIns="0" bIns="0" rtlCol="0" anchor="ctr"/>
          <a:lstStyle/>
          <a:p>
            <a:pPr indent="0" marL="0">
              <a:buNone/>
            </a:pPr>
            <a:r>
              <a:rPr lang="en-US" sz="4400" b="1" dirty="0">
                <a:solidFill>
                  <a:srgbClr val="357A38"/>
                </a:solidFill>
                <a:latin typeface="Playfair Display" pitchFamily="34" charset="0"/>
                <a:ea typeface="Playfair Display" pitchFamily="34" charset="-122"/>
                <a:cs typeface="Playfair Display" pitchFamily="34" charset="-120"/>
              </a:rPr>
              <a:t>$300</a:t>
            </a:r>
            <a:endParaRPr lang="en-US" sz="4400" dirty="0"/>
          </a:p>
        </p:txBody>
      </p:sp>
      <p:sp>
        <p:nvSpPr>
          <p:cNvPr id="8" name="Text 6"/>
          <p:cNvSpPr/>
          <p:nvPr/>
        </p:nvSpPr>
        <p:spPr>
          <a:xfrm>
            <a:off x="658368" y="2743200"/>
            <a:ext cx="3262488"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typical first-year cost, low end</a:t>
            </a:r>
            <a:endParaRPr lang="en-US" sz="1300" dirty="0"/>
          </a:p>
        </p:txBody>
      </p:sp>
      <p:sp>
        <p:nvSpPr>
          <p:cNvPr id="9" name="Text 7"/>
          <p:cNvSpPr/>
          <p:nvPr/>
        </p:nvSpPr>
        <p:spPr>
          <a:xfrm>
            <a:off x="4283354" y="1828800"/>
            <a:ext cx="3262488" cy="1005840"/>
          </a:xfrm>
          <a:prstGeom prst="rect">
            <a:avLst/>
          </a:prstGeom>
          <a:noFill/>
          <a:ln/>
        </p:spPr>
        <p:txBody>
          <a:bodyPr wrap="square" lIns="0" tIns="0" rIns="0" bIns="0" rtlCol="0" anchor="ctr"/>
          <a:lstStyle/>
          <a:p>
            <a:pPr indent="0" marL="0">
              <a:buNone/>
            </a:pPr>
            <a:r>
              <a:rPr lang="en-US" sz="4400" b="1" dirty="0">
                <a:solidFill>
                  <a:srgbClr val="357A38"/>
                </a:solidFill>
                <a:latin typeface="Playfair Display" pitchFamily="34" charset="0"/>
                <a:ea typeface="Playfair Display" pitchFamily="34" charset="-122"/>
                <a:cs typeface="Playfair Display" pitchFamily="34" charset="-120"/>
              </a:rPr>
              <a:t>$1,500</a:t>
            </a:r>
            <a:endParaRPr lang="en-US" sz="4400" dirty="0"/>
          </a:p>
        </p:txBody>
      </p:sp>
      <p:sp>
        <p:nvSpPr>
          <p:cNvPr id="10" name="Text 8"/>
          <p:cNvSpPr/>
          <p:nvPr/>
        </p:nvSpPr>
        <p:spPr>
          <a:xfrm>
            <a:off x="4283354" y="2743200"/>
            <a:ext cx="3262488"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typical first-year cost, high end</a:t>
            </a:r>
            <a:endParaRPr lang="en-US" sz="1300" dirty="0"/>
          </a:p>
        </p:txBody>
      </p:sp>
      <p:sp>
        <p:nvSpPr>
          <p:cNvPr id="11" name="Text 9"/>
          <p:cNvSpPr/>
          <p:nvPr/>
        </p:nvSpPr>
        <p:spPr>
          <a:xfrm>
            <a:off x="7908341" y="1828800"/>
            <a:ext cx="3262488" cy="1005840"/>
          </a:xfrm>
          <a:prstGeom prst="rect">
            <a:avLst/>
          </a:prstGeom>
          <a:noFill/>
          <a:ln/>
        </p:spPr>
        <p:txBody>
          <a:bodyPr wrap="square" lIns="0" tIns="0" rIns="0" bIns="0" rtlCol="0" anchor="ctr"/>
          <a:lstStyle/>
          <a:p>
            <a:pPr indent="0" marL="0">
              <a:buNone/>
            </a:pPr>
            <a:r>
              <a:rPr lang="en-US" sz="4400" b="1" dirty="0">
                <a:solidFill>
                  <a:srgbClr val="357A38"/>
                </a:solidFill>
                <a:latin typeface="Playfair Display" pitchFamily="34" charset="0"/>
                <a:ea typeface="Playfair Display" pitchFamily="34" charset="-122"/>
                <a:cs typeface="Playfair Display" pitchFamily="34" charset="-120"/>
              </a:rPr>
              <a:t>$0</a:t>
            </a:r>
            <a:endParaRPr lang="en-US" sz="4400" dirty="0"/>
          </a:p>
        </p:txBody>
      </p:sp>
      <p:sp>
        <p:nvSpPr>
          <p:cNvPr id="12" name="Text 10"/>
          <p:cNvSpPr/>
          <p:nvPr/>
        </p:nvSpPr>
        <p:spPr>
          <a:xfrm>
            <a:off x="7908341" y="2743200"/>
            <a:ext cx="3262488" cy="64008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cost of every FairGame resource</a:t>
            </a:r>
            <a:endParaRPr lang="en-US" sz="1300" dirty="0"/>
          </a:p>
        </p:txBody>
      </p:sp>
      <p:sp>
        <p:nvSpPr>
          <p:cNvPr id="13" name="Text 11"/>
          <p:cNvSpPr/>
          <p:nvPr/>
        </p:nvSpPr>
        <p:spPr>
          <a:xfrm>
            <a:off x="658368" y="3520440"/>
            <a:ext cx="10874959" cy="914400"/>
          </a:xfrm>
          <a:prstGeom prst="rect">
            <a:avLst/>
          </a:prstGeom>
          <a:noFill/>
          <a:ln/>
        </p:spPr>
        <p:txBody>
          <a:bodyPr wrap="square" lIns="0" tIns="0" rIns="0" bIns="0" rtlCol="0" anchor="t"/>
          <a:lstStyle/>
          <a:p>
            <a:pPr indent="0" marL="0">
              <a:buNone/>
            </a:pPr>
            <a:r>
              <a:rPr lang="en-US" sz="1400" dirty="0">
                <a:solidFill>
                  <a:srgbClr val="1A1E1A"/>
                </a:solidFill>
                <a:latin typeface="DM Sans" pitchFamily="34" charset="0"/>
                <a:ea typeface="DM Sans" pitchFamily="34" charset="-122"/>
                <a:cs typeface="DM Sans" pitchFamily="34" charset="-120"/>
              </a:rPr>
              <a:t>Trophies, signage, and printed materials are the main costs. Refreshments are often donated by the PTO or a local business. FairGame connects schools with local sponsors to cover what remains, and there is a sponsorship request letter already written for that purpose.</a:t>
            </a:r>
            <a:endParaRPr lang="en-US" sz="1400" dirty="0"/>
          </a:p>
        </p:txBody>
      </p:sp>
      <p:sp>
        <p:nvSpPr>
          <p:cNvPr id="14" name="Shape 12"/>
          <p:cNvSpPr/>
          <p:nvPr/>
        </p:nvSpPr>
        <p:spPr>
          <a:xfrm>
            <a:off x="658368" y="4572000"/>
            <a:ext cx="10874959" cy="868680"/>
          </a:xfrm>
          <a:prstGeom prst="rect">
            <a:avLst/>
          </a:prstGeom>
          <a:solidFill>
            <a:srgbClr val="E8F5E9"/>
          </a:solidFill>
          <a:ln/>
        </p:spPr>
      </p:sp>
      <p:sp>
        <p:nvSpPr>
          <p:cNvPr id="15" name="Text 13"/>
          <p:cNvSpPr/>
          <p:nvPr/>
        </p:nvSpPr>
        <p:spPr>
          <a:xfrm>
            <a:off x="978408" y="4709160"/>
            <a:ext cx="10234879" cy="640080"/>
          </a:xfrm>
          <a:prstGeom prst="rect">
            <a:avLst/>
          </a:prstGeom>
          <a:noFill/>
          <a:ln/>
        </p:spPr>
        <p:txBody>
          <a:bodyPr wrap="square" lIns="0" tIns="0" rIns="0" bIns="0" rtlCol="0" anchor="ctr"/>
          <a:lstStyle/>
          <a:p>
            <a:pPr indent="0" marL="0">
              <a:buNone/>
            </a:pPr>
            <a:r>
              <a:rPr lang="en-US" sz="1500" dirty="0">
                <a:solidFill>
                  <a:srgbClr val="254F25"/>
                </a:solidFill>
                <a:latin typeface="DM Sans" pitchFamily="34" charset="0"/>
                <a:ea typeface="DM Sans" pitchFamily="34" charset="-122"/>
                <a:cs typeface="DM Sans" pitchFamily="34" charset="-120"/>
              </a:rPr>
              <a:t>A school-only fair with no trophies and printed signs costs almost nothing. Cost is a choice about scale, not a barrier to starting.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C3A1C"/>
          </a:solidFill>
          <a:ln/>
        </p:spPr>
      </p:sp>
      <p:sp>
        <p:nvSpPr>
          <p:cNvPr id="3" name="Text 1"/>
          <p:cNvSpPr/>
          <p:nvPr/>
        </p:nvSpPr>
        <p:spPr>
          <a:xfrm>
            <a:off x="658368" y="384048"/>
            <a:ext cx="10874959" cy="274320"/>
          </a:xfrm>
          <a:prstGeom prst="rect">
            <a:avLst/>
          </a:prstGeom>
          <a:noFill/>
          <a:ln/>
        </p:spPr>
        <p:txBody>
          <a:bodyPr wrap="square" lIns="0" tIns="0" rIns="0" bIns="0" rtlCol="0" anchor="ctr"/>
          <a:lstStyle/>
          <a:p>
            <a:pPr indent="0" marL="0">
              <a:buNone/>
            </a:pPr>
            <a:r>
              <a:rPr lang="en-US" sz="1100" b="1" spc="300" kern="0" dirty="0">
                <a:solidFill>
                  <a:srgbClr val="E0615A"/>
                </a:solidFill>
                <a:latin typeface="DM Sans" pitchFamily="34" charset="0"/>
                <a:ea typeface="DM Sans" pitchFamily="34" charset="-122"/>
                <a:cs typeface="DM Sans" pitchFamily="34" charset="-120"/>
              </a:rPr>
              <a:t>TIME</a:t>
            </a:r>
            <a:endParaRPr lang="en-US" sz="1100" dirty="0"/>
          </a:p>
        </p:txBody>
      </p:sp>
      <p:sp>
        <p:nvSpPr>
          <p:cNvPr id="4" name="Text 2"/>
          <p:cNvSpPr/>
          <p:nvPr/>
        </p:nvSpPr>
        <p:spPr>
          <a:xfrm>
            <a:off x="612648" y="658368"/>
            <a:ext cx="10874959" cy="685800"/>
          </a:xfrm>
          <a:prstGeom prst="rect">
            <a:avLst/>
          </a:prstGeom>
          <a:noFill/>
          <a:ln/>
        </p:spPr>
        <p:txBody>
          <a:bodyPr wrap="square" lIns="0" tIns="0" rIns="0" bIns="0" rtlCol="0" anchor="ctr"/>
          <a:lstStyle/>
          <a:p>
            <a:pPr indent="0" marL="0">
              <a:buNone/>
            </a:pPr>
            <a:r>
              <a:rPr lang="en-US" sz="3300" dirty="0">
                <a:solidFill>
                  <a:srgbClr val="1C3A1C"/>
                </a:solidFill>
                <a:latin typeface="Anton" pitchFamily="34" charset="0"/>
                <a:ea typeface="Anton" pitchFamily="34" charset="-122"/>
                <a:cs typeface="Anton" pitchFamily="34" charset="-120"/>
              </a:rPr>
              <a:t>WHAT WE WOULD ASK OF A TEACHER</a:t>
            </a:r>
            <a:endParaRPr lang="en-US" sz="3300" dirty="0"/>
          </a:p>
        </p:txBody>
      </p:sp>
      <p:sp>
        <p:nvSpPr>
          <p:cNvPr id="5" name="Shape 3"/>
          <p:cNvSpPr/>
          <p:nvPr/>
        </p:nvSpPr>
        <p:spPr>
          <a:xfrm>
            <a:off x="658368" y="1389888"/>
            <a:ext cx="10874959" cy="0"/>
          </a:xfrm>
          <a:prstGeom prst="line">
            <a:avLst/>
          </a:prstGeom>
          <a:noFill/>
          <a:ln w="17780">
            <a:solidFill>
              <a:srgbClr val="6AB86E"/>
            </a:solidFill>
            <a:prstDash val="solid"/>
          </a:ln>
        </p:spPr>
      </p:sp>
      <p:sp>
        <p:nvSpPr>
          <p:cNvPr id="6" name="Text 4"/>
          <p:cNvSpPr/>
          <p:nvPr/>
        </p:nvSpPr>
        <p:spPr>
          <a:xfrm>
            <a:off x="7875727" y="6355080"/>
            <a:ext cx="3657600" cy="274320"/>
          </a:xfrm>
          <a:prstGeom prst="rect">
            <a:avLst/>
          </a:prstGeom>
          <a:noFill/>
          <a:ln/>
        </p:spPr>
        <p:txBody>
          <a:bodyPr wrap="square" lIns="0" tIns="0" rIns="0" bIns="0" rtlCol="0" anchor="ctr"/>
          <a:lstStyle/>
          <a:p>
            <a:pPr algn="r" indent="0" marL="0">
              <a:buNone/>
            </a:pPr>
            <a:r>
              <a:rPr lang="en-US" sz="900" dirty="0">
                <a:solidFill>
                  <a:srgbClr val="6B756B"/>
                </a:solidFill>
                <a:latin typeface="DM Sans" pitchFamily="34" charset="0"/>
                <a:ea typeface="DM Sans" pitchFamily="34" charset="-122"/>
                <a:cs typeface="DM Sans" pitchFamily="34" charset="-120"/>
              </a:rPr>
              <a:t>fairgameinitiative.org</a:t>
            </a:r>
            <a:endParaRPr lang="en-US" sz="900" dirty="0"/>
          </a:p>
        </p:txBody>
      </p:sp>
      <p:sp>
        <p:nvSpPr>
          <p:cNvPr id="7" name="Text 5"/>
          <p:cNvSpPr/>
          <p:nvPr/>
        </p:nvSpPr>
        <p:spPr>
          <a:xfrm>
            <a:off x="658368" y="1828800"/>
            <a:ext cx="3262488" cy="914400"/>
          </a:xfrm>
          <a:prstGeom prst="rect">
            <a:avLst/>
          </a:prstGeom>
          <a:noFill/>
          <a:ln/>
        </p:spPr>
        <p:txBody>
          <a:bodyPr wrap="square" lIns="0" tIns="0" rIns="0" bIns="0" rtlCol="0" anchor="ctr"/>
          <a:lstStyle/>
          <a:p>
            <a:pPr indent="0" marL="0">
              <a:buNone/>
            </a:pPr>
            <a:r>
              <a:rPr lang="en-US" sz="4000" b="1" dirty="0">
                <a:solidFill>
                  <a:srgbClr val="357A38"/>
                </a:solidFill>
                <a:latin typeface="Playfair Display" pitchFamily="34" charset="0"/>
                <a:ea typeface="Playfair Display" pitchFamily="34" charset="-122"/>
                <a:cs typeface="Playfair Display" pitchFamily="34" charset="-120"/>
              </a:rPr>
              <a:t>5 to 8</a:t>
            </a:r>
            <a:endParaRPr lang="en-US" sz="4000" dirty="0"/>
          </a:p>
        </p:txBody>
      </p:sp>
      <p:sp>
        <p:nvSpPr>
          <p:cNvPr id="8" name="Text 6"/>
          <p:cNvSpPr/>
          <p:nvPr/>
        </p:nvSpPr>
        <p:spPr>
          <a:xfrm>
            <a:off x="658368" y="2697480"/>
            <a:ext cx="3262488" cy="73152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hours per month for the coordinator</a:t>
            </a:r>
            <a:endParaRPr lang="en-US" sz="1300" dirty="0"/>
          </a:p>
        </p:txBody>
      </p:sp>
      <p:sp>
        <p:nvSpPr>
          <p:cNvPr id="9" name="Text 7"/>
          <p:cNvSpPr/>
          <p:nvPr/>
        </p:nvSpPr>
        <p:spPr>
          <a:xfrm>
            <a:off x="4283354" y="1828800"/>
            <a:ext cx="3262488" cy="914400"/>
          </a:xfrm>
          <a:prstGeom prst="rect">
            <a:avLst/>
          </a:prstGeom>
          <a:noFill/>
          <a:ln/>
        </p:spPr>
        <p:txBody>
          <a:bodyPr wrap="square" lIns="0" tIns="0" rIns="0" bIns="0" rtlCol="0" anchor="ctr"/>
          <a:lstStyle/>
          <a:p>
            <a:pPr indent="0" marL="0">
              <a:buNone/>
            </a:pPr>
            <a:r>
              <a:rPr lang="en-US" sz="4000" b="1" dirty="0">
                <a:solidFill>
                  <a:srgbClr val="357A38"/>
                </a:solidFill>
                <a:latin typeface="Playfair Display" pitchFamily="34" charset="0"/>
                <a:ea typeface="Playfair Display" pitchFamily="34" charset="-122"/>
                <a:cs typeface="Playfair Display" pitchFamily="34" charset="-120"/>
              </a:rPr>
              <a:t>15 to 20</a:t>
            </a:r>
            <a:endParaRPr lang="en-US" sz="4000" dirty="0"/>
          </a:p>
        </p:txBody>
      </p:sp>
      <p:sp>
        <p:nvSpPr>
          <p:cNvPr id="10" name="Text 8"/>
          <p:cNvSpPr/>
          <p:nvPr/>
        </p:nvSpPr>
        <p:spPr>
          <a:xfrm>
            <a:off x="4283354" y="2697480"/>
            <a:ext cx="3262488" cy="73152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hours in the month of the event</a:t>
            </a:r>
            <a:endParaRPr lang="en-US" sz="1300" dirty="0"/>
          </a:p>
        </p:txBody>
      </p:sp>
      <p:sp>
        <p:nvSpPr>
          <p:cNvPr id="11" name="Text 9"/>
          <p:cNvSpPr/>
          <p:nvPr/>
        </p:nvSpPr>
        <p:spPr>
          <a:xfrm>
            <a:off x="7908341" y="1828800"/>
            <a:ext cx="3262488" cy="914400"/>
          </a:xfrm>
          <a:prstGeom prst="rect">
            <a:avLst/>
          </a:prstGeom>
          <a:noFill/>
          <a:ln/>
        </p:spPr>
        <p:txBody>
          <a:bodyPr wrap="square" lIns="0" tIns="0" rIns="0" bIns="0" rtlCol="0" anchor="ctr"/>
          <a:lstStyle/>
          <a:p>
            <a:pPr indent="0" marL="0">
              <a:buNone/>
            </a:pPr>
            <a:r>
              <a:rPr lang="en-US" sz="4000" b="1" dirty="0">
                <a:solidFill>
                  <a:srgbClr val="357A38"/>
                </a:solidFill>
                <a:latin typeface="Playfair Display" pitchFamily="34" charset="0"/>
                <a:ea typeface="Playfair Display" pitchFamily="34" charset="-122"/>
                <a:cs typeface="Playfair Display" pitchFamily="34" charset="-120"/>
              </a:rPr>
              <a:t>3 to 5</a:t>
            </a:r>
            <a:endParaRPr lang="en-US" sz="4000" dirty="0"/>
          </a:p>
        </p:txBody>
      </p:sp>
      <p:sp>
        <p:nvSpPr>
          <p:cNvPr id="12" name="Text 10"/>
          <p:cNvSpPr/>
          <p:nvPr/>
        </p:nvSpPr>
        <p:spPr>
          <a:xfrm>
            <a:off x="7908341" y="2697480"/>
            <a:ext cx="3262488" cy="731520"/>
          </a:xfrm>
          <a:prstGeom prst="rect">
            <a:avLst/>
          </a:prstGeom>
          <a:noFill/>
          <a:ln/>
        </p:spPr>
        <p:txBody>
          <a:bodyPr wrap="square" lIns="0" tIns="0" rIns="0" bIns="0" rtlCol="0" anchor="t"/>
          <a:lstStyle/>
          <a:p>
            <a:pPr indent="0" marL="0">
              <a:buNone/>
            </a:pPr>
            <a:r>
              <a:rPr lang="en-US" sz="1300" dirty="0">
                <a:solidFill>
                  <a:srgbClr val="6B756B"/>
                </a:solidFill>
                <a:latin typeface="DM Sans" pitchFamily="34" charset="0"/>
                <a:ea typeface="DM Sans" pitchFamily="34" charset="-122"/>
                <a:cs typeface="DM Sans" pitchFamily="34" charset="-120"/>
              </a:rPr>
              <a:t>staff on a committee, sharing the load</a:t>
            </a:r>
            <a:endParaRPr lang="en-US" sz="1300" dirty="0"/>
          </a:p>
        </p:txBody>
      </p:sp>
      <p:sp>
        <p:nvSpPr>
          <p:cNvPr id="13" name="Text 11"/>
          <p:cNvSpPr/>
          <p:nvPr/>
        </p:nvSpPr>
        <p:spPr>
          <a:xfrm>
            <a:off x="658368" y="3566160"/>
            <a:ext cx="10874959" cy="914400"/>
          </a:xfrm>
          <a:prstGeom prst="rect">
            <a:avLst/>
          </a:prstGeom>
          <a:noFill/>
          <a:ln/>
        </p:spPr>
        <p:txBody>
          <a:bodyPr wrap="square" lIns="0" tIns="0" rIns="0" bIns="0" rtlCol="0" anchor="t"/>
          <a:lstStyle/>
          <a:p>
            <a:pPr indent="0" marL="0">
              <a:buNone/>
            </a:pPr>
            <a:r>
              <a:rPr lang="en-US" sz="1400" dirty="0">
                <a:solidFill>
                  <a:srgbClr val="1A1E1A"/>
                </a:solidFill>
                <a:latin typeface="DM Sans" pitchFamily="34" charset="0"/>
                <a:ea typeface="DM Sans" pitchFamily="34" charset="-122"/>
                <a:cs typeface="DM Sans" pitchFamily="34" charset="-120"/>
              </a:rPr>
              <a:t>FairGame handles judge recruitment, fair registration, and student support, which removes most of the load. A sponsoring teacher does not need a science background. Many successful fairs are coordinated by teachers outside the sciences.</a:t>
            </a:r>
            <a:endParaRPr lang="en-US" sz="1400" dirty="0"/>
          </a:p>
        </p:txBody>
      </p:sp>
      <p:sp>
        <p:nvSpPr>
          <p:cNvPr id="14" name="Shape 12"/>
          <p:cNvSpPr/>
          <p:nvPr/>
        </p:nvSpPr>
        <p:spPr>
          <a:xfrm>
            <a:off x="658368" y="4617720"/>
            <a:ext cx="10874959" cy="822960"/>
          </a:xfrm>
          <a:prstGeom prst="rect">
            <a:avLst/>
          </a:prstGeom>
          <a:solidFill>
            <a:srgbClr val="E8F5E9"/>
          </a:solidFill>
          <a:ln/>
        </p:spPr>
      </p:sp>
      <p:sp>
        <p:nvSpPr>
          <p:cNvPr id="15" name="Text 13"/>
          <p:cNvSpPr/>
          <p:nvPr/>
        </p:nvSpPr>
        <p:spPr>
          <a:xfrm>
            <a:off x="978408" y="4754880"/>
            <a:ext cx="10234879" cy="548640"/>
          </a:xfrm>
          <a:prstGeom prst="rect">
            <a:avLst/>
          </a:prstGeom>
          <a:noFill/>
          <a:ln/>
        </p:spPr>
        <p:txBody>
          <a:bodyPr wrap="square" lIns="0" tIns="0" rIns="0" bIns="0" rtlCol="0" anchor="ctr"/>
          <a:lstStyle/>
          <a:p>
            <a:pPr indent="0" marL="0">
              <a:buNone/>
            </a:pPr>
            <a:r>
              <a:rPr lang="en-US" sz="1500" b="1" dirty="0">
                <a:solidFill>
                  <a:srgbClr val="254F25"/>
                </a:solidFill>
                <a:latin typeface="DM Sans" pitchFamily="34" charset="0"/>
                <a:ea typeface="DM Sans" pitchFamily="34" charset="-122"/>
                <a:cs typeface="DM Sans" pitchFamily="34" charset="-120"/>
              </a:rPr>
              <a:t>And I am volunteering. I will do the student recruiting, the interest meeting, and the parts a student can carry.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C3A1C"/>
          </a:solidFill>
          <a:ln/>
        </p:spPr>
      </p:sp>
      <p:sp>
        <p:nvSpPr>
          <p:cNvPr id="3" name="Text 1"/>
          <p:cNvSpPr/>
          <p:nvPr/>
        </p:nvSpPr>
        <p:spPr>
          <a:xfrm>
            <a:off x="658368" y="384048"/>
            <a:ext cx="10874959" cy="274320"/>
          </a:xfrm>
          <a:prstGeom prst="rect">
            <a:avLst/>
          </a:prstGeom>
          <a:noFill/>
          <a:ln/>
        </p:spPr>
        <p:txBody>
          <a:bodyPr wrap="square" lIns="0" tIns="0" rIns="0" bIns="0" rtlCol="0" anchor="ctr"/>
          <a:lstStyle/>
          <a:p>
            <a:pPr indent="0" marL="0">
              <a:buNone/>
            </a:pPr>
            <a:r>
              <a:rPr lang="en-US" sz="1100" b="1" spc="300" kern="0" dirty="0">
                <a:solidFill>
                  <a:srgbClr val="E0615A"/>
                </a:solidFill>
                <a:latin typeface="DM Sans" pitchFamily="34" charset="0"/>
                <a:ea typeface="DM Sans" pitchFamily="34" charset="-122"/>
                <a:cs typeface="DM Sans" pitchFamily="34" charset="-120"/>
              </a:rPr>
              <a:t>THE PLAN</a:t>
            </a:r>
            <a:endParaRPr lang="en-US" sz="1100" dirty="0"/>
          </a:p>
        </p:txBody>
      </p:sp>
      <p:sp>
        <p:nvSpPr>
          <p:cNvPr id="4" name="Text 2"/>
          <p:cNvSpPr/>
          <p:nvPr/>
        </p:nvSpPr>
        <p:spPr>
          <a:xfrm>
            <a:off x="612648" y="658368"/>
            <a:ext cx="10874959" cy="685800"/>
          </a:xfrm>
          <a:prstGeom prst="rect">
            <a:avLst/>
          </a:prstGeom>
          <a:noFill/>
          <a:ln/>
        </p:spPr>
        <p:txBody>
          <a:bodyPr wrap="square" lIns="0" tIns="0" rIns="0" bIns="0" rtlCol="0" anchor="ctr"/>
          <a:lstStyle/>
          <a:p>
            <a:pPr indent="0" marL="0">
              <a:buNone/>
            </a:pPr>
            <a:r>
              <a:rPr lang="en-US" sz="3300" dirty="0">
                <a:solidFill>
                  <a:srgbClr val="1C3A1C"/>
                </a:solidFill>
                <a:latin typeface="Anton" pitchFamily="34" charset="0"/>
                <a:ea typeface="Anton" pitchFamily="34" charset="-122"/>
                <a:cs typeface="Anton" pitchFamily="34" charset="-120"/>
              </a:rPr>
              <a:t>HOW THE FIRST YEAR WOULD RUN</a:t>
            </a:r>
            <a:endParaRPr lang="en-US" sz="3300" dirty="0"/>
          </a:p>
        </p:txBody>
      </p:sp>
      <p:sp>
        <p:nvSpPr>
          <p:cNvPr id="5" name="Shape 3"/>
          <p:cNvSpPr/>
          <p:nvPr/>
        </p:nvSpPr>
        <p:spPr>
          <a:xfrm>
            <a:off x="658368" y="1389888"/>
            <a:ext cx="10874959" cy="0"/>
          </a:xfrm>
          <a:prstGeom prst="line">
            <a:avLst/>
          </a:prstGeom>
          <a:noFill/>
          <a:ln w="17780">
            <a:solidFill>
              <a:srgbClr val="6AB86E"/>
            </a:solidFill>
            <a:prstDash val="solid"/>
          </a:ln>
        </p:spPr>
      </p:sp>
      <p:sp>
        <p:nvSpPr>
          <p:cNvPr id="6" name="Text 4"/>
          <p:cNvSpPr/>
          <p:nvPr/>
        </p:nvSpPr>
        <p:spPr>
          <a:xfrm>
            <a:off x="7875727" y="6355080"/>
            <a:ext cx="3657600" cy="274320"/>
          </a:xfrm>
          <a:prstGeom prst="rect">
            <a:avLst/>
          </a:prstGeom>
          <a:noFill/>
          <a:ln/>
        </p:spPr>
        <p:txBody>
          <a:bodyPr wrap="square" lIns="0" tIns="0" rIns="0" bIns="0" rtlCol="0" anchor="ctr"/>
          <a:lstStyle/>
          <a:p>
            <a:pPr algn="r" indent="0" marL="0">
              <a:buNone/>
            </a:pPr>
            <a:r>
              <a:rPr lang="en-US" sz="900" dirty="0">
                <a:solidFill>
                  <a:srgbClr val="6B756B"/>
                </a:solidFill>
                <a:latin typeface="DM Sans" pitchFamily="34" charset="0"/>
                <a:ea typeface="DM Sans" pitchFamily="34" charset="-122"/>
                <a:cs typeface="DM Sans" pitchFamily="34" charset="-120"/>
              </a:rPr>
              <a:t>fairgameinitiative.org</a:t>
            </a:r>
            <a:endParaRPr lang="en-US" sz="900" dirty="0"/>
          </a:p>
        </p:txBody>
      </p:sp>
      <p:sp>
        <p:nvSpPr>
          <p:cNvPr id="7" name="Shape 5"/>
          <p:cNvSpPr/>
          <p:nvPr/>
        </p:nvSpPr>
        <p:spPr>
          <a:xfrm>
            <a:off x="658368" y="2103120"/>
            <a:ext cx="2528428" cy="502920"/>
          </a:xfrm>
          <a:prstGeom prst="rect">
            <a:avLst/>
          </a:prstGeom>
          <a:solidFill>
            <a:srgbClr val="1C3A1C"/>
          </a:solidFill>
          <a:ln/>
        </p:spPr>
      </p:sp>
      <p:sp>
        <p:nvSpPr>
          <p:cNvPr id="8" name="Text 6"/>
          <p:cNvSpPr/>
          <p:nvPr/>
        </p:nvSpPr>
        <p:spPr>
          <a:xfrm>
            <a:off x="658368" y="2103120"/>
            <a:ext cx="25284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DM Sans" pitchFamily="34" charset="0"/>
                <a:ea typeface="DM Sans" pitchFamily="34" charset="-122"/>
                <a:cs typeface="DM Sans" pitchFamily="34" charset="-120"/>
              </a:rPr>
              <a:t>MONTHS 1 to 2</a:t>
            </a:r>
            <a:endParaRPr lang="en-US" sz="1200" dirty="0"/>
          </a:p>
        </p:txBody>
      </p:sp>
      <p:sp>
        <p:nvSpPr>
          <p:cNvPr id="9" name="Text 7"/>
          <p:cNvSpPr/>
          <p:nvPr/>
        </p:nvSpPr>
        <p:spPr>
          <a:xfrm>
            <a:off x="658368" y="2697480"/>
            <a:ext cx="2528428" cy="1188720"/>
          </a:xfrm>
          <a:prstGeom prst="rect">
            <a:avLst/>
          </a:prstGeom>
          <a:noFill/>
          <a:ln/>
        </p:spPr>
        <p:txBody>
          <a:bodyPr wrap="square" lIns="0" tIns="0" rIns="0" bIns="0" rtlCol="0" anchor="t"/>
          <a:lstStyle/>
          <a:p>
            <a:pPr algn="ctr" indent="0" marL="0">
              <a:buNone/>
            </a:pPr>
            <a:r>
              <a:rPr lang="en-US" sz="1300" dirty="0">
                <a:solidFill>
                  <a:srgbClr val="1A1E1A"/>
                </a:solidFill>
                <a:latin typeface="DM Sans" pitchFamily="34" charset="0"/>
                <a:ea typeface="DM Sans" pitchFamily="34" charset="-122"/>
                <a:cs typeface="DM Sans" pitchFamily="34" charset="-120"/>
              </a:rPr>
              <a:t>Approval, committee, set the date</a:t>
            </a:r>
            <a:endParaRPr lang="en-US" sz="1300" dirty="0"/>
          </a:p>
        </p:txBody>
      </p:sp>
      <p:sp>
        <p:nvSpPr>
          <p:cNvPr id="10" name="Shape 8"/>
          <p:cNvSpPr/>
          <p:nvPr/>
        </p:nvSpPr>
        <p:spPr>
          <a:xfrm>
            <a:off x="3377108" y="2103120"/>
            <a:ext cx="2528428" cy="502920"/>
          </a:xfrm>
          <a:prstGeom prst="rect">
            <a:avLst/>
          </a:prstGeom>
          <a:solidFill>
            <a:srgbClr val="357A38"/>
          </a:solidFill>
          <a:ln/>
        </p:spPr>
      </p:sp>
      <p:sp>
        <p:nvSpPr>
          <p:cNvPr id="11" name="Text 9"/>
          <p:cNvSpPr/>
          <p:nvPr/>
        </p:nvSpPr>
        <p:spPr>
          <a:xfrm>
            <a:off x="3377108" y="2103120"/>
            <a:ext cx="25284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DM Sans" pitchFamily="34" charset="0"/>
                <a:ea typeface="DM Sans" pitchFamily="34" charset="-122"/>
                <a:cs typeface="DM Sans" pitchFamily="34" charset="-120"/>
              </a:rPr>
              <a:t>MONTHS 3 to 6</a:t>
            </a:r>
            <a:endParaRPr lang="en-US" sz="1200" dirty="0"/>
          </a:p>
        </p:txBody>
      </p:sp>
      <p:sp>
        <p:nvSpPr>
          <p:cNvPr id="12" name="Text 10"/>
          <p:cNvSpPr/>
          <p:nvPr/>
        </p:nvSpPr>
        <p:spPr>
          <a:xfrm>
            <a:off x="3377108" y="2697480"/>
            <a:ext cx="2528428" cy="1188720"/>
          </a:xfrm>
          <a:prstGeom prst="rect">
            <a:avLst/>
          </a:prstGeom>
          <a:noFill/>
          <a:ln/>
        </p:spPr>
        <p:txBody>
          <a:bodyPr wrap="square" lIns="0" tIns="0" rIns="0" bIns="0" rtlCol="0" anchor="t"/>
          <a:lstStyle/>
          <a:p>
            <a:pPr algn="ctr" indent="0" marL="0">
              <a:buNone/>
            </a:pPr>
            <a:r>
              <a:rPr lang="en-US" sz="1300" dirty="0">
                <a:solidFill>
                  <a:srgbClr val="1A1E1A"/>
                </a:solidFill>
                <a:latin typeface="DM Sans" pitchFamily="34" charset="0"/>
                <a:ea typeface="DM Sans" pitchFamily="34" charset="-122"/>
                <a:cs typeface="DM Sans" pitchFamily="34" charset="-120"/>
              </a:rPr>
              <a:t>Planning, judges, registration</a:t>
            </a:r>
            <a:endParaRPr lang="en-US" sz="1300" dirty="0"/>
          </a:p>
        </p:txBody>
      </p:sp>
      <p:sp>
        <p:nvSpPr>
          <p:cNvPr id="13" name="Shape 11"/>
          <p:cNvSpPr/>
          <p:nvPr/>
        </p:nvSpPr>
        <p:spPr>
          <a:xfrm>
            <a:off x="6095848" y="2103120"/>
            <a:ext cx="2528428" cy="502920"/>
          </a:xfrm>
          <a:prstGeom prst="rect">
            <a:avLst/>
          </a:prstGeom>
          <a:solidFill>
            <a:srgbClr val="1C3A1C"/>
          </a:solidFill>
          <a:ln/>
        </p:spPr>
      </p:sp>
      <p:sp>
        <p:nvSpPr>
          <p:cNvPr id="14" name="Text 12"/>
          <p:cNvSpPr/>
          <p:nvPr/>
        </p:nvSpPr>
        <p:spPr>
          <a:xfrm>
            <a:off x="6095848" y="2103120"/>
            <a:ext cx="25284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DM Sans" pitchFamily="34" charset="0"/>
                <a:ea typeface="DM Sans" pitchFamily="34" charset="-122"/>
                <a:cs typeface="DM Sans" pitchFamily="34" charset="-120"/>
              </a:rPr>
              <a:t>MONTHS 7 to 9</a:t>
            </a:r>
            <a:endParaRPr lang="en-US" sz="1200" dirty="0"/>
          </a:p>
        </p:txBody>
      </p:sp>
      <p:sp>
        <p:nvSpPr>
          <p:cNvPr id="15" name="Text 13"/>
          <p:cNvSpPr/>
          <p:nvPr/>
        </p:nvSpPr>
        <p:spPr>
          <a:xfrm>
            <a:off x="6095848" y="2697480"/>
            <a:ext cx="2528428" cy="1188720"/>
          </a:xfrm>
          <a:prstGeom prst="rect">
            <a:avLst/>
          </a:prstGeom>
          <a:noFill/>
          <a:ln/>
        </p:spPr>
        <p:txBody>
          <a:bodyPr wrap="square" lIns="0" tIns="0" rIns="0" bIns="0" rtlCol="0" anchor="t"/>
          <a:lstStyle/>
          <a:p>
            <a:pPr algn="ctr" indent="0" marL="0">
              <a:buNone/>
            </a:pPr>
            <a:r>
              <a:rPr lang="en-US" sz="1300" dirty="0">
                <a:solidFill>
                  <a:srgbClr val="1A1E1A"/>
                </a:solidFill>
                <a:latin typeface="DM Sans" pitchFamily="34" charset="0"/>
                <a:ea typeface="DM Sans" pitchFamily="34" charset="-122"/>
                <a:cs typeface="DM Sans" pitchFamily="34" charset="-120"/>
              </a:rPr>
              <a:t>Students build projects</a:t>
            </a:r>
            <a:endParaRPr lang="en-US" sz="1300" dirty="0"/>
          </a:p>
        </p:txBody>
      </p:sp>
      <p:sp>
        <p:nvSpPr>
          <p:cNvPr id="16" name="Shape 14"/>
          <p:cNvSpPr/>
          <p:nvPr/>
        </p:nvSpPr>
        <p:spPr>
          <a:xfrm>
            <a:off x="8814587" y="2103120"/>
            <a:ext cx="2528428" cy="502920"/>
          </a:xfrm>
          <a:prstGeom prst="rect">
            <a:avLst/>
          </a:prstGeom>
          <a:solidFill>
            <a:srgbClr val="357A38"/>
          </a:solidFill>
          <a:ln/>
        </p:spPr>
      </p:sp>
      <p:sp>
        <p:nvSpPr>
          <p:cNvPr id="17" name="Text 15"/>
          <p:cNvSpPr/>
          <p:nvPr/>
        </p:nvSpPr>
        <p:spPr>
          <a:xfrm>
            <a:off x="8814587" y="2103120"/>
            <a:ext cx="25284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DM Sans" pitchFamily="34" charset="0"/>
                <a:ea typeface="DM Sans" pitchFamily="34" charset="-122"/>
                <a:cs typeface="DM Sans" pitchFamily="34" charset="-120"/>
              </a:rPr>
              <a:t>MONTHS 10 to 12</a:t>
            </a:r>
            <a:endParaRPr lang="en-US" sz="1200" dirty="0"/>
          </a:p>
        </p:txBody>
      </p:sp>
      <p:sp>
        <p:nvSpPr>
          <p:cNvPr id="18" name="Text 16"/>
          <p:cNvSpPr/>
          <p:nvPr/>
        </p:nvSpPr>
        <p:spPr>
          <a:xfrm>
            <a:off x="8814587" y="2697480"/>
            <a:ext cx="2528428" cy="1188720"/>
          </a:xfrm>
          <a:prstGeom prst="rect">
            <a:avLst/>
          </a:prstGeom>
          <a:noFill/>
          <a:ln/>
        </p:spPr>
        <p:txBody>
          <a:bodyPr wrap="square" lIns="0" tIns="0" rIns="0" bIns="0" rtlCol="0" anchor="t"/>
          <a:lstStyle/>
          <a:p>
            <a:pPr algn="ctr" indent="0" marL="0">
              <a:buNone/>
            </a:pPr>
            <a:r>
              <a:rPr lang="en-US" sz="1300" dirty="0">
                <a:solidFill>
                  <a:srgbClr val="1A1E1A"/>
                </a:solidFill>
                <a:latin typeface="DM Sans" pitchFamily="34" charset="0"/>
                <a:ea typeface="DM Sans" pitchFamily="34" charset="-122"/>
                <a:cs typeface="DM Sans" pitchFamily="34" charset="-120"/>
              </a:rPr>
              <a:t>Final prep, fair day, follow-up</a:t>
            </a:r>
            <a:endParaRPr lang="en-US" sz="1300" dirty="0"/>
          </a:p>
        </p:txBody>
      </p:sp>
      <p:sp>
        <p:nvSpPr>
          <p:cNvPr id="19" name="Text 17"/>
          <p:cNvSpPr/>
          <p:nvPr/>
        </p:nvSpPr>
        <p:spPr>
          <a:xfrm>
            <a:off x="658368" y="4114800"/>
            <a:ext cx="10874959" cy="731520"/>
          </a:xfrm>
          <a:prstGeom prst="rect">
            <a:avLst/>
          </a:prstGeom>
          <a:noFill/>
          <a:ln/>
        </p:spPr>
        <p:txBody>
          <a:bodyPr wrap="square" lIns="0" tIns="0" rIns="0" bIns="0" rtlCol="0" anchor="t"/>
          <a:lstStyle/>
          <a:p>
            <a:pPr indent="0" marL="0">
              <a:buNone/>
            </a:pPr>
            <a:r>
              <a:rPr lang="en-US" sz="1400" dirty="0">
                <a:solidFill>
                  <a:srgbClr val="6B756B"/>
                </a:solidFill>
                <a:latin typeface="DM Sans" pitchFamily="34" charset="0"/>
                <a:ea typeface="DM Sans" pitchFamily="34" charset="-122"/>
                <a:cs typeface="DM Sans" pitchFamily="34" charset="-120"/>
              </a:rPr>
              <a:t>This timeline comes from the FairGame Complete School Setup Guide, which lays out all twelve months step by step. We would not be inventing the plan.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C3A1C"/>
          </a:solidFill>
          <a:ln/>
        </p:spPr>
      </p:sp>
      <p:sp>
        <p:nvSpPr>
          <p:cNvPr id="3" name="Text 1"/>
          <p:cNvSpPr/>
          <p:nvPr/>
        </p:nvSpPr>
        <p:spPr>
          <a:xfrm>
            <a:off x="658368" y="384048"/>
            <a:ext cx="10874959" cy="274320"/>
          </a:xfrm>
          <a:prstGeom prst="rect">
            <a:avLst/>
          </a:prstGeom>
          <a:noFill/>
          <a:ln/>
        </p:spPr>
        <p:txBody>
          <a:bodyPr wrap="square" lIns="0" tIns="0" rIns="0" bIns="0" rtlCol="0" anchor="ctr"/>
          <a:lstStyle/>
          <a:p>
            <a:pPr indent="0" marL="0">
              <a:buNone/>
            </a:pPr>
            <a:r>
              <a:rPr lang="en-US" sz="1100" b="1" spc="300" kern="0" dirty="0">
                <a:solidFill>
                  <a:srgbClr val="E0615A"/>
                </a:solidFill>
                <a:latin typeface="DM Sans" pitchFamily="34" charset="0"/>
                <a:ea typeface="DM Sans" pitchFamily="34" charset="-122"/>
                <a:cs typeface="DM Sans" pitchFamily="34" charset="-120"/>
              </a:rPr>
              <a:t>QUESTIONS</a:t>
            </a:r>
            <a:endParaRPr lang="en-US" sz="1100" dirty="0"/>
          </a:p>
        </p:txBody>
      </p:sp>
      <p:sp>
        <p:nvSpPr>
          <p:cNvPr id="4" name="Text 2"/>
          <p:cNvSpPr/>
          <p:nvPr/>
        </p:nvSpPr>
        <p:spPr>
          <a:xfrm>
            <a:off x="612648" y="658368"/>
            <a:ext cx="10874959" cy="685800"/>
          </a:xfrm>
          <a:prstGeom prst="rect">
            <a:avLst/>
          </a:prstGeom>
          <a:noFill/>
          <a:ln/>
        </p:spPr>
        <p:txBody>
          <a:bodyPr wrap="square" lIns="0" tIns="0" rIns="0" bIns="0" rtlCol="0" anchor="ctr"/>
          <a:lstStyle/>
          <a:p>
            <a:pPr indent="0" marL="0">
              <a:buNone/>
            </a:pPr>
            <a:r>
              <a:rPr lang="en-US" sz="3300" dirty="0">
                <a:solidFill>
                  <a:srgbClr val="1C3A1C"/>
                </a:solidFill>
                <a:latin typeface="Anton" pitchFamily="34" charset="0"/>
                <a:ea typeface="Anton" pitchFamily="34" charset="-122"/>
                <a:cs typeface="Anton" pitchFamily="34" charset="-120"/>
              </a:rPr>
              <a:t>WHAT YOU MIGHT BE THINKING</a:t>
            </a:r>
            <a:endParaRPr lang="en-US" sz="3300" dirty="0"/>
          </a:p>
        </p:txBody>
      </p:sp>
      <p:sp>
        <p:nvSpPr>
          <p:cNvPr id="5" name="Shape 3"/>
          <p:cNvSpPr/>
          <p:nvPr/>
        </p:nvSpPr>
        <p:spPr>
          <a:xfrm>
            <a:off x="658368" y="1389888"/>
            <a:ext cx="10874959" cy="0"/>
          </a:xfrm>
          <a:prstGeom prst="line">
            <a:avLst/>
          </a:prstGeom>
          <a:noFill/>
          <a:ln w="17780">
            <a:solidFill>
              <a:srgbClr val="6AB86E"/>
            </a:solidFill>
            <a:prstDash val="solid"/>
          </a:ln>
        </p:spPr>
      </p:sp>
      <p:sp>
        <p:nvSpPr>
          <p:cNvPr id="6" name="Text 4"/>
          <p:cNvSpPr/>
          <p:nvPr/>
        </p:nvSpPr>
        <p:spPr>
          <a:xfrm>
            <a:off x="7875727" y="6355080"/>
            <a:ext cx="3657600" cy="274320"/>
          </a:xfrm>
          <a:prstGeom prst="rect">
            <a:avLst/>
          </a:prstGeom>
          <a:noFill/>
          <a:ln/>
        </p:spPr>
        <p:txBody>
          <a:bodyPr wrap="square" lIns="0" tIns="0" rIns="0" bIns="0" rtlCol="0" anchor="ctr"/>
          <a:lstStyle/>
          <a:p>
            <a:pPr algn="r" indent="0" marL="0">
              <a:buNone/>
            </a:pPr>
            <a:r>
              <a:rPr lang="en-US" sz="900" dirty="0">
                <a:solidFill>
                  <a:srgbClr val="6B756B"/>
                </a:solidFill>
                <a:latin typeface="DM Sans" pitchFamily="34" charset="0"/>
                <a:ea typeface="DM Sans" pitchFamily="34" charset="-122"/>
                <a:cs typeface="DM Sans" pitchFamily="34" charset="-120"/>
              </a:rPr>
              <a:t>fairgameinitiative.org</a:t>
            </a:r>
            <a:endParaRPr lang="en-US" sz="900" dirty="0"/>
          </a:p>
        </p:txBody>
      </p:sp>
      <p:sp>
        <p:nvSpPr>
          <p:cNvPr id="7" name="Shape 5"/>
          <p:cNvSpPr/>
          <p:nvPr/>
        </p:nvSpPr>
        <p:spPr>
          <a:xfrm>
            <a:off x="658368" y="1737360"/>
            <a:ext cx="10874959" cy="1005840"/>
          </a:xfrm>
          <a:prstGeom prst="rect">
            <a:avLst/>
          </a:prstGeom>
          <a:solidFill>
            <a:srgbClr val="FFFFFF"/>
          </a:solidFill>
          <a:ln w="12700">
            <a:solidFill>
              <a:srgbClr val="E2E6E2"/>
            </a:solidFill>
            <a:prstDash val="solid"/>
          </a:ln>
        </p:spPr>
      </p:sp>
      <p:sp>
        <p:nvSpPr>
          <p:cNvPr id="8" name="Text 6"/>
          <p:cNvSpPr/>
          <p:nvPr/>
        </p:nvSpPr>
        <p:spPr>
          <a:xfrm>
            <a:off x="914400" y="1847088"/>
            <a:ext cx="10362895" cy="347472"/>
          </a:xfrm>
          <a:prstGeom prst="rect">
            <a:avLst/>
          </a:prstGeom>
          <a:noFill/>
          <a:ln/>
        </p:spPr>
        <p:txBody>
          <a:bodyPr wrap="square" lIns="0" tIns="0" rIns="0" bIns="0" rtlCol="0" anchor="ctr"/>
          <a:lstStyle/>
          <a:p>
            <a:pPr indent="0" marL="0">
              <a:buNone/>
            </a:pPr>
            <a:r>
              <a:rPr lang="en-US" sz="1600" b="1" i="1" dirty="0">
                <a:solidFill>
                  <a:srgbClr val="E0615A"/>
                </a:solidFill>
                <a:latin typeface="Playfair Display" pitchFamily="34" charset="0"/>
                <a:ea typeface="Playfair Display" pitchFamily="34" charset="-122"/>
                <a:cs typeface="Playfair Display" pitchFamily="34" charset="-120"/>
              </a:rPr>
              <a:t>We do not have a science teacher for this</a:t>
            </a:r>
            <a:endParaRPr lang="en-US" sz="1600" dirty="0"/>
          </a:p>
        </p:txBody>
      </p:sp>
      <p:sp>
        <p:nvSpPr>
          <p:cNvPr id="9" name="Text 7"/>
          <p:cNvSpPr/>
          <p:nvPr/>
        </p:nvSpPr>
        <p:spPr>
          <a:xfrm>
            <a:off x="914400" y="2212848"/>
            <a:ext cx="10362895" cy="457200"/>
          </a:xfrm>
          <a:prstGeom prst="rect">
            <a:avLst/>
          </a:prstGeom>
          <a:noFill/>
          <a:ln/>
        </p:spPr>
        <p:txBody>
          <a:bodyPr wrap="square" lIns="0" tIns="0" rIns="0" bIns="0" rtlCol="0" anchor="t"/>
          <a:lstStyle/>
          <a:p>
            <a:pPr indent="0" marL="0">
              <a:buNone/>
            </a:pPr>
            <a:r>
              <a:rPr lang="en-US" sz="1300" dirty="0">
                <a:solidFill>
                  <a:srgbClr val="1A1E1A"/>
                </a:solidFill>
                <a:latin typeface="DM Sans" pitchFamily="34" charset="0"/>
                <a:ea typeface="DM Sans" pitchFamily="34" charset="-122"/>
                <a:cs typeface="DM Sans" pitchFamily="34" charset="-120"/>
              </a:rPr>
              <a:t>The guide is written for teachers with no science background. FairGame supplies the content knowledge.</a:t>
            </a:r>
            <a:endParaRPr lang="en-US" sz="1300" dirty="0"/>
          </a:p>
        </p:txBody>
      </p:sp>
      <p:sp>
        <p:nvSpPr>
          <p:cNvPr id="10" name="Shape 8"/>
          <p:cNvSpPr/>
          <p:nvPr/>
        </p:nvSpPr>
        <p:spPr>
          <a:xfrm>
            <a:off x="658368" y="2852928"/>
            <a:ext cx="10874959" cy="1005840"/>
          </a:xfrm>
          <a:prstGeom prst="rect">
            <a:avLst/>
          </a:prstGeom>
          <a:solidFill>
            <a:srgbClr val="F1FAF2"/>
          </a:solidFill>
          <a:ln w="12700">
            <a:solidFill>
              <a:srgbClr val="E2E6E2"/>
            </a:solidFill>
            <a:prstDash val="solid"/>
          </a:ln>
        </p:spPr>
      </p:sp>
      <p:sp>
        <p:nvSpPr>
          <p:cNvPr id="11" name="Text 9"/>
          <p:cNvSpPr/>
          <p:nvPr/>
        </p:nvSpPr>
        <p:spPr>
          <a:xfrm>
            <a:off x="914400" y="2962656"/>
            <a:ext cx="10362895" cy="347472"/>
          </a:xfrm>
          <a:prstGeom prst="rect">
            <a:avLst/>
          </a:prstGeom>
          <a:noFill/>
          <a:ln/>
        </p:spPr>
        <p:txBody>
          <a:bodyPr wrap="square" lIns="0" tIns="0" rIns="0" bIns="0" rtlCol="0" anchor="ctr"/>
          <a:lstStyle/>
          <a:p>
            <a:pPr indent="0" marL="0">
              <a:buNone/>
            </a:pPr>
            <a:r>
              <a:rPr lang="en-US" sz="1600" b="1" i="1" dirty="0">
                <a:solidFill>
                  <a:srgbClr val="E0615A"/>
                </a:solidFill>
                <a:latin typeface="Playfair Display" pitchFamily="34" charset="0"/>
                <a:ea typeface="Playfair Display" pitchFamily="34" charset="-122"/>
                <a:cs typeface="Playfair Display" pitchFamily="34" charset="-120"/>
              </a:rPr>
              <a:t>Our students would not enter</a:t>
            </a:r>
            <a:endParaRPr lang="en-US" sz="1600" dirty="0"/>
          </a:p>
        </p:txBody>
      </p:sp>
      <p:sp>
        <p:nvSpPr>
          <p:cNvPr id="12" name="Text 10"/>
          <p:cNvSpPr/>
          <p:nvPr/>
        </p:nvSpPr>
        <p:spPr>
          <a:xfrm>
            <a:off x="914400" y="3328416"/>
            <a:ext cx="10362895" cy="457200"/>
          </a:xfrm>
          <a:prstGeom prst="rect">
            <a:avLst/>
          </a:prstGeom>
          <a:noFill/>
          <a:ln/>
        </p:spPr>
        <p:txBody>
          <a:bodyPr wrap="square" lIns="0" tIns="0" rIns="0" bIns="0" rtlCol="0" anchor="t"/>
          <a:lstStyle/>
          <a:p>
            <a:pPr indent="0" marL="0">
              <a:buNone/>
            </a:pPr>
            <a:r>
              <a:rPr lang="en-US" sz="1300" dirty="0">
                <a:solidFill>
                  <a:srgbClr val="1A1E1A"/>
                </a:solidFill>
                <a:latin typeface="DM Sans" pitchFamily="34" charset="0"/>
                <a:ea typeface="DM Sans" pitchFamily="34" charset="-122"/>
                <a:cs typeface="DM Sans" pitchFamily="34" charset="-120"/>
              </a:rPr>
              <a:t>Start with a club. FairGame's Club Launch program exists for schools with fewer than ten interested students.</a:t>
            </a:r>
            <a:endParaRPr lang="en-US" sz="1300" dirty="0"/>
          </a:p>
        </p:txBody>
      </p:sp>
      <p:sp>
        <p:nvSpPr>
          <p:cNvPr id="13" name="Shape 11"/>
          <p:cNvSpPr/>
          <p:nvPr/>
        </p:nvSpPr>
        <p:spPr>
          <a:xfrm>
            <a:off x="658368" y="3968496"/>
            <a:ext cx="10874959" cy="1005840"/>
          </a:xfrm>
          <a:prstGeom prst="rect">
            <a:avLst/>
          </a:prstGeom>
          <a:solidFill>
            <a:srgbClr val="FFFFFF"/>
          </a:solidFill>
          <a:ln w="12700">
            <a:solidFill>
              <a:srgbClr val="E2E6E2"/>
            </a:solidFill>
            <a:prstDash val="solid"/>
          </a:ln>
        </p:spPr>
      </p:sp>
      <p:sp>
        <p:nvSpPr>
          <p:cNvPr id="14" name="Text 12"/>
          <p:cNvSpPr/>
          <p:nvPr/>
        </p:nvSpPr>
        <p:spPr>
          <a:xfrm>
            <a:off x="914400" y="4078224"/>
            <a:ext cx="10362895" cy="347472"/>
          </a:xfrm>
          <a:prstGeom prst="rect">
            <a:avLst/>
          </a:prstGeom>
          <a:noFill/>
          <a:ln/>
        </p:spPr>
        <p:txBody>
          <a:bodyPr wrap="square" lIns="0" tIns="0" rIns="0" bIns="0" rtlCol="0" anchor="ctr"/>
          <a:lstStyle/>
          <a:p>
            <a:pPr indent="0" marL="0">
              <a:buNone/>
            </a:pPr>
            <a:r>
              <a:rPr lang="en-US" sz="1600" b="1" i="1" dirty="0">
                <a:solidFill>
                  <a:srgbClr val="E0615A"/>
                </a:solidFill>
                <a:latin typeface="Playfair Display" pitchFamily="34" charset="0"/>
                <a:ea typeface="Playfair Display" pitchFamily="34" charset="-122"/>
                <a:cs typeface="Playfair Display" pitchFamily="34" charset="-120"/>
              </a:rPr>
              <a:t>We do not have the money</a:t>
            </a:r>
            <a:endParaRPr lang="en-US" sz="1600" dirty="0"/>
          </a:p>
        </p:txBody>
      </p:sp>
      <p:sp>
        <p:nvSpPr>
          <p:cNvPr id="15" name="Text 13"/>
          <p:cNvSpPr/>
          <p:nvPr/>
        </p:nvSpPr>
        <p:spPr>
          <a:xfrm>
            <a:off x="914400" y="4443984"/>
            <a:ext cx="10362895" cy="457200"/>
          </a:xfrm>
          <a:prstGeom prst="rect">
            <a:avLst/>
          </a:prstGeom>
          <a:noFill/>
          <a:ln/>
        </p:spPr>
        <p:txBody>
          <a:bodyPr wrap="square" lIns="0" tIns="0" rIns="0" bIns="0" rtlCol="0" anchor="t"/>
          <a:lstStyle/>
          <a:p>
            <a:pPr indent="0" marL="0">
              <a:buNone/>
            </a:pPr>
            <a:r>
              <a:rPr lang="en-US" sz="1300" dirty="0">
                <a:solidFill>
                  <a:srgbClr val="1A1E1A"/>
                </a:solidFill>
                <a:latin typeface="DM Sans" pitchFamily="34" charset="0"/>
                <a:ea typeface="DM Sans" pitchFamily="34" charset="-122"/>
                <a:cs typeface="DM Sans" pitchFamily="34" charset="-120"/>
              </a:rPr>
              <a:t>A school-only fair can run on almost nothing, and FairGame helps find local sponsors for the rest.</a:t>
            </a:r>
            <a:endParaRPr lang="en-US" sz="1300" dirty="0"/>
          </a:p>
        </p:txBody>
      </p:sp>
      <p:sp>
        <p:nvSpPr>
          <p:cNvPr id="16" name="Shape 14"/>
          <p:cNvSpPr/>
          <p:nvPr/>
        </p:nvSpPr>
        <p:spPr>
          <a:xfrm>
            <a:off x="658368" y="5084064"/>
            <a:ext cx="10874959" cy="1005840"/>
          </a:xfrm>
          <a:prstGeom prst="rect">
            <a:avLst/>
          </a:prstGeom>
          <a:solidFill>
            <a:srgbClr val="F1FAF2"/>
          </a:solidFill>
          <a:ln w="12700">
            <a:solidFill>
              <a:srgbClr val="E2E6E2"/>
            </a:solidFill>
            <a:prstDash val="solid"/>
          </a:ln>
        </p:spPr>
      </p:sp>
      <p:sp>
        <p:nvSpPr>
          <p:cNvPr id="17" name="Text 15"/>
          <p:cNvSpPr/>
          <p:nvPr/>
        </p:nvSpPr>
        <p:spPr>
          <a:xfrm>
            <a:off x="914400" y="5193792"/>
            <a:ext cx="10362895" cy="347472"/>
          </a:xfrm>
          <a:prstGeom prst="rect">
            <a:avLst/>
          </a:prstGeom>
          <a:noFill/>
          <a:ln/>
        </p:spPr>
        <p:txBody>
          <a:bodyPr wrap="square" lIns="0" tIns="0" rIns="0" bIns="0" rtlCol="0" anchor="ctr"/>
          <a:lstStyle/>
          <a:p>
            <a:pPr indent="0" marL="0">
              <a:buNone/>
            </a:pPr>
            <a:r>
              <a:rPr lang="en-US" sz="1600" b="1" i="1" dirty="0">
                <a:solidFill>
                  <a:srgbClr val="E0615A"/>
                </a:solidFill>
                <a:latin typeface="Playfair Display" pitchFamily="34" charset="0"/>
                <a:ea typeface="Playfair Display" pitchFamily="34" charset="-122"/>
                <a:cs typeface="Playfair Display" pitchFamily="34" charset="-120"/>
              </a:rPr>
              <a:t>We do not have time this year</a:t>
            </a:r>
            <a:endParaRPr lang="en-US" sz="1600" dirty="0"/>
          </a:p>
        </p:txBody>
      </p:sp>
      <p:sp>
        <p:nvSpPr>
          <p:cNvPr id="18" name="Text 16"/>
          <p:cNvSpPr/>
          <p:nvPr/>
        </p:nvSpPr>
        <p:spPr>
          <a:xfrm>
            <a:off x="914400" y="5559552"/>
            <a:ext cx="10362895" cy="457200"/>
          </a:xfrm>
          <a:prstGeom prst="rect">
            <a:avLst/>
          </a:prstGeom>
          <a:noFill/>
          <a:ln/>
        </p:spPr>
        <p:txBody>
          <a:bodyPr wrap="square" lIns="0" tIns="0" rIns="0" bIns="0" rtlCol="0" anchor="t"/>
          <a:lstStyle/>
          <a:p>
            <a:pPr indent="0" marL="0">
              <a:buNone/>
            </a:pPr>
            <a:r>
              <a:rPr lang="en-US" sz="1300" dirty="0">
                <a:solidFill>
                  <a:srgbClr val="1A1E1A"/>
                </a:solidFill>
                <a:latin typeface="DM Sans" pitchFamily="34" charset="0"/>
                <a:ea typeface="DM Sans" pitchFamily="34" charset="-122"/>
                <a:cs typeface="DM Sans" pitchFamily="34" charset="-120"/>
              </a:rPr>
              <a:t>Then set a date for next year today, and let me start building interest now.</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3A1C"/>
        </a:solidFill>
      </p:bgPr>
    </p:bg>
    <p:spTree>
      <p:nvGrpSpPr>
        <p:cNvPr id="1" name=""/>
        <p:cNvGrpSpPr/>
        <p:nvPr/>
      </p:nvGrpSpPr>
      <p:grpSpPr>
        <a:xfrm>
          <a:off x="0" y="0"/>
          <a:ext cx="0" cy="0"/>
          <a:chOff x="0" y="0"/>
          <a:chExt cx="0" cy="0"/>
        </a:xfrm>
      </p:grpSpPr>
      <p:sp>
        <p:nvSpPr>
          <p:cNvPr id="2" name="Text 0"/>
          <p:cNvSpPr/>
          <p:nvPr/>
        </p:nvSpPr>
        <p:spPr>
          <a:xfrm>
            <a:off x="658368" y="2194560"/>
            <a:ext cx="10874959" cy="365760"/>
          </a:xfrm>
          <a:prstGeom prst="rect">
            <a:avLst/>
          </a:prstGeom>
          <a:noFill/>
          <a:ln/>
        </p:spPr>
        <p:txBody>
          <a:bodyPr wrap="square" lIns="0" tIns="0" rIns="0" bIns="0" rtlCol="0" anchor="ctr"/>
          <a:lstStyle/>
          <a:p>
            <a:pPr indent="0" marL="0">
              <a:buNone/>
            </a:pPr>
            <a:r>
              <a:rPr lang="en-US" sz="1300" b="1" spc="400" kern="0" dirty="0">
                <a:solidFill>
                  <a:srgbClr val="6AB86E"/>
                </a:solidFill>
                <a:latin typeface="DM Sans" pitchFamily="34" charset="0"/>
                <a:ea typeface="DM Sans" pitchFamily="34" charset="-122"/>
                <a:cs typeface="DM Sans" pitchFamily="34" charset="-120"/>
              </a:rPr>
              <a:t>THE ASK</a:t>
            </a:r>
            <a:endParaRPr lang="en-US" sz="1300" dirty="0"/>
          </a:p>
        </p:txBody>
      </p:sp>
      <p:sp>
        <p:nvSpPr>
          <p:cNvPr id="3" name="Text 1"/>
          <p:cNvSpPr/>
          <p:nvPr/>
        </p:nvSpPr>
        <p:spPr>
          <a:xfrm>
            <a:off x="603504" y="2606040"/>
            <a:ext cx="8863279" cy="1097280"/>
          </a:xfrm>
          <a:prstGeom prst="rect">
            <a:avLst/>
          </a:prstGeom>
          <a:noFill/>
          <a:ln/>
        </p:spPr>
        <p:txBody>
          <a:bodyPr wrap="square" lIns="0" tIns="0" rIns="0" bIns="0" rtlCol="0" anchor="ctr"/>
          <a:lstStyle/>
          <a:p>
            <a:pPr indent="0" marL="0">
              <a:buNone/>
            </a:pPr>
            <a:r>
              <a:rPr lang="en-US" sz="5000" dirty="0">
                <a:solidFill>
                  <a:srgbClr val="FFFFFF"/>
                </a:solidFill>
                <a:latin typeface="Anton" pitchFamily="34" charset="0"/>
                <a:ea typeface="Anton" pitchFamily="34" charset="-122"/>
                <a:cs typeface="Anton" pitchFamily="34" charset="-120"/>
              </a:rPr>
              <a:t>CAN WE PICK A DATE?</a:t>
            </a:r>
            <a:endParaRPr lang="en-US" sz="5000" dirty="0"/>
          </a:p>
        </p:txBody>
      </p:sp>
      <p:sp>
        <p:nvSpPr>
          <p:cNvPr id="4" name="Text 2"/>
          <p:cNvSpPr/>
          <p:nvPr/>
        </p:nvSpPr>
        <p:spPr>
          <a:xfrm>
            <a:off x="658368" y="3886200"/>
            <a:ext cx="8588959" cy="1097280"/>
          </a:xfrm>
          <a:prstGeom prst="rect">
            <a:avLst/>
          </a:prstGeom>
          <a:noFill/>
          <a:ln/>
        </p:spPr>
        <p:txBody>
          <a:bodyPr wrap="square" lIns="0" tIns="0" rIns="0" bIns="0" rtlCol="0" anchor="t"/>
          <a:lstStyle/>
          <a:p>
            <a:pPr indent="0" marL="0">
              <a:buNone/>
            </a:pPr>
            <a:r>
              <a:rPr lang="en-US" sz="1600" dirty="0">
                <a:solidFill>
                  <a:srgbClr val="B9CDB9"/>
                </a:solidFill>
                <a:latin typeface="DM Sans" pitchFamily="34" charset="0"/>
                <a:ea typeface="DM Sans" pitchFamily="34" charset="-122"/>
                <a:cs typeface="DM Sans" pitchFamily="34" charset="-120"/>
              </a:rPr>
              <a:t>I am not asking for a decision on everything today. I am asking whether we can put one date on next year's calendar, and who I should talk to next.</a:t>
            </a:r>
            <a:endParaRPr lang="en-US" sz="1600" dirty="0"/>
          </a:p>
        </p:txBody>
      </p:sp>
      <p:sp>
        <p:nvSpPr>
          <p:cNvPr id="5" name="Text 3"/>
          <p:cNvSpPr/>
          <p:nvPr/>
        </p:nvSpPr>
        <p:spPr>
          <a:xfrm>
            <a:off x="658368" y="5212080"/>
            <a:ext cx="10874959" cy="365760"/>
          </a:xfrm>
          <a:prstGeom prst="rect">
            <a:avLst/>
          </a:prstGeom>
          <a:noFill/>
          <a:ln/>
        </p:spPr>
        <p:txBody>
          <a:bodyPr wrap="square" lIns="0" tIns="0" rIns="0" bIns="0" rtlCol="0" anchor="ctr"/>
          <a:lstStyle/>
          <a:p>
            <a:pPr indent="0" marL="0">
              <a:buNone/>
            </a:pPr>
            <a:r>
              <a:rPr lang="en-US" sz="1400" b="1" dirty="0">
                <a:solidFill>
                  <a:srgbClr val="6AB86E"/>
                </a:solidFill>
                <a:latin typeface="DM Sans" pitchFamily="34" charset="0"/>
                <a:ea typeface="DM Sans" pitchFamily="34" charset="-122"/>
                <a:cs typeface="DM Sans" pitchFamily="34" charset="-120"/>
              </a:rPr>
              <a:t>fairgameinitiative@outlook.com  ·  fairgameinitiative.org</a:t>
            </a:r>
            <a:endParaRPr lang="en-US" sz="1400" dirty="0"/>
          </a:p>
        </p:txBody>
      </p:sp>
      <p:pic>
        <p:nvPicPr>
          <p:cNvPr id="6" name="Image 0" descr="/tmp/fairgame_logo_leaf.png">    </p:cNvPr>
          <p:cNvPicPr>
            <a:picLocks noChangeAspect="1"/>
          </p:cNvPicPr>
          <p:nvPr/>
        </p:nvPicPr>
        <p:blipFill>
          <a:blip r:embed="rId1"/>
          <a:stretch>
            <a:fillRect/>
          </a:stretch>
        </p:blipFill>
        <p:spPr>
          <a:xfrm>
            <a:off x="9905695" y="2286000"/>
            <a:ext cx="1371600" cy="15757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FairGame Initiative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FairGame Tell Your School Student Pitch Deck</dc:title>
  <dc:subject>PptxGenJS Presentation</dc:subject>
  <dc:creator>FairGame Initiative</dc:creator>
  <cp:lastModifiedBy>FairGame Initiative</cp:lastModifiedBy>
  <cp:revision>1</cp:revision>
  <dcterms:created xsi:type="dcterms:W3CDTF">2026-07-27T19:05:17Z</dcterms:created>
  <dcterms:modified xsi:type="dcterms:W3CDTF">2026-07-27T19:05:17Z</dcterms:modified>
</cp:coreProperties>
</file>