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72400" cy="1911096"/>
          </a:xfrm>
          <a:prstGeom prst="rect">
            <a:avLst/>
          </a:prstGeom>
          <a:solidFill>
            <a:srgbClr val="1C3A1C"/>
          </a:solidFill>
          <a:ln/>
        </p:spPr>
      </p:sp>
      <p:pic>
        <p:nvPicPr>
          <p:cNvPr id="3" name="Image 0" descr="/tmp/fairgame_logo_white.png">    </p:cNvPr>
          <p:cNvPicPr>
            <a:picLocks noChangeAspect="1"/>
          </p:cNvPicPr>
          <p:nvPr/>
        </p:nvPicPr>
        <p:blipFill>
          <a:blip r:embed="rId1"/>
          <a:stretch>
            <a:fillRect/>
          </a:stretch>
        </p:blipFill>
        <p:spPr>
          <a:xfrm>
            <a:off x="6910299" y="496885"/>
            <a:ext cx="512343" cy="840882"/>
          </a:xfrm>
          <a:prstGeom prst="rect">
            <a:avLst/>
          </a:prstGeom>
        </p:spPr>
      </p:pic>
      <p:sp>
        <p:nvSpPr>
          <p:cNvPr id="4" name="Text 1"/>
          <p:cNvSpPr/>
          <p:nvPr/>
        </p:nvSpPr>
        <p:spPr>
          <a:xfrm>
            <a:off x="481889" y="305775"/>
            <a:ext cx="6296280" cy="305775"/>
          </a:xfrm>
          <a:prstGeom prst="rect">
            <a:avLst/>
          </a:prstGeom>
          <a:noFill/>
          <a:ln/>
        </p:spPr>
        <p:txBody>
          <a:bodyPr wrap="square" lIns="0" tIns="0" rIns="0" bIns="0" rtlCol="0" anchor="ctr"/>
          <a:lstStyle/>
          <a:p>
            <a:pPr indent="0" marL="0">
              <a:buNone/>
            </a:pPr>
            <a:r>
              <a:rPr lang="en-US" sz="1318" b="1" spc="272" kern="0" dirty="0">
                <a:solidFill>
                  <a:srgbClr val="6AB86E"/>
                </a:solidFill>
                <a:latin typeface="DM Sans" pitchFamily="34" charset="0"/>
                <a:ea typeface="DM Sans" pitchFamily="34" charset="-122"/>
                <a:cs typeface="DM Sans" pitchFamily="34" charset="-120"/>
              </a:rPr>
              <a:t>FOR STUDENTS, GRADES 9 TO 12</a:t>
            </a:r>
            <a:endParaRPr lang="en-US" sz="1318" dirty="0"/>
          </a:p>
        </p:txBody>
      </p:sp>
      <p:sp>
        <p:nvSpPr>
          <p:cNvPr id="5" name="Text 2"/>
          <p:cNvSpPr/>
          <p:nvPr/>
        </p:nvSpPr>
        <p:spPr>
          <a:xfrm>
            <a:off x="435254" y="630662"/>
            <a:ext cx="6552451" cy="592440"/>
          </a:xfrm>
          <a:prstGeom prst="rect">
            <a:avLst/>
          </a:prstGeom>
          <a:noFill/>
          <a:ln/>
        </p:spPr>
        <p:txBody>
          <a:bodyPr wrap="square" lIns="0" tIns="0" rIns="0" bIns="0" rtlCol="0" anchor="ctr"/>
          <a:lstStyle/>
          <a:p>
            <a:pPr indent="0" marL="0">
              <a:buNone/>
            </a:pPr>
            <a:r>
              <a:rPr lang="en-US" sz="3825" dirty="0">
                <a:solidFill>
                  <a:srgbClr val="FFFFFF"/>
                </a:solidFill>
                <a:latin typeface="Anton" pitchFamily="34" charset="0"/>
                <a:ea typeface="Anton" pitchFamily="34" charset="-122"/>
                <a:cs typeface="Anton" pitchFamily="34" charset="-120"/>
              </a:rPr>
              <a:t>STUDENT</a:t>
            </a:r>
            <a:endParaRPr lang="en-US" sz="3825" dirty="0"/>
          </a:p>
        </p:txBody>
      </p:sp>
      <p:sp>
        <p:nvSpPr>
          <p:cNvPr id="6" name="Text 3"/>
          <p:cNvSpPr/>
          <p:nvPr/>
        </p:nvSpPr>
        <p:spPr>
          <a:xfrm>
            <a:off x="435254" y="1223101"/>
            <a:ext cx="6552451" cy="592440"/>
          </a:xfrm>
          <a:prstGeom prst="rect">
            <a:avLst/>
          </a:prstGeom>
          <a:noFill/>
          <a:ln/>
        </p:spPr>
        <p:txBody>
          <a:bodyPr wrap="square" lIns="0" tIns="0" rIns="0" bIns="0" rtlCol="0" anchor="ctr"/>
          <a:lstStyle/>
          <a:p>
            <a:pPr indent="0" marL="0">
              <a:buNone/>
            </a:pPr>
            <a:r>
              <a:rPr lang="en-US" sz="3825" dirty="0">
                <a:solidFill>
                  <a:srgbClr val="FFFFFF"/>
                </a:solidFill>
                <a:latin typeface="Anton" pitchFamily="34" charset="0"/>
                <a:ea typeface="Anton" pitchFamily="34" charset="-122"/>
                <a:cs typeface="Anton" pitchFamily="34" charset="-120"/>
              </a:rPr>
              <a:t>AMBASSADOR</a:t>
            </a:r>
            <a:endParaRPr lang="en-US" sz="3825" dirty="0"/>
          </a:p>
        </p:txBody>
      </p:sp>
      <p:sp>
        <p:nvSpPr>
          <p:cNvPr id="7" name="Text 4"/>
          <p:cNvSpPr/>
          <p:nvPr/>
        </p:nvSpPr>
        <p:spPr>
          <a:xfrm>
            <a:off x="481889" y="2132381"/>
            <a:ext cx="6808622" cy="321869"/>
          </a:xfrm>
          <a:prstGeom prst="rect">
            <a:avLst/>
          </a:prstGeom>
          <a:noFill/>
          <a:ln/>
        </p:spPr>
        <p:txBody>
          <a:bodyPr wrap="square" lIns="0" tIns="0" rIns="0" bIns="0" rtlCol="0" anchor="ctr"/>
          <a:lstStyle/>
          <a:p>
            <a:pPr indent="0" marL="0">
              <a:buNone/>
            </a:pPr>
            <a:r>
              <a:rPr lang="en-US" sz="1488" i="1" dirty="0">
                <a:solidFill>
                  <a:srgbClr val="254F25"/>
                </a:solidFill>
                <a:latin typeface="Playfair Display" pitchFamily="34" charset="0"/>
                <a:ea typeface="Playfair Display" pitchFamily="34" charset="-122"/>
                <a:cs typeface="Playfair Display" pitchFamily="34" charset="-120"/>
              </a:rPr>
              <a:t>Bring competitive science to a school that does not have it yet.</a:t>
            </a:r>
            <a:endParaRPr lang="en-US" sz="1488" dirty="0"/>
          </a:p>
        </p:txBody>
      </p:sp>
      <p:sp>
        <p:nvSpPr>
          <p:cNvPr id="8" name="Text 5"/>
          <p:cNvSpPr/>
          <p:nvPr/>
        </p:nvSpPr>
        <p:spPr>
          <a:xfrm>
            <a:off x="481889" y="2574950"/>
            <a:ext cx="6808622" cy="754380"/>
          </a:xfrm>
          <a:prstGeom prst="rect">
            <a:avLst/>
          </a:prstGeom>
          <a:noFill/>
          <a:ln/>
        </p:spPr>
        <p:txBody>
          <a:bodyPr wrap="square" lIns="0" tIns="0" rIns="0" bIns="0" rtlCol="0" anchor="t"/>
          <a:lstStyle/>
          <a:p>
            <a:pPr indent="0" marL="0">
              <a:buNone/>
            </a:pPr>
            <a:r>
              <a:rPr lang="en-US" sz="1037" dirty="0">
                <a:solidFill>
                  <a:srgbClr val="6B756B"/>
                </a:solidFill>
                <a:latin typeface="DM Sans" pitchFamily="34" charset="0"/>
                <a:ea typeface="DM Sans" pitchFamily="34" charset="-122"/>
                <a:cs typeface="DM Sans" pitchFamily="34" charset="-120"/>
              </a:rPr>
              <a:t>Most schools without a science fair are not short on smart students. They are short on someone willing to start one. Ambassadors are the students who start it. You do not need to have competed before, and you do not need a particular grade point average.</a:t>
            </a:r>
            <a:endParaRPr lang="en-US" sz="1037" dirty="0"/>
          </a:p>
        </p:txBody>
      </p:sp>
      <p:sp>
        <p:nvSpPr>
          <p:cNvPr id="9" name="Text 6"/>
          <p:cNvSpPr/>
          <p:nvPr/>
        </p:nvSpPr>
        <p:spPr>
          <a:xfrm>
            <a:off x="481889" y="3460090"/>
            <a:ext cx="6808622" cy="261518"/>
          </a:xfrm>
          <a:prstGeom prst="rect">
            <a:avLst/>
          </a:prstGeom>
          <a:noFill/>
          <a:ln/>
        </p:spPr>
        <p:txBody>
          <a:bodyPr wrap="square" lIns="0" tIns="0" rIns="0" bIns="0" rtlCol="0" anchor="ctr"/>
          <a:lstStyle/>
          <a:p>
            <a:pPr indent="0" marL="0">
              <a:buNone/>
            </a:pPr>
            <a:r>
              <a:rPr lang="en-US" sz="977" b="1" spc="136" kern="0" dirty="0">
                <a:solidFill>
                  <a:srgbClr val="357A38"/>
                </a:solidFill>
                <a:latin typeface="DM Sans" pitchFamily="34" charset="0"/>
                <a:ea typeface="DM Sans" pitchFamily="34" charset="-122"/>
                <a:cs typeface="DM Sans" pitchFamily="34" charset="-120"/>
              </a:rPr>
              <a:t>WHAT AMBASSADORS DO</a:t>
            </a:r>
            <a:endParaRPr lang="en-US" sz="977" dirty="0"/>
          </a:p>
        </p:txBody>
      </p:sp>
      <p:sp>
        <p:nvSpPr>
          <p:cNvPr id="10" name="Shape 7"/>
          <p:cNvSpPr/>
          <p:nvPr/>
        </p:nvSpPr>
        <p:spPr>
          <a:xfrm>
            <a:off x="481889" y="3802075"/>
            <a:ext cx="6808622" cy="824789"/>
          </a:xfrm>
          <a:prstGeom prst="rect">
            <a:avLst/>
          </a:prstGeom>
          <a:solidFill>
            <a:srgbClr val="FFFFFF"/>
          </a:solidFill>
          <a:ln w="14034">
            <a:solidFill>
              <a:srgbClr val="6AB86E"/>
            </a:solidFill>
            <a:prstDash val="solid"/>
          </a:ln>
        </p:spPr>
      </p:sp>
      <p:sp>
        <p:nvSpPr>
          <p:cNvPr id="11" name="Shape 8"/>
          <p:cNvSpPr/>
          <p:nvPr/>
        </p:nvSpPr>
        <p:spPr>
          <a:xfrm>
            <a:off x="481889" y="3802075"/>
            <a:ext cx="427482" cy="824789"/>
          </a:xfrm>
          <a:prstGeom prst="rect">
            <a:avLst/>
          </a:prstGeom>
          <a:solidFill>
            <a:srgbClr val="1C3A1C"/>
          </a:solidFill>
          <a:ln/>
        </p:spPr>
      </p:sp>
      <p:sp>
        <p:nvSpPr>
          <p:cNvPr id="12" name="Text 9"/>
          <p:cNvSpPr/>
          <p:nvPr/>
        </p:nvSpPr>
        <p:spPr>
          <a:xfrm>
            <a:off x="481889" y="3802075"/>
            <a:ext cx="427482" cy="824789"/>
          </a:xfrm>
          <a:prstGeom prst="rect">
            <a:avLst/>
          </a:prstGeom>
          <a:noFill/>
          <a:ln/>
        </p:spPr>
        <p:txBody>
          <a:bodyPr wrap="square" lIns="0" tIns="0" rIns="0" bIns="0" rtlCol="0" anchor="ctr"/>
          <a:lstStyle/>
          <a:p>
            <a:pPr algn="ctr" indent="0" marL="0">
              <a:buNone/>
            </a:pPr>
            <a:r>
              <a:rPr lang="en-US" sz="1700" b="1" dirty="0">
                <a:solidFill>
                  <a:srgbClr val="6AB86E"/>
                </a:solidFill>
                <a:latin typeface="Playfair Display" pitchFamily="34" charset="0"/>
                <a:ea typeface="Playfair Display" pitchFamily="34" charset="-122"/>
                <a:cs typeface="Playfair Display" pitchFamily="34" charset="-120"/>
              </a:rPr>
              <a:t>01</a:t>
            </a:r>
            <a:endParaRPr lang="en-US" sz="1700" dirty="0"/>
          </a:p>
        </p:txBody>
      </p:sp>
      <p:sp>
        <p:nvSpPr>
          <p:cNvPr id="13" name="Text 10"/>
          <p:cNvSpPr/>
          <p:nvPr/>
        </p:nvSpPr>
        <p:spPr>
          <a:xfrm>
            <a:off x="1064819" y="3917546"/>
            <a:ext cx="6070244" cy="272180"/>
          </a:xfrm>
          <a:prstGeom prst="rect">
            <a:avLst/>
          </a:prstGeom>
          <a:noFill/>
          <a:ln/>
        </p:spPr>
        <p:txBody>
          <a:bodyPr wrap="square" lIns="0" tIns="0" rIns="0" bIns="0" rtlCol="0" anchor="ctr"/>
          <a:lstStyle/>
          <a:p>
            <a:pPr indent="0" marL="0">
              <a:buNone/>
            </a:pPr>
            <a:r>
              <a:rPr lang="en-US" sz="1207" b="1" dirty="0">
                <a:solidFill>
                  <a:srgbClr val="1C3A1C"/>
                </a:solidFill>
                <a:latin typeface="DM Sans" pitchFamily="34" charset="0"/>
                <a:ea typeface="DM Sans" pitchFamily="34" charset="-122"/>
                <a:cs typeface="DM Sans" pitchFamily="34" charset="-120"/>
              </a:rPr>
              <a:t>Recruit at your own school</a:t>
            </a:r>
            <a:endParaRPr lang="en-US" sz="1207" dirty="0"/>
          </a:p>
        </p:txBody>
      </p:sp>
      <p:sp>
        <p:nvSpPr>
          <p:cNvPr id="14" name="Text 11"/>
          <p:cNvSpPr/>
          <p:nvPr/>
        </p:nvSpPr>
        <p:spPr>
          <a:xfrm>
            <a:off x="1064819" y="4181478"/>
            <a:ext cx="6070244" cy="395899"/>
          </a:xfrm>
          <a:prstGeom prst="rect">
            <a:avLst/>
          </a:prstGeom>
          <a:noFill/>
          <a:ln/>
        </p:spPr>
        <p:txBody>
          <a:bodyPr wrap="square" lIns="0" tIns="0" rIns="0" bIns="0" rtlCol="0" anchor="t"/>
          <a:lstStyle/>
          <a:p>
            <a:pPr indent="0" marL="0">
              <a:buNone/>
            </a:pPr>
            <a:r>
              <a:rPr lang="en-US" sz="918" dirty="0">
                <a:solidFill>
                  <a:srgbClr val="6B756B"/>
                </a:solidFill>
                <a:latin typeface="DM Sans" pitchFamily="34" charset="0"/>
                <a:ea typeface="DM Sans" pitchFamily="34" charset="-122"/>
                <a:cs typeface="DM Sans" pitchFamily="34" charset="-120"/>
              </a:rPr>
              <a:t>Talk to classmates, run one interest meeting, and help your teacher get a fair off the ground. Most ambassadors start here.</a:t>
            </a:r>
            <a:endParaRPr lang="en-US" sz="918" dirty="0"/>
          </a:p>
        </p:txBody>
      </p:sp>
      <p:sp>
        <p:nvSpPr>
          <p:cNvPr id="15" name="Shape 12"/>
          <p:cNvSpPr/>
          <p:nvPr/>
        </p:nvSpPr>
        <p:spPr>
          <a:xfrm>
            <a:off x="481889" y="4737506"/>
            <a:ext cx="6808622" cy="824789"/>
          </a:xfrm>
          <a:prstGeom prst="rect">
            <a:avLst/>
          </a:prstGeom>
          <a:solidFill>
            <a:srgbClr val="FFFFFF"/>
          </a:solidFill>
          <a:ln w="14034">
            <a:solidFill>
              <a:srgbClr val="6AB86E"/>
            </a:solidFill>
            <a:prstDash val="solid"/>
          </a:ln>
        </p:spPr>
      </p:sp>
      <p:sp>
        <p:nvSpPr>
          <p:cNvPr id="16" name="Shape 13"/>
          <p:cNvSpPr/>
          <p:nvPr/>
        </p:nvSpPr>
        <p:spPr>
          <a:xfrm>
            <a:off x="481889" y="4737506"/>
            <a:ext cx="427482" cy="824789"/>
          </a:xfrm>
          <a:prstGeom prst="rect">
            <a:avLst/>
          </a:prstGeom>
          <a:solidFill>
            <a:srgbClr val="1C3A1C"/>
          </a:solidFill>
          <a:ln/>
        </p:spPr>
      </p:sp>
      <p:sp>
        <p:nvSpPr>
          <p:cNvPr id="17" name="Text 14"/>
          <p:cNvSpPr/>
          <p:nvPr/>
        </p:nvSpPr>
        <p:spPr>
          <a:xfrm>
            <a:off x="481889" y="4737506"/>
            <a:ext cx="427482" cy="824789"/>
          </a:xfrm>
          <a:prstGeom prst="rect">
            <a:avLst/>
          </a:prstGeom>
          <a:noFill/>
          <a:ln/>
        </p:spPr>
        <p:txBody>
          <a:bodyPr wrap="square" lIns="0" tIns="0" rIns="0" bIns="0" rtlCol="0" anchor="ctr"/>
          <a:lstStyle/>
          <a:p>
            <a:pPr algn="ctr" indent="0" marL="0">
              <a:buNone/>
            </a:pPr>
            <a:r>
              <a:rPr lang="en-US" sz="1700" b="1" dirty="0">
                <a:solidFill>
                  <a:srgbClr val="6AB86E"/>
                </a:solidFill>
                <a:latin typeface="Playfair Display" pitchFamily="34" charset="0"/>
                <a:ea typeface="Playfair Display" pitchFamily="34" charset="-122"/>
                <a:cs typeface="Playfair Display" pitchFamily="34" charset="-120"/>
              </a:rPr>
              <a:t>02</a:t>
            </a:r>
            <a:endParaRPr lang="en-US" sz="1700" dirty="0"/>
          </a:p>
        </p:txBody>
      </p:sp>
      <p:sp>
        <p:nvSpPr>
          <p:cNvPr id="18" name="Text 15"/>
          <p:cNvSpPr/>
          <p:nvPr/>
        </p:nvSpPr>
        <p:spPr>
          <a:xfrm>
            <a:off x="1064819" y="4852977"/>
            <a:ext cx="6070244" cy="272180"/>
          </a:xfrm>
          <a:prstGeom prst="rect">
            <a:avLst/>
          </a:prstGeom>
          <a:noFill/>
          <a:ln/>
        </p:spPr>
        <p:txBody>
          <a:bodyPr wrap="square" lIns="0" tIns="0" rIns="0" bIns="0" rtlCol="0" anchor="ctr"/>
          <a:lstStyle/>
          <a:p>
            <a:pPr indent="0" marL="0">
              <a:buNone/>
            </a:pPr>
            <a:r>
              <a:rPr lang="en-US" sz="1207" b="1" dirty="0">
                <a:solidFill>
                  <a:srgbClr val="1C3A1C"/>
                </a:solidFill>
                <a:latin typeface="DM Sans" pitchFamily="34" charset="0"/>
                <a:ea typeface="DM Sans" pitchFamily="34" charset="-122"/>
                <a:cs typeface="DM Sans" pitchFamily="34" charset="-120"/>
              </a:rPr>
              <a:t>Support a partner school</a:t>
            </a:r>
            <a:endParaRPr lang="en-US" sz="1207" dirty="0"/>
          </a:p>
        </p:txBody>
      </p:sp>
      <p:sp>
        <p:nvSpPr>
          <p:cNvPr id="19" name="Text 16"/>
          <p:cNvSpPr/>
          <p:nvPr/>
        </p:nvSpPr>
        <p:spPr>
          <a:xfrm>
            <a:off x="1064819" y="5116909"/>
            <a:ext cx="6070244" cy="395899"/>
          </a:xfrm>
          <a:prstGeom prst="rect">
            <a:avLst/>
          </a:prstGeom>
          <a:noFill/>
          <a:ln/>
        </p:spPr>
        <p:txBody>
          <a:bodyPr wrap="square" lIns="0" tIns="0" rIns="0" bIns="0" rtlCol="0" anchor="t"/>
          <a:lstStyle/>
          <a:p>
            <a:pPr indent="0" marL="0">
              <a:buNone/>
            </a:pPr>
            <a:r>
              <a:rPr lang="en-US" sz="918" dirty="0">
                <a:solidFill>
                  <a:srgbClr val="6B756B"/>
                </a:solidFill>
                <a:latin typeface="DM Sans" pitchFamily="34" charset="0"/>
                <a:ea typeface="DM Sans" pitchFamily="34" charset="-122"/>
                <a:cs typeface="DM Sans" pitchFamily="34" charset="-120"/>
              </a:rPr>
              <a:t>Get paired with a nearby school that has fewer than ten interested students, and help them launch a club through the FairGame Club Launch program.</a:t>
            </a:r>
            <a:endParaRPr lang="en-US" sz="918" dirty="0"/>
          </a:p>
        </p:txBody>
      </p:sp>
      <p:sp>
        <p:nvSpPr>
          <p:cNvPr id="20" name="Shape 17"/>
          <p:cNvSpPr/>
          <p:nvPr/>
        </p:nvSpPr>
        <p:spPr>
          <a:xfrm>
            <a:off x="481889" y="5672938"/>
            <a:ext cx="6808622" cy="824789"/>
          </a:xfrm>
          <a:prstGeom prst="rect">
            <a:avLst/>
          </a:prstGeom>
          <a:solidFill>
            <a:srgbClr val="FFFFFF"/>
          </a:solidFill>
          <a:ln w="14034">
            <a:solidFill>
              <a:srgbClr val="6AB86E"/>
            </a:solidFill>
            <a:prstDash val="solid"/>
          </a:ln>
        </p:spPr>
      </p:sp>
      <p:sp>
        <p:nvSpPr>
          <p:cNvPr id="21" name="Shape 18"/>
          <p:cNvSpPr/>
          <p:nvPr/>
        </p:nvSpPr>
        <p:spPr>
          <a:xfrm>
            <a:off x="481889" y="5672938"/>
            <a:ext cx="427482" cy="824789"/>
          </a:xfrm>
          <a:prstGeom prst="rect">
            <a:avLst/>
          </a:prstGeom>
          <a:solidFill>
            <a:srgbClr val="1C3A1C"/>
          </a:solidFill>
          <a:ln/>
        </p:spPr>
      </p:sp>
      <p:sp>
        <p:nvSpPr>
          <p:cNvPr id="22" name="Text 19"/>
          <p:cNvSpPr/>
          <p:nvPr/>
        </p:nvSpPr>
        <p:spPr>
          <a:xfrm>
            <a:off x="481889" y="5672938"/>
            <a:ext cx="427482" cy="824789"/>
          </a:xfrm>
          <a:prstGeom prst="rect">
            <a:avLst/>
          </a:prstGeom>
          <a:noFill/>
          <a:ln/>
        </p:spPr>
        <p:txBody>
          <a:bodyPr wrap="square" lIns="0" tIns="0" rIns="0" bIns="0" rtlCol="0" anchor="ctr"/>
          <a:lstStyle/>
          <a:p>
            <a:pPr algn="ctr" indent="0" marL="0">
              <a:buNone/>
            </a:pPr>
            <a:r>
              <a:rPr lang="en-US" sz="1700" b="1" dirty="0">
                <a:solidFill>
                  <a:srgbClr val="6AB86E"/>
                </a:solidFill>
                <a:latin typeface="Playfair Display" pitchFamily="34" charset="0"/>
                <a:ea typeface="Playfair Display" pitchFamily="34" charset="-122"/>
                <a:cs typeface="Playfair Display" pitchFamily="34" charset="-120"/>
              </a:rPr>
              <a:t>03</a:t>
            </a:r>
            <a:endParaRPr lang="en-US" sz="1700" dirty="0"/>
          </a:p>
        </p:txBody>
      </p:sp>
      <p:sp>
        <p:nvSpPr>
          <p:cNvPr id="23" name="Text 20"/>
          <p:cNvSpPr/>
          <p:nvPr/>
        </p:nvSpPr>
        <p:spPr>
          <a:xfrm>
            <a:off x="1064819" y="5788408"/>
            <a:ext cx="6070244" cy="272180"/>
          </a:xfrm>
          <a:prstGeom prst="rect">
            <a:avLst/>
          </a:prstGeom>
          <a:noFill/>
          <a:ln/>
        </p:spPr>
        <p:txBody>
          <a:bodyPr wrap="square" lIns="0" tIns="0" rIns="0" bIns="0" rtlCol="0" anchor="ctr"/>
          <a:lstStyle/>
          <a:p>
            <a:pPr indent="0" marL="0">
              <a:buNone/>
            </a:pPr>
            <a:r>
              <a:rPr lang="en-US" sz="1207" b="1" dirty="0">
                <a:solidFill>
                  <a:srgbClr val="1C3A1C"/>
                </a:solidFill>
                <a:latin typeface="DM Sans" pitchFamily="34" charset="0"/>
                <a:ea typeface="DM Sans" pitchFamily="34" charset="-122"/>
                <a:cs typeface="DM Sans" pitchFamily="34" charset="-120"/>
              </a:rPr>
              <a:t>Represent FairGame publicly</a:t>
            </a:r>
            <a:endParaRPr lang="en-US" sz="1207" dirty="0"/>
          </a:p>
        </p:txBody>
      </p:sp>
      <p:sp>
        <p:nvSpPr>
          <p:cNvPr id="24" name="Text 21"/>
          <p:cNvSpPr/>
          <p:nvPr/>
        </p:nvSpPr>
        <p:spPr>
          <a:xfrm>
            <a:off x="1064819" y="6052340"/>
            <a:ext cx="6070244" cy="395899"/>
          </a:xfrm>
          <a:prstGeom prst="rect">
            <a:avLst/>
          </a:prstGeom>
          <a:noFill/>
          <a:ln/>
        </p:spPr>
        <p:txBody>
          <a:bodyPr wrap="square" lIns="0" tIns="0" rIns="0" bIns="0" rtlCol="0" anchor="t"/>
          <a:lstStyle/>
          <a:p>
            <a:pPr indent="0" marL="0">
              <a:buNone/>
            </a:pPr>
            <a:r>
              <a:rPr lang="en-US" sz="918" dirty="0">
                <a:solidFill>
                  <a:srgbClr val="6B756B"/>
                </a:solidFill>
                <a:latin typeface="DM Sans" pitchFamily="34" charset="0"/>
                <a:ea typeface="DM Sans" pitchFamily="34" charset="-122"/>
                <a:cs typeface="DM Sans" pitchFamily="34" charset="-120"/>
              </a:rPr>
              <a:t>Staff the booth at State Science Day, speak at events, and appear in outreach materials that reach schools we have not met yet.</a:t>
            </a:r>
            <a:endParaRPr lang="en-US" sz="918" dirty="0"/>
          </a:p>
        </p:txBody>
      </p:sp>
      <p:sp>
        <p:nvSpPr>
          <p:cNvPr id="25" name="Text 22"/>
          <p:cNvSpPr/>
          <p:nvPr/>
        </p:nvSpPr>
        <p:spPr>
          <a:xfrm>
            <a:off x="481889" y="6708953"/>
            <a:ext cx="6808622" cy="261518"/>
          </a:xfrm>
          <a:prstGeom prst="rect">
            <a:avLst/>
          </a:prstGeom>
          <a:noFill/>
          <a:ln/>
        </p:spPr>
        <p:txBody>
          <a:bodyPr wrap="square" lIns="0" tIns="0" rIns="0" bIns="0" rtlCol="0" anchor="ctr"/>
          <a:lstStyle/>
          <a:p>
            <a:pPr indent="0" marL="0">
              <a:buNone/>
            </a:pPr>
            <a:r>
              <a:rPr lang="en-US" sz="977" b="1" spc="136" kern="0" dirty="0">
                <a:solidFill>
                  <a:srgbClr val="357A38"/>
                </a:solidFill>
                <a:latin typeface="DM Sans" pitchFamily="34" charset="0"/>
                <a:ea typeface="DM Sans" pitchFamily="34" charset="-122"/>
                <a:cs typeface="DM Sans" pitchFamily="34" charset="-120"/>
              </a:rPr>
              <a:t>WHAT YOU GET</a:t>
            </a:r>
            <a:endParaRPr lang="en-US" sz="977" dirty="0"/>
          </a:p>
        </p:txBody>
      </p:sp>
      <p:sp>
        <p:nvSpPr>
          <p:cNvPr id="26" name="Shape 23"/>
          <p:cNvSpPr/>
          <p:nvPr/>
        </p:nvSpPr>
        <p:spPr>
          <a:xfrm>
            <a:off x="481889" y="7050938"/>
            <a:ext cx="2156064" cy="985723"/>
          </a:xfrm>
          <a:prstGeom prst="rect">
            <a:avLst/>
          </a:prstGeom>
          <a:solidFill>
            <a:srgbClr val="E8F5E9"/>
          </a:solidFill>
          <a:ln/>
        </p:spPr>
      </p:sp>
      <p:sp>
        <p:nvSpPr>
          <p:cNvPr id="27" name="Text 24"/>
          <p:cNvSpPr/>
          <p:nvPr/>
        </p:nvSpPr>
        <p:spPr>
          <a:xfrm>
            <a:off x="618061" y="7151522"/>
            <a:ext cx="1929110" cy="301752"/>
          </a:xfrm>
          <a:prstGeom prst="rect">
            <a:avLst/>
          </a:prstGeom>
          <a:noFill/>
          <a:ln/>
        </p:spPr>
        <p:txBody>
          <a:bodyPr wrap="square" lIns="0" tIns="0" rIns="0" bIns="0" rtlCol="0" anchor="t"/>
          <a:lstStyle/>
          <a:p>
            <a:pPr indent="0" marL="0">
              <a:buNone/>
            </a:pPr>
            <a:r>
              <a:rPr lang="en-US" sz="969" b="1" dirty="0">
                <a:solidFill>
                  <a:srgbClr val="1C3A1C"/>
                </a:solidFill>
                <a:latin typeface="DM Sans" pitchFamily="34" charset="0"/>
                <a:ea typeface="DM Sans" pitchFamily="34" charset="-122"/>
                <a:cs typeface="DM Sans" pitchFamily="34" charset="-120"/>
              </a:rPr>
              <a:t>A recommendation letter</a:t>
            </a:r>
            <a:endParaRPr lang="en-US" sz="969" dirty="0"/>
          </a:p>
        </p:txBody>
      </p:sp>
      <p:sp>
        <p:nvSpPr>
          <p:cNvPr id="28" name="Text 25"/>
          <p:cNvSpPr/>
          <p:nvPr/>
        </p:nvSpPr>
        <p:spPr>
          <a:xfrm>
            <a:off x="618061" y="7473391"/>
            <a:ext cx="1929110" cy="502920"/>
          </a:xfrm>
          <a:prstGeom prst="rect">
            <a:avLst/>
          </a:prstGeom>
          <a:noFill/>
          <a:ln/>
        </p:spPr>
        <p:txBody>
          <a:bodyPr wrap="square" lIns="0" tIns="0" rIns="0" bIns="0" rtlCol="0" anchor="t"/>
          <a:lstStyle/>
          <a:p>
            <a:pPr indent="0" marL="0">
              <a:buNone/>
            </a:pPr>
            <a:r>
              <a:rPr lang="en-US" sz="833" dirty="0">
                <a:solidFill>
                  <a:srgbClr val="254F25"/>
                </a:solidFill>
                <a:latin typeface="DM Sans" pitchFamily="34" charset="0"/>
                <a:ea typeface="DM Sans" pitchFamily="34" charset="-122"/>
                <a:cs typeface="DM Sans" pitchFamily="34" charset="-120"/>
              </a:rPr>
              <a:t>Written by the FairGame team after a completed term, describing what you actually did.</a:t>
            </a:r>
            <a:endParaRPr lang="en-US" sz="833" dirty="0"/>
          </a:p>
        </p:txBody>
      </p:sp>
      <p:sp>
        <p:nvSpPr>
          <p:cNvPr id="29" name="Shape 26"/>
          <p:cNvSpPr/>
          <p:nvPr/>
        </p:nvSpPr>
        <p:spPr>
          <a:xfrm>
            <a:off x="2751430" y="7050938"/>
            <a:ext cx="2156064" cy="985723"/>
          </a:xfrm>
          <a:prstGeom prst="rect">
            <a:avLst/>
          </a:prstGeom>
          <a:solidFill>
            <a:srgbClr val="E8F5E9"/>
          </a:solidFill>
          <a:ln/>
        </p:spPr>
      </p:sp>
      <p:sp>
        <p:nvSpPr>
          <p:cNvPr id="30" name="Text 27"/>
          <p:cNvSpPr/>
          <p:nvPr/>
        </p:nvSpPr>
        <p:spPr>
          <a:xfrm>
            <a:off x="2887602" y="7151522"/>
            <a:ext cx="1929110" cy="301752"/>
          </a:xfrm>
          <a:prstGeom prst="rect">
            <a:avLst/>
          </a:prstGeom>
          <a:noFill/>
          <a:ln/>
        </p:spPr>
        <p:txBody>
          <a:bodyPr wrap="square" lIns="0" tIns="0" rIns="0" bIns="0" rtlCol="0" anchor="t"/>
          <a:lstStyle/>
          <a:p>
            <a:pPr indent="0" marL="0">
              <a:buNone/>
            </a:pPr>
            <a:r>
              <a:rPr lang="en-US" sz="969" b="1" dirty="0">
                <a:solidFill>
                  <a:srgbClr val="1C3A1C"/>
                </a:solidFill>
                <a:latin typeface="DM Sans" pitchFamily="34" charset="0"/>
                <a:ea typeface="DM Sans" pitchFamily="34" charset="-122"/>
                <a:cs typeface="DM Sans" pitchFamily="34" charset="-120"/>
              </a:rPr>
              <a:t>Verified service hours</a:t>
            </a:r>
            <a:endParaRPr lang="en-US" sz="969" dirty="0"/>
          </a:p>
        </p:txBody>
      </p:sp>
      <p:sp>
        <p:nvSpPr>
          <p:cNvPr id="31" name="Text 28"/>
          <p:cNvSpPr/>
          <p:nvPr/>
        </p:nvSpPr>
        <p:spPr>
          <a:xfrm>
            <a:off x="2887602" y="7473391"/>
            <a:ext cx="1929110" cy="502920"/>
          </a:xfrm>
          <a:prstGeom prst="rect">
            <a:avLst/>
          </a:prstGeom>
          <a:noFill/>
          <a:ln/>
        </p:spPr>
        <p:txBody>
          <a:bodyPr wrap="square" lIns="0" tIns="0" rIns="0" bIns="0" rtlCol="0" anchor="t"/>
          <a:lstStyle/>
          <a:p>
            <a:pPr indent="0" marL="0">
              <a:buNone/>
            </a:pPr>
            <a:r>
              <a:rPr lang="en-US" sz="833" dirty="0">
                <a:solidFill>
                  <a:srgbClr val="254F25"/>
                </a:solidFill>
                <a:latin typeface="DM Sans" pitchFamily="34" charset="0"/>
                <a:ea typeface="DM Sans" pitchFamily="34" charset="-122"/>
                <a:cs typeface="DM Sans" pitchFamily="34" charset="-120"/>
              </a:rPr>
              <a:t>Logged monthly and documented for honor societies, graduation requirements, and scholarships.</a:t>
            </a:r>
            <a:endParaRPr lang="en-US" sz="833" dirty="0"/>
          </a:p>
        </p:txBody>
      </p:sp>
      <p:sp>
        <p:nvSpPr>
          <p:cNvPr id="32" name="Shape 29"/>
          <p:cNvSpPr/>
          <p:nvPr/>
        </p:nvSpPr>
        <p:spPr>
          <a:xfrm>
            <a:off x="5020970" y="7050938"/>
            <a:ext cx="2156064" cy="985723"/>
          </a:xfrm>
          <a:prstGeom prst="rect">
            <a:avLst/>
          </a:prstGeom>
          <a:solidFill>
            <a:srgbClr val="E8F5E9"/>
          </a:solidFill>
          <a:ln/>
        </p:spPr>
      </p:sp>
      <p:sp>
        <p:nvSpPr>
          <p:cNvPr id="33" name="Text 30"/>
          <p:cNvSpPr/>
          <p:nvPr/>
        </p:nvSpPr>
        <p:spPr>
          <a:xfrm>
            <a:off x="5157143" y="7151522"/>
            <a:ext cx="1929110" cy="301752"/>
          </a:xfrm>
          <a:prstGeom prst="rect">
            <a:avLst/>
          </a:prstGeom>
          <a:noFill/>
          <a:ln/>
        </p:spPr>
        <p:txBody>
          <a:bodyPr wrap="square" lIns="0" tIns="0" rIns="0" bIns="0" rtlCol="0" anchor="t"/>
          <a:lstStyle/>
          <a:p>
            <a:pPr indent="0" marL="0">
              <a:buNone/>
            </a:pPr>
            <a:r>
              <a:rPr lang="en-US" sz="969" b="1" dirty="0">
                <a:solidFill>
                  <a:srgbClr val="1C3A1C"/>
                </a:solidFill>
                <a:latin typeface="DM Sans" pitchFamily="34" charset="0"/>
                <a:ea typeface="DM Sans" pitchFamily="34" charset="-122"/>
                <a:cs typeface="DM Sans" pitchFamily="34" charset="-120"/>
              </a:rPr>
              <a:t>A certificate and public credit</a:t>
            </a:r>
            <a:endParaRPr lang="en-US" sz="969" dirty="0"/>
          </a:p>
        </p:txBody>
      </p:sp>
      <p:sp>
        <p:nvSpPr>
          <p:cNvPr id="34" name="Text 31"/>
          <p:cNvSpPr/>
          <p:nvPr/>
        </p:nvSpPr>
        <p:spPr>
          <a:xfrm>
            <a:off x="5157143" y="7473391"/>
            <a:ext cx="1929110" cy="502920"/>
          </a:xfrm>
          <a:prstGeom prst="rect">
            <a:avLst/>
          </a:prstGeom>
          <a:noFill/>
          <a:ln/>
        </p:spPr>
        <p:txBody>
          <a:bodyPr wrap="square" lIns="0" tIns="0" rIns="0" bIns="0" rtlCol="0" anchor="t"/>
          <a:lstStyle/>
          <a:p>
            <a:pPr indent="0" marL="0">
              <a:buNone/>
            </a:pPr>
            <a:r>
              <a:rPr lang="en-US" sz="833" dirty="0">
                <a:solidFill>
                  <a:srgbClr val="254F25"/>
                </a:solidFill>
                <a:latin typeface="DM Sans" pitchFamily="34" charset="0"/>
                <a:ea typeface="DM Sans" pitchFamily="34" charset="-122"/>
                <a:cs typeface="DM Sans" pitchFamily="34" charset="-120"/>
              </a:rPr>
              <a:t>Named on the FairGame website and in our outreach content at the end of your term.</a:t>
            </a:r>
            <a:endParaRPr lang="en-US" sz="833" dirty="0"/>
          </a:p>
        </p:txBody>
      </p:sp>
      <p:sp>
        <p:nvSpPr>
          <p:cNvPr id="35" name="Shape 32"/>
          <p:cNvSpPr/>
          <p:nvPr/>
        </p:nvSpPr>
        <p:spPr>
          <a:xfrm>
            <a:off x="481889" y="8177479"/>
            <a:ext cx="6808622" cy="724205"/>
          </a:xfrm>
          <a:prstGeom prst="rect">
            <a:avLst/>
          </a:prstGeom>
          <a:solidFill>
            <a:srgbClr val="1C3A1C"/>
          </a:solidFill>
          <a:ln/>
        </p:spPr>
      </p:sp>
      <p:sp>
        <p:nvSpPr>
          <p:cNvPr id="36" name="Text 33"/>
          <p:cNvSpPr/>
          <p:nvPr/>
        </p:nvSpPr>
        <p:spPr>
          <a:xfrm>
            <a:off x="618061" y="8257946"/>
            <a:ext cx="1429811" cy="321869"/>
          </a:xfrm>
          <a:prstGeom prst="rect">
            <a:avLst/>
          </a:prstGeom>
          <a:noFill/>
          <a:ln/>
        </p:spPr>
        <p:txBody>
          <a:bodyPr wrap="square" lIns="0" tIns="0" rIns="0" bIns="0" rtlCol="0" anchor="ctr"/>
          <a:lstStyle/>
          <a:p>
            <a:pPr indent="0" marL="0">
              <a:buNone/>
            </a:pPr>
            <a:r>
              <a:rPr lang="en-US" sz="1785" b="1" dirty="0">
                <a:solidFill>
                  <a:srgbClr val="6AB86E"/>
                </a:solidFill>
                <a:latin typeface="Playfair Display" pitchFamily="34" charset="0"/>
                <a:ea typeface="Playfair Display" pitchFamily="34" charset="-122"/>
                <a:cs typeface="Playfair Display" pitchFamily="34" charset="-120"/>
              </a:rPr>
              <a:t>2 to 4</a:t>
            </a:r>
            <a:endParaRPr lang="en-US" sz="1785" dirty="0"/>
          </a:p>
        </p:txBody>
      </p:sp>
      <p:sp>
        <p:nvSpPr>
          <p:cNvPr id="37" name="Text 34"/>
          <p:cNvSpPr/>
          <p:nvPr/>
        </p:nvSpPr>
        <p:spPr>
          <a:xfrm>
            <a:off x="618061" y="8579815"/>
            <a:ext cx="1429811" cy="261518"/>
          </a:xfrm>
          <a:prstGeom prst="rect">
            <a:avLst/>
          </a:prstGeom>
          <a:noFill/>
          <a:ln/>
        </p:spPr>
        <p:txBody>
          <a:bodyPr wrap="square" lIns="0" tIns="0" rIns="0" bIns="0" rtlCol="0" anchor="ctr"/>
          <a:lstStyle/>
          <a:p>
            <a:pPr indent="0" marL="0">
              <a:buNone/>
            </a:pPr>
            <a:r>
              <a:rPr lang="en-US" sz="807" dirty="0">
                <a:solidFill>
                  <a:srgbClr val="B9CDB9"/>
                </a:solidFill>
                <a:latin typeface="DM Sans" pitchFamily="34" charset="0"/>
                <a:ea typeface="DM Sans" pitchFamily="34" charset="-122"/>
                <a:cs typeface="DM Sans" pitchFamily="34" charset="-120"/>
              </a:rPr>
              <a:t>hours per month</a:t>
            </a:r>
            <a:endParaRPr lang="en-US" sz="807" dirty="0"/>
          </a:p>
        </p:txBody>
      </p:sp>
      <p:sp>
        <p:nvSpPr>
          <p:cNvPr id="38" name="Text 35"/>
          <p:cNvSpPr/>
          <p:nvPr/>
        </p:nvSpPr>
        <p:spPr>
          <a:xfrm>
            <a:off x="2320217" y="8257946"/>
            <a:ext cx="1429811" cy="321869"/>
          </a:xfrm>
          <a:prstGeom prst="rect">
            <a:avLst/>
          </a:prstGeom>
          <a:noFill/>
          <a:ln/>
        </p:spPr>
        <p:txBody>
          <a:bodyPr wrap="square" lIns="0" tIns="0" rIns="0" bIns="0" rtlCol="0" anchor="ctr"/>
          <a:lstStyle/>
          <a:p>
            <a:pPr indent="0" marL="0">
              <a:buNone/>
            </a:pPr>
            <a:r>
              <a:rPr lang="en-US" sz="1785" b="1" dirty="0">
                <a:solidFill>
                  <a:srgbClr val="6AB86E"/>
                </a:solidFill>
                <a:latin typeface="Playfair Display" pitchFamily="34" charset="0"/>
                <a:ea typeface="Playfair Display" pitchFamily="34" charset="-122"/>
                <a:cs typeface="Playfair Display" pitchFamily="34" charset="-120"/>
              </a:rPr>
              <a:t>1</a:t>
            </a:r>
            <a:endParaRPr lang="en-US" sz="1785" dirty="0"/>
          </a:p>
        </p:txBody>
      </p:sp>
      <p:sp>
        <p:nvSpPr>
          <p:cNvPr id="39" name="Text 36"/>
          <p:cNvSpPr/>
          <p:nvPr/>
        </p:nvSpPr>
        <p:spPr>
          <a:xfrm>
            <a:off x="2320217" y="8579815"/>
            <a:ext cx="1429811" cy="261518"/>
          </a:xfrm>
          <a:prstGeom prst="rect">
            <a:avLst/>
          </a:prstGeom>
          <a:noFill/>
          <a:ln/>
        </p:spPr>
        <p:txBody>
          <a:bodyPr wrap="square" lIns="0" tIns="0" rIns="0" bIns="0" rtlCol="0" anchor="ctr"/>
          <a:lstStyle/>
          <a:p>
            <a:pPr indent="0" marL="0">
              <a:buNone/>
            </a:pPr>
            <a:r>
              <a:rPr lang="en-US" sz="807" dirty="0">
                <a:solidFill>
                  <a:srgbClr val="B9CDB9"/>
                </a:solidFill>
                <a:latin typeface="DM Sans" pitchFamily="34" charset="0"/>
                <a:ea typeface="DM Sans" pitchFamily="34" charset="-122"/>
                <a:cs typeface="DM Sans" pitchFamily="34" charset="-120"/>
              </a:rPr>
              <a:t>school year, renewable</a:t>
            </a:r>
            <a:endParaRPr lang="en-US" sz="807" dirty="0"/>
          </a:p>
        </p:txBody>
      </p:sp>
      <p:sp>
        <p:nvSpPr>
          <p:cNvPr id="40" name="Text 37"/>
          <p:cNvSpPr/>
          <p:nvPr/>
        </p:nvSpPr>
        <p:spPr>
          <a:xfrm>
            <a:off x="4022372" y="8257946"/>
            <a:ext cx="1429811" cy="321869"/>
          </a:xfrm>
          <a:prstGeom prst="rect">
            <a:avLst/>
          </a:prstGeom>
          <a:noFill/>
          <a:ln/>
        </p:spPr>
        <p:txBody>
          <a:bodyPr wrap="square" lIns="0" tIns="0" rIns="0" bIns="0" rtlCol="0" anchor="ctr"/>
          <a:lstStyle/>
          <a:p>
            <a:pPr indent="0" marL="0">
              <a:buNone/>
            </a:pPr>
            <a:r>
              <a:rPr lang="en-US" sz="1785" b="1" dirty="0">
                <a:solidFill>
                  <a:srgbClr val="6AB86E"/>
                </a:solidFill>
                <a:latin typeface="Playfair Display" pitchFamily="34" charset="0"/>
                <a:ea typeface="Playfair Display" pitchFamily="34" charset="-122"/>
                <a:cs typeface="Playfair Display" pitchFamily="34" charset="-120"/>
              </a:rPr>
              <a:t>0</a:t>
            </a:r>
            <a:endParaRPr lang="en-US" sz="1785" dirty="0"/>
          </a:p>
        </p:txBody>
      </p:sp>
      <p:sp>
        <p:nvSpPr>
          <p:cNvPr id="41" name="Text 38"/>
          <p:cNvSpPr/>
          <p:nvPr/>
        </p:nvSpPr>
        <p:spPr>
          <a:xfrm>
            <a:off x="4022372" y="8579815"/>
            <a:ext cx="1429811" cy="261518"/>
          </a:xfrm>
          <a:prstGeom prst="rect">
            <a:avLst/>
          </a:prstGeom>
          <a:noFill/>
          <a:ln/>
        </p:spPr>
        <p:txBody>
          <a:bodyPr wrap="square" lIns="0" tIns="0" rIns="0" bIns="0" rtlCol="0" anchor="ctr"/>
          <a:lstStyle/>
          <a:p>
            <a:pPr indent="0" marL="0">
              <a:buNone/>
            </a:pPr>
            <a:r>
              <a:rPr lang="en-US" sz="807" dirty="0">
                <a:solidFill>
                  <a:srgbClr val="B9CDB9"/>
                </a:solidFill>
                <a:latin typeface="DM Sans" pitchFamily="34" charset="0"/>
                <a:ea typeface="DM Sans" pitchFamily="34" charset="-122"/>
                <a:cs typeface="DM Sans" pitchFamily="34" charset="-120"/>
              </a:rPr>
              <a:t>cost, ever</a:t>
            </a:r>
            <a:endParaRPr lang="en-US" sz="807" dirty="0"/>
          </a:p>
        </p:txBody>
      </p:sp>
      <p:sp>
        <p:nvSpPr>
          <p:cNvPr id="42" name="Text 39"/>
          <p:cNvSpPr/>
          <p:nvPr/>
        </p:nvSpPr>
        <p:spPr>
          <a:xfrm>
            <a:off x="5724528" y="8257946"/>
            <a:ext cx="1429811" cy="321869"/>
          </a:xfrm>
          <a:prstGeom prst="rect">
            <a:avLst/>
          </a:prstGeom>
          <a:noFill/>
          <a:ln/>
        </p:spPr>
        <p:txBody>
          <a:bodyPr wrap="square" lIns="0" tIns="0" rIns="0" bIns="0" rtlCol="0" anchor="ctr"/>
          <a:lstStyle/>
          <a:p>
            <a:pPr indent="0" marL="0">
              <a:buNone/>
            </a:pPr>
            <a:r>
              <a:rPr lang="en-US" sz="1785" b="1" dirty="0">
                <a:solidFill>
                  <a:srgbClr val="6AB86E"/>
                </a:solidFill>
                <a:latin typeface="Playfair Display" pitchFamily="34" charset="0"/>
                <a:ea typeface="Playfair Display" pitchFamily="34" charset="-122"/>
                <a:cs typeface="Playfair Display" pitchFamily="34" charset="-120"/>
              </a:rPr>
              <a:t>9 to 12</a:t>
            </a:r>
            <a:endParaRPr lang="en-US" sz="1785" dirty="0"/>
          </a:p>
        </p:txBody>
      </p:sp>
      <p:sp>
        <p:nvSpPr>
          <p:cNvPr id="43" name="Text 40"/>
          <p:cNvSpPr/>
          <p:nvPr/>
        </p:nvSpPr>
        <p:spPr>
          <a:xfrm>
            <a:off x="5724528" y="8579815"/>
            <a:ext cx="1429811" cy="261518"/>
          </a:xfrm>
          <a:prstGeom prst="rect">
            <a:avLst/>
          </a:prstGeom>
          <a:noFill/>
          <a:ln/>
        </p:spPr>
        <p:txBody>
          <a:bodyPr wrap="square" lIns="0" tIns="0" rIns="0" bIns="0" rtlCol="0" anchor="ctr"/>
          <a:lstStyle/>
          <a:p>
            <a:pPr indent="0" marL="0">
              <a:buNone/>
            </a:pPr>
            <a:r>
              <a:rPr lang="en-US" sz="807" dirty="0">
                <a:solidFill>
                  <a:srgbClr val="B9CDB9"/>
                </a:solidFill>
                <a:latin typeface="DM Sans" pitchFamily="34" charset="0"/>
                <a:ea typeface="DM Sans" pitchFamily="34" charset="-122"/>
                <a:cs typeface="DM Sans" pitchFamily="34" charset="-120"/>
              </a:rPr>
              <a:t>grades eligible</a:t>
            </a:r>
            <a:endParaRPr lang="en-US" sz="807" dirty="0"/>
          </a:p>
        </p:txBody>
      </p:sp>
      <p:sp>
        <p:nvSpPr>
          <p:cNvPr id="44" name="Shape 41"/>
          <p:cNvSpPr/>
          <p:nvPr/>
        </p:nvSpPr>
        <p:spPr>
          <a:xfrm>
            <a:off x="481889" y="9605772"/>
            <a:ext cx="6808622" cy="0"/>
          </a:xfrm>
          <a:prstGeom prst="line">
            <a:avLst/>
          </a:prstGeom>
          <a:noFill/>
          <a:ln w="12700">
            <a:solidFill>
              <a:srgbClr val="E2E6E2"/>
            </a:solidFill>
            <a:prstDash val="solid"/>
          </a:ln>
        </p:spPr>
      </p:sp>
      <p:sp>
        <p:nvSpPr>
          <p:cNvPr id="45" name="Text 42"/>
          <p:cNvSpPr/>
          <p:nvPr/>
        </p:nvSpPr>
        <p:spPr>
          <a:xfrm>
            <a:off x="481889" y="9656064"/>
            <a:ext cx="4085173" cy="251460"/>
          </a:xfrm>
          <a:prstGeom prst="rect">
            <a:avLst/>
          </a:prstGeom>
          <a:noFill/>
          <a:ln/>
        </p:spPr>
        <p:txBody>
          <a:bodyPr wrap="square" lIns="0" tIns="0" rIns="0" bIns="0" rtlCol="0" anchor="ctr"/>
          <a:lstStyle/>
          <a:p>
            <a:pPr indent="0" marL="0">
              <a:buNone/>
            </a:pPr>
            <a:r>
              <a:rPr lang="en-US" sz="731" dirty="0">
                <a:solidFill>
                  <a:srgbClr val="6B756B"/>
                </a:solidFill>
                <a:latin typeface="DM Sans" pitchFamily="34" charset="0"/>
                <a:ea typeface="DM Sans" pitchFamily="34" charset="-122"/>
                <a:cs typeface="DM Sans" pitchFamily="34" charset="-120"/>
              </a:rPr>
              <a:t>FairGame Initiative  |  Student Ambassador Program</a:t>
            </a:r>
            <a:endParaRPr lang="en-US" sz="731" dirty="0"/>
          </a:p>
        </p:txBody>
      </p:sp>
      <p:sp>
        <p:nvSpPr>
          <p:cNvPr id="46" name="Text 43"/>
          <p:cNvSpPr/>
          <p:nvPr/>
        </p:nvSpPr>
        <p:spPr>
          <a:xfrm>
            <a:off x="4567062" y="9656064"/>
            <a:ext cx="2723449" cy="251460"/>
          </a:xfrm>
          <a:prstGeom prst="rect">
            <a:avLst/>
          </a:prstGeom>
          <a:noFill/>
          <a:ln/>
        </p:spPr>
        <p:txBody>
          <a:bodyPr wrap="square" lIns="0" tIns="0" rIns="0" bIns="0" rtlCol="0" anchor="ctr"/>
          <a:lstStyle/>
          <a:p>
            <a:pPr algn="r" indent="0" marL="0">
              <a:buNone/>
            </a:pPr>
            <a:r>
              <a:rPr lang="en-US" sz="731" i="1" dirty="0">
                <a:solidFill>
                  <a:srgbClr val="E0615A"/>
                </a:solidFill>
                <a:latin typeface="Playfair Display" pitchFamily="34" charset="0"/>
                <a:ea typeface="Playfair Display" pitchFamily="34" charset="-122"/>
                <a:cs typeface="Playfair Display" pitchFamily="34" charset="-120"/>
              </a:rPr>
              <a:t>Science fairs without barriers.</a:t>
            </a:r>
            <a:endParaRPr lang="en-US" sz="73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72400" cy="1508760"/>
          </a:xfrm>
          <a:prstGeom prst="rect">
            <a:avLst/>
          </a:prstGeom>
          <a:solidFill>
            <a:srgbClr val="1C3A1C"/>
          </a:solidFill>
          <a:ln/>
        </p:spPr>
      </p:sp>
      <p:pic>
        <p:nvPicPr>
          <p:cNvPr id="3" name="Image 0" descr="/tmp/fairgame_logo_white.png">    </p:cNvPr>
          <p:cNvPicPr>
            <a:picLocks noChangeAspect="1"/>
          </p:cNvPicPr>
          <p:nvPr/>
        </p:nvPicPr>
        <p:blipFill>
          <a:blip r:embed="rId1"/>
          <a:stretch>
            <a:fillRect/>
          </a:stretch>
        </p:blipFill>
        <p:spPr>
          <a:xfrm>
            <a:off x="7018161" y="392278"/>
            <a:ext cx="404481" cy="663854"/>
          </a:xfrm>
          <a:prstGeom prst="rect">
            <a:avLst/>
          </a:prstGeom>
        </p:spPr>
      </p:pic>
      <p:sp>
        <p:nvSpPr>
          <p:cNvPr id="4" name="Text 1"/>
          <p:cNvSpPr/>
          <p:nvPr/>
        </p:nvSpPr>
        <p:spPr>
          <a:xfrm>
            <a:off x="481889" y="241402"/>
            <a:ext cx="6404141" cy="241402"/>
          </a:xfrm>
          <a:prstGeom prst="rect">
            <a:avLst/>
          </a:prstGeom>
          <a:noFill/>
          <a:ln/>
        </p:spPr>
        <p:txBody>
          <a:bodyPr wrap="square" lIns="0" tIns="0" rIns="0" bIns="0" rtlCol="0" anchor="ctr"/>
          <a:lstStyle/>
          <a:p>
            <a:pPr indent="0" marL="0">
              <a:buNone/>
            </a:pPr>
            <a:r>
              <a:rPr lang="en-US" sz="1318" b="1" spc="272" kern="0" dirty="0">
                <a:solidFill>
                  <a:srgbClr val="6AB86E"/>
                </a:solidFill>
                <a:latin typeface="DM Sans" pitchFamily="34" charset="0"/>
                <a:ea typeface="DM Sans" pitchFamily="34" charset="-122"/>
                <a:cs typeface="DM Sans" pitchFamily="34" charset="-120"/>
              </a:rPr>
              <a:t>STUDENT AMBASSADOR</a:t>
            </a:r>
            <a:endParaRPr lang="en-US" sz="1318" dirty="0"/>
          </a:p>
        </p:txBody>
      </p:sp>
      <p:sp>
        <p:nvSpPr>
          <p:cNvPr id="5" name="Text 2"/>
          <p:cNvSpPr/>
          <p:nvPr/>
        </p:nvSpPr>
        <p:spPr>
          <a:xfrm>
            <a:off x="435254" y="497891"/>
            <a:ext cx="6606382" cy="935431"/>
          </a:xfrm>
          <a:prstGeom prst="rect">
            <a:avLst/>
          </a:prstGeom>
          <a:noFill/>
          <a:ln/>
        </p:spPr>
        <p:txBody>
          <a:bodyPr wrap="square" lIns="0" tIns="0" rIns="0" bIns="0" rtlCol="0" anchor="ctr"/>
          <a:lstStyle/>
          <a:p>
            <a:pPr indent="0" marL="0">
              <a:buNone/>
            </a:pPr>
            <a:r>
              <a:rPr lang="en-US" sz="5270" dirty="0">
                <a:solidFill>
                  <a:srgbClr val="FFFFFF"/>
                </a:solidFill>
                <a:latin typeface="Anton" pitchFamily="34" charset="0"/>
                <a:ea typeface="Anton" pitchFamily="34" charset="-122"/>
                <a:cs typeface="Anton" pitchFamily="34" charset="-120"/>
              </a:rPr>
              <a:t>HOW IT WORKS</a:t>
            </a:r>
            <a:endParaRPr lang="en-US" sz="5270" dirty="0"/>
          </a:p>
        </p:txBody>
      </p:sp>
      <p:sp>
        <p:nvSpPr>
          <p:cNvPr id="6" name="Text 3"/>
          <p:cNvSpPr/>
          <p:nvPr/>
        </p:nvSpPr>
        <p:spPr>
          <a:xfrm>
            <a:off x="481889" y="1770278"/>
            <a:ext cx="6808622" cy="261518"/>
          </a:xfrm>
          <a:prstGeom prst="rect">
            <a:avLst/>
          </a:prstGeom>
          <a:noFill/>
          <a:ln/>
        </p:spPr>
        <p:txBody>
          <a:bodyPr wrap="square" lIns="0" tIns="0" rIns="0" bIns="0" rtlCol="0" anchor="ctr"/>
          <a:lstStyle/>
          <a:p>
            <a:pPr indent="0" marL="0">
              <a:buNone/>
            </a:pPr>
            <a:r>
              <a:rPr lang="en-US" sz="977" b="1" spc="136" kern="0" dirty="0">
                <a:solidFill>
                  <a:srgbClr val="357A38"/>
                </a:solidFill>
                <a:latin typeface="DM Sans" pitchFamily="34" charset="0"/>
                <a:ea typeface="DM Sans" pitchFamily="34" charset="-122"/>
                <a:cs typeface="DM Sans" pitchFamily="34" charset="-120"/>
              </a:rPr>
              <a:t>APPLYING</a:t>
            </a:r>
            <a:endParaRPr lang="en-US" sz="977" dirty="0"/>
          </a:p>
        </p:txBody>
      </p:sp>
      <p:sp>
        <p:nvSpPr>
          <p:cNvPr id="7" name="Shape 4"/>
          <p:cNvSpPr/>
          <p:nvPr/>
        </p:nvSpPr>
        <p:spPr>
          <a:xfrm>
            <a:off x="481889" y="2162154"/>
            <a:ext cx="310896" cy="310896"/>
          </a:xfrm>
          <a:prstGeom prst="ellipse">
            <a:avLst/>
          </a:prstGeom>
          <a:solidFill>
            <a:srgbClr val="1C3A1C"/>
          </a:solidFill>
          <a:ln/>
        </p:spPr>
      </p:sp>
      <p:sp>
        <p:nvSpPr>
          <p:cNvPr id="8" name="Text 5"/>
          <p:cNvSpPr/>
          <p:nvPr/>
        </p:nvSpPr>
        <p:spPr>
          <a:xfrm>
            <a:off x="481889" y="2162154"/>
            <a:ext cx="310896" cy="310896"/>
          </a:xfrm>
          <a:prstGeom prst="rect">
            <a:avLst/>
          </a:prstGeom>
          <a:noFill/>
          <a:ln/>
        </p:spPr>
        <p:txBody>
          <a:bodyPr wrap="square" lIns="0" tIns="0" rIns="0" bIns="0" rtlCol="0" anchor="ctr"/>
          <a:lstStyle/>
          <a:p>
            <a:pPr algn="ctr" indent="0" marL="0">
              <a:buNone/>
            </a:pPr>
            <a:r>
              <a:rPr lang="en-US" sz="1275" b="1" dirty="0">
                <a:solidFill>
                  <a:srgbClr val="6AB86E"/>
                </a:solidFill>
                <a:latin typeface="Playfair Display" pitchFamily="34" charset="0"/>
                <a:ea typeface="Playfair Display" pitchFamily="34" charset="-122"/>
                <a:cs typeface="Playfair Display" pitchFamily="34" charset="-120"/>
              </a:rPr>
              <a:t>1</a:t>
            </a:r>
            <a:endParaRPr lang="en-US" sz="1275" dirty="0"/>
          </a:p>
        </p:txBody>
      </p:sp>
      <p:sp>
        <p:nvSpPr>
          <p:cNvPr id="9" name="Text 6"/>
          <p:cNvSpPr/>
          <p:nvPr/>
        </p:nvSpPr>
        <p:spPr>
          <a:xfrm>
            <a:off x="948233" y="2115483"/>
            <a:ext cx="6342278" cy="221687"/>
          </a:xfrm>
          <a:prstGeom prst="rect">
            <a:avLst/>
          </a:prstGeom>
          <a:noFill/>
          <a:ln/>
        </p:spPr>
        <p:txBody>
          <a:bodyPr wrap="square" lIns="0" tIns="0" rIns="0" bIns="0" rtlCol="0" anchor="ctr"/>
          <a:lstStyle/>
          <a:p>
            <a:pPr indent="0" marL="0">
              <a:buNone/>
            </a:pPr>
            <a:r>
              <a:rPr lang="en-US" sz="1105" b="1" dirty="0">
                <a:solidFill>
                  <a:srgbClr val="1C3A1C"/>
                </a:solidFill>
                <a:latin typeface="DM Sans" pitchFamily="34" charset="0"/>
                <a:ea typeface="DM Sans" pitchFamily="34" charset="-122"/>
                <a:cs typeface="DM Sans" pitchFamily="34" charset="-120"/>
              </a:rPr>
              <a:t>Fill in the application</a:t>
            </a:r>
            <a:endParaRPr lang="en-US" sz="1105" dirty="0"/>
          </a:p>
        </p:txBody>
      </p:sp>
      <p:sp>
        <p:nvSpPr>
          <p:cNvPr id="10" name="Text 7"/>
          <p:cNvSpPr/>
          <p:nvPr/>
        </p:nvSpPr>
        <p:spPr>
          <a:xfrm>
            <a:off x="948233" y="2337170"/>
            <a:ext cx="6342278" cy="326697"/>
          </a:xfrm>
          <a:prstGeom prst="rect">
            <a:avLst/>
          </a:prstGeom>
          <a:noFill/>
          <a:ln/>
        </p:spPr>
        <p:txBody>
          <a:bodyPr wrap="square" lIns="0" tIns="0" rIns="0" bIns="0" rtlCol="0" anchor="t"/>
          <a:lstStyle/>
          <a:p>
            <a:pPr indent="0" marL="0">
              <a:buNone/>
            </a:pPr>
            <a:r>
              <a:rPr lang="en-US" sz="893" dirty="0">
                <a:solidFill>
                  <a:srgbClr val="6B756B"/>
                </a:solidFill>
                <a:latin typeface="DM Sans" pitchFamily="34" charset="0"/>
                <a:ea typeface="DM Sans" pitchFamily="34" charset="-122"/>
                <a:cs typeface="DM Sans" pitchFamily="34" charset="-120"/>
              </a:rPr>
              <a:t>One page. It asks what school you attend, why you want to do this, and what you would try first.</a:t>
            </a:r>
            <a:endParaRPr lang="en-US" sz="893" dirty="0"/>
          </a:p>
        </p:txBody>
      </p:sp>
      <p:sp>
        <p:nvSpPr>
          <p:cNvPr id="11" name="Shape 8"/>
          <p:cNvSpPr/>
          <p:nvPr/>
        </p:nvSpPr>
        <p:spPr>
          <a:xfrm>
            <a:off x="481889" y="2745541"/>
            <a:ext cx="310896" cy="310896"/>
          </a:xfrm>
          <a:prstGeom prst="ellipse">
            <a:avLst/>
          </a:prstGeom>
          <a:solidFill>
            <a:srgbClr val="1C3A1C"/>
          </a:solidFill>
          <a:ln/>
        </p:spPr>
      </p:sp>
      <p:sp>
        <p:nvSpPr>
          <p:cNvPr id="12" name="Text 9"/>
          <p:cNvSpPr/>
          <p:nvPr/>
        </p:nvSpPr>
        <p:spPr>
          <a:xfrm>
            <a:off x="481889" y="2745541"/>
            <a:ext cx="310896" cy="310896"/>
          </a:xfrm>
          <a:prstGeom prst="rect">
            <a:avLst/>
          </a:prstGeom>
          <a:noFill/>
          <a:ln/>
        </p:spPr>
        <p:txBody>
          <a:bodyPr wrap="square" lIns="0" tIns="0" rIns="0" bIns="0" rtlCol="0" anchor="ctr"/>
          <a:lstStyle/>
          <a:p>
            <a:pPr algn="ctr" indent="0" marL="0">
              <a:buNone/>
            </a:pPr>
            <a:r>
              <a:rPr lang="en-US" sz="1275" b="1" dirty="0">
                <a:solidFill>
                  <a:srgbClr val="6AB86E"/>
                </a:solidFill>
                <a:latin typeface="Playfair Display" pitchFamily="34" charset="0"/>
                <a:ea typeface="Playfair Display" pitchFamily="34" charset="-122"/>
                <a:cs typeface="Playfair Display" pitchFamily="34" charset="-120"/>
              </a:rPr>
              <a:t>2</a:t>
            </a:r>
            <a:endParaRPr lang="en-US" sz="1275" dirty="0"/>
          </a:p>
        </p:txBody>
      </p:sp>
      <p:sp>
        <p:nvSpPr>
          <p:cNvPr id="13" name="Text 10"/>
          <p:cNvSpPr/>
          <p:nvPr/>
        </p:nvSpPr>
        <p:spPr>
          <a:xfrm>
            <a:off x="948233" y="2698870"/>
            <a:ext cx="6342278" cy="221687"/>
          </a:xfrm>
          <a:prstGeom prst="rect">
            <a:avLst/>
          </a:prstGeom>
          <a:noFill/>
          <a:ln/>
        </p:spPr>
        <p:txBody>
          <a:bodyPr wrap="square" lIns="0" tIns="0" rIns="0" bIns="0" rtlCol="0" anchor="ctr"/>
          <a:lstStyle/>
          <a:p>
            <a:pPr indent="0" marL="0">
              <a:buNone/>
            </a:pPr>
            <a:r>
              <a:rPr lang="en-US" sz="1105" b="1" dirty="0">
                <a:solidFill>
                  <a:srgbClr val="1C3A1C"/>
                </a:solidFill>
                <a:latin typeface="DM Sans" pitchFamily="34" charset="0"/>
                <a:ea typeface="DM Sans" pitchFamily="34" charset="-122"/>
                <a:cs typeface="DM Sans" pitchFamily="34" charset="-120"/>
              </a:rPr>
              <a:t>Name a teacher reference</a:t>
            </a:r>
            <a:endParaRPr lang="en-US" sz="1105" dirty="0"/>
          </a:p>
        </p:txBody>
      </p:sp>
      <p:sp>
        <p:nvSpPr>
          <p:cNvPr id="14" name="Text 11"/>
          <p:cNvSpPr/>
          <p:nvPr/>
        </p:nvSpPr>
        <p:spPr>
          <a:xfrm>
            <a:off x="948233" y="2920557"/>
            <a:ext cx="6342278" cy="326697"/>
          </a:xfrm>
          <a:prstGeom prst="rect">
            <a:avLst/>
          </a:prstGeom>
          <a:noFill/>
          <a:ln/>
        </p:spPr>
        <p:txBody>
          <a:bodyPr wrap="square" lIns="0" tIns="0" rIns="0" bIns="0" rtlCol="0" anchor="t"/>
          <a:lstStyle/>
          <a:p>
            <a:pPr indent="0" marL="0">
              <a:buNone/>
            </a:pPr>
            <a:r>
              <a:rPr lang="en-US" sz="893" dirty="0">
                <a:solidFill>
                  <a:srgbClr val="6B756B"/>
                </a:solidFill>
                <a:latin typeface="DM Sans" pitchFamily="34" charset="0"/>
                <a:ea typeface="DM Sans" pitchFamily="34" charset="-122"/>
                <a:cs typeface="DM Sans" pitchFamily="34" charset="-120"/>
              </a:rPr>
              <a:t>Any teacher who knows you. We send them three short questions, not a form to write.</a:t>
            </a:r>
            <a:endParaRPr lang="en-US" sz="893" dirty="0"/>
          </a:p>
        </p:txBody>
      </p:sp>
      <p:sp>
        <p:nvSpPr>
          <p:cNvPr id="15" name="Shape 12"/>
          <p:cNvSpPr/>
          <p:nvPr/>
        </p:nvSpPr>
        <p:spPr>
          <a:xfrm>
            <a:off x="481889" y="3328928"/>
            <a:ext cx="310896" cy="310896"/>
          </a:xfrm>
          <a:prstGeom prst="ellipse">
            <a:avLst/>
          </a:prstGeom>
          <a:solidFill>
            <a:srgbClr val="1C3A1C"/>
          </a:solidFill>
          <a:ln/>
        </p:spPr>
      </p:sp>
      <p:sp>
        <p:nvSpPr>
          <p:cNvPr id="16" name="Text 13"/>
          <p:cNvSpPr/>
          <p:nvPr/>
        </p:nvSpPr>
        <p:spPr>
          <a:xfrm>
            <a:off x="481889" y="3328928"/>
            <a:ext cx="310896" cy="310896"/>
          </a:xfrm>
          <a:prstGeom prst="rect">
            <a:avLst/>
          </a:prstGeom>
          <a:noFill/>
          <a:ln/>
        </p:spPr>
        <p:txBody>
          <a:bodyPr wrap="square" lIns="0" tIns="0" rIns="0" bIns="0" rtlCol="0" anchor="ctr"/>
          <a:lstStyle/>
          <a:p>
            <a:pPr algn="ctr" indent="0" marL="0">
              <a:buNone/>
            </a:pPr>
            <a:r>
              <a:rPr lang="en-US" sz="1275" b="1" dirty="0">
                <a:solidFill>
                  <a:srgbClr val="6AB86E"/>
                </a:solidFill>
                <a:latin typeface="Playfair Display" pitchFamily="34" charset="0"/>
                <a:ea typeface="Playfair Display" pitchFamily="34" charset="-122"/>
                <a:cs typeface="Playfair Display" pitchFamily="34" charset="-120"/>
              </a:rPr>
              <a:t>3</a:t>
            </a:r>
            <a:endParaRPr lang="en-US" sz="1275" dirty="0"/>
          </a:p>
        </p:txBody>
      </p:sp>
      <p:sp>
        <p:nvSpPr>
          <p:cNvPr id="17" name="Text 14"/>
          <p:cNvSpPr/>
          <p:nvPr/>
        </p:nvSpPr>
        <p:spPr>
          <a:xfrm>
            <a:off x="948233" y="3282257"/>
            <a:ext cx="6342278" cy="221687"/>
          </a:xfrm>
          <a:prstGeom prst="rect">
            <a:avLst/>
          </a:prstGeom>
          <a:noFill/>
          <a:ln/>
        </p:spPr>
        <p:txBody>
          <a:bodyPr wrap="square" lIns="0" tIns="0" rIns="0" bIns="0" rtlCol="0" anchor="ctr"/>
          <a:lstStyle/>
          <a:p>
            <a:pPr indent="0" marL="0">
              <a:buNone/>
            </a:pPr>
            <a:r>
              <a:rPr lang="en-US" sz="1105" b="1" dirty="0">
                <a:solidFill>
                  <a:srgbClr val="1C3A1C"/>
                </a:solidFill>
                <a:latin typeface="DM Sans" pitchFamily="34" charset="0"/>
                <a:ea typeface="DM Sans" pitchFamily="34" charset="-122"/>
                <a:cs typeface="DM Sans" pitchFamily="34" charset="-120"/>
              </a:rPr>
              <a:t>Have a fifteen minute conversation</a:t>
            </a:r>
            <a:endParaRPr lang="en-US" sz="1105" dirty="0"/>
          </a:p>
        </p:txBody>
      </p:sp>
      <p:sp>
        <p:nvSpPr>
          <p:cNvPr id="18" name="Text 15"/>
          <p:cNvSpPr/>
          <p:nvPr/>
        </p:nvSpPr>
        <p:spPr>
          <a:xfrm>
            <a:off x="948233" y="3503944"/>
            <a:ext cx="6342278" cy="326697"/>
          </a:xfrm>
          <a:prstGeom prst="rect">
            <a:avLst/>
          </a:prstGeom>
          <a:noFill/>
          <a:ln/>
        </p:spPr>
        <p:txBody>
          <a:bodyPr wrap="square" lIns="0" tIns="0" rIns="0" bIns="0" rtlCol="0" anchor="t"/>
          <a:lstStyle/>
          <a:p>
            <a:pPr indent="0" marL="0">
              <a:buNone/>
            </a:pPr>
            <a:r>
              <a:rPr lang="en-US" sz="893" dirty="0">
                <a:solidFill>
                  <a:srgbClr val="6B756B"/>
                </a:solidFill>
                <a:latin typeface="DM Sans" pitchFamily="34" charset="0"/>
                <a:ea typeface="DM Sans" pitchFamily="34" charset="-122"/>
                <a:cs typeface="DM Sans" pitchFamily="34" charset="-120"/>
              </a:rPr>
              <a:t>A call with our Ambassador Manager. It is a conversation, not an interview with right answers.</a:t>
            </a:r>
            <a:endParaRPr lang="en-US" sz="893" dirty="0"/>
          </a:p>
        </p:txBody>
      </p:sp>
      <p:sp>
        <p:nvSpPr>
          <p:cNvPr id="19" name="Shape 16"/>
          <p:cNvSpPr/>
          <p:nvPr/>
        </p:nvSpPr>
        <p:spPr>
          <a:xfrm>
            <a:off x="481889" y="3912315"/>
            <a:ext cx="310896" cy="310896"/>
          </a:xfrm>
          <a:prstGeom prst="ellipse">
            <a:avLst/>
          </a:prstGeom>
          <a:solidFill>
            <a:srgbClr val="1C3A1C"/>
          </a:solidFill>
          <a:ln/>
        </p:spPr>
      </p:sp>
      <p:sp>
        <p:nvSpPr>
          <p:cNvPr id="20" name="Text 17"/>
          <p:cNvSpPr/>
          <p:nvPr/>
        </p:nvSpPr>
        <p:spPr>
          <a:xfrm>
            <a:off x="481889" y="3912315"/>
            <a:ext cx="310896" cy="310896"/>
          </a:xfrm>
          <a:prstGeom prst="rect">
            <a:avLst/>
          </a:prstGeom>
          <a:noFill/>
          <a:ln/>
        </p:spPr>
        <p:txBody>
          <a:bodyPr wrap="square" lIns="0" tIns="0" rIns="0" bIns="0" rtlCol="0" anchor="ctr"/>
          <a:lstStyle/>
          <a:p>
            <a:pPr algn="ctr" indent="0" marL="0">
              <a:buNone/>
            </a:pPr>
            <a:r>
              <a:rPr lang="en-US" sz="1275" b="1" dirty="0">
                <a:solidFill>
                  <a:srgbClr val="6AB86E"/>
                </a:solidFill>
                <a:latin typeface="Playfair Display" pitchFamily="34" charset="0"/>
                <a:ea typeface="Playfair Display" pitchFamily="34" charset="-122"/>
                <a:cs typeface="Playfair Display" pitchFamily="34" charset="-120"/>
              </a:rPr>
              <a:t>4</a:t>
            </a:r>
            <a:endParaRPr lang="en-US" sz="1275" dirty="0"/>
          </a:p>
        </p:txBody>
      </p:sp>
      <p:sp>
        <p:nvSpPr>
          <p:cNvPr id="21" name="Text 18"/>
          <p:cNvSpPr/>
          <p:nvPr/>
        </p:nvSpPr>
        <p:spPr>
          <a:xfrm>
            <a:off x="948233" y="3865644"/>
            <a:ext cx="6342278" cy="221687"/>
          </a:xfrm>
          <a:prstGeom prst="rect">
            <a:avLst/>
          </a:prstGeom>
          <a:noFill/>
          <a:ln/>
        </p:spPr>
        <p:txBody>
          <a:bodyPr wrap="square" lIns="0" tIns="0" rIns="0" bIns="0" rtlCol="0" anchor="ctr"/>
          <a:lstStyle/>
          <a:p>
            <a:pPr indent="0" marL="0">
              <a:buNone/>
            </a:pPr>
            <a:r>
              <a:rPr lang="en-US" sz="1105" b="1" dirty="0">
                <a:solidFill>
                  <a:srgbClr val="1C3A1C"/>
                </a:solidFill>
                <a:latin typeface="DM Sans" pitchFamily="34" charset="0"/>
                <a:ea typeface="DM Sans" pitchFamily="34" charset="-122"/>
                <a:cs typeface="DM Sans" pitchFamily="34" charset="-120"/>
              </a:rPr>
              <a:t>Start your term</a:t>
            </a:r>
            <a:endParaRPr lang="en-US" sz="1105" dirty="0"/>
          </a:p>
        </p:txBody>
      </p:sp>
      <p:sp>
        <p:nvSpPr>
          <p:cNvPr id="22" name="Text 19"/>
          <p:cNvSpPr/>
          <p:nvPr/>
        </p:nvSpPr>
        <p:spPr>
          <a:xfrm>
            <a:off x="948233" y="4087331"/>
            <a:ext cx="6342278" cy="326697"/>
          </a:xfrm>
          <a:prstGeom prst="rect">
            <a:avLst/>
          </a:prstGeom>
          <a:noFill/>
          <a:ln/>
        </p:spPr>
        <p:txBody>
          <a:bodyPr wrap="square" lIns="0" tIns="0" rIns="0" bIns="0" rtlCol="0" anchor="t"/>
          <a:lstStyle/>
          <a:p>
            <a:pPr indent="0" marL="0">
              <a:buNone/>
            </a:pPr>
            <a:r>
              <a:rPr lang="en-US" sz="893" dirty="0">
                <a:solidFill>
                  <a:srgbClr val="6B756B"/>
                </a:solidFill>
                <a:latin typeface="DM Sans" pitchFamily="34" charset="0"/>
                <a:ea typeface="DM Sans" pitchFamily="34" charset="-122"/>
                <a:cs typeface="DM Sans" pitchFamily="34" charset="-120"/>
              </a:rPr>
              <a:t>You get an onboarding call, your first goal, and a direct contact for anything you need.</a:t>
            </a:r>
            <a:endParaRPr lang="en-US" sz="893" dirty="0"/>
          </a:p>
        </p:txBody>
      </p:sp>
      <p:sp>
        <p:nvSpPr>
          <p:cNvPr id="23" name="Text 20"/>
          <p:cNvSpPr/>
          <p:nvPr/>
        </p:nvSpPr>
        <p:spPr>
          <a:xfrm>
            <a:off x="481889" y="4546397"/>
            <a:ext cx="6808622" cy="261518"/>
          </a:xfrm>
          <a:prstGeom prst="rect">
            <a:avLst/>
          </a:prstGeom>
          <a:noFill/>
          <a:ln/>
        </p:spPr>
        <p:txBody>
          <a:bodyPr wrap="square" lIns="0" tIns="0" rIns="0" bIns="0" rtlCol="0" anchor="ctr"/>
          <a:lstStyle/>
          <a:p>
            <a:pPr indent="0" marL="0">
              <a:buNone/>
            </a:pPr>
            <a:r>
              <a:rPr lang="en-US" sz="977" b="1" spc="136" kern="0" dirty="0">
                <a:solidFill>
                  <a:srgbClr val="357A38"/>
                </a:solidFill>
                <a:latin typeface="DM Sans" pitchFamily="34" charset="0"/>
                <a:ea typeface="DM Sans" pitchFamily="34" charset="-122"/>
                <a:cs typeface="DM Sans" pitchFamily="34" charset="-120"/>
              </a:rPr>
              <a:t>WHAT WE ASK OF YOU</a:t>
            </a:r>
            <a:endParaRPr lang="en-US" sz="977" dirty="0"/>
          </a:p>
        </p:txBody>
      </p:sp>
      <p:sp>
        <p:nvSpPr>
          <p:cNvPr id="24" name="Shape 21"/>
          <p:cNvSpPr/>
          <p:nvPr/>
        </p:nvSpPr>
        <p:spPr>
          <a:xfrm>
            <a:off x="512978" y="4938674"/>
            <a:ext cx="108814" cy="108814"/>
          </a:xfrm>
          <a:prstGeom prst="rect">
            <a:avLst/>
          </a:prstGeom>
          <a:solidFill>
            <a:srgbClr val="6AB86E"/>
          </a:solidFill>
          <a:ln/>
        </p:spPr>
      </p:sp>
      <p:sp>
        <p:nvSpPr>
          <p:cNvPr id="25" name="Text 22"/>
          <p:cNvSpPr/>
          <p:nvPr/>
        </p:nvSpPr>
        <p:spPr>
          <a:xfrm>
            <a:off x="730606" y="4868266"/>
            <a:ext cx="6559906" cy="442570"/>
          </a:xfrm>
          <a:prstGeom prst="rect">
            <a:avLst/>
          </a:prstGeom>
          <a:noFill/>
          <a:ln/>
        </p:spPr>
        <p:txBody>
          <a:bodyPr wrap="square" lIns="0" tIns="0" rIns="0" bIns="0" rtlCol="0" anchor="t"/>
          <a:lstStyle/>
          <a:p>
            <a:pPr indent="0" marL="0">
              <a:buNone/>
            </a:pPr>
            <a:r>
              <a:rPr lang="en-US" sz="918" dirty="0">
                <a:solidFill>
                  <a:srgbClr val="1A1E1A"/>
                </a:solidFill>
                <a:latin typeface="DM Sans" pitchFamily="34" charset="0"/>
                <a:ea typeface="DM Sans" pitchFamily="34" charset="-122"/>
                <a:cs typeface="DM Sans" pitchFamily="34" charset="-120"/>
              </a:rPr>
              <a:t>Log your hours each month. Unlogged hours cannot be verified later, and the recommendation letter is built from that log.</a:t>
            </a:r>
            <a:endParaRPr lang="en-US" sz="918" dirty="0"/>
          </a:p>
        </p:txBody>
      </p:sp>
      <p:sp>
        <p:nvSpPr>
          <p:cNvPr id="26" name="Shape 23"/>
          <p:cNvSpPr/>
          <p:nvPr/>
        </p:nvSpPr>
        <p:spPr>
          <a:xfrm>
            <a:off x="512978" y="5401361"/>
            <a:ext cx="108814" cy="108814"/>
          </a:xfrm>
          <a:prstGeom prst="rect">
            <a:avLst/>
          </a:prstGeom>
          <a:solidFill>
            <a:srgbClr val="6AB86E"/>
          </a:solidFill>
          <a:ln/>
        </p:spPr>
      </p:sp>
      <p:sp>
        <p:nvSpPr>
          <p:cNvPr id="27" name="Text 24"/>
          <p:cNvSpPr/>
          <p:nvPr/>
        </p:nvSpPr>
        <p:spPr>
          <a:xfrm>
            <a:off x="730606" y="5330952"/>
            <a:ext cx="6559906" cy="442570"/>
          </a:xfrm>
          <a:prstGeom prst="rect">
            <a:avLst/>
          </a:prstGeom>
          <a:noFill/>
          <a:ln/>
        </p:spPr>
        <p:txBody>
          <a:bodyPr wrap="square" lIns="0" tIns="0" rIns="0" bIns="0" rtlCol="0" anchor="t"/>
          <a:lstStyle/>
          <a:p>
            <a:pPr indent="0" marL="0">
              <a:buNone/>
            </a:pPr>
            <a:r>
              <a:rPr lang="en-US" sz="918" dirty="0">
                <a:solidFill>
                  <a:srgbClr val="1A1E1A"/>
                </a:solidFill>
                <a:latin typeface="DM Sans" pitchFamily="34" charset="0"/>
                <a:ea typeface="DM Sans" pitchFamily="34" charset="-122"/>
                <a:cs typeface="DM Sans" pitchFamily="34" charset="-120"/>
              </a:rPr>
              <a:t>Check in once a month with the Ambassador Manager. Fifteen minutes, and you can cancel when nothing is happening.</a:t>
            </a:r>
            <a:endParaRPr lang="en-US" sz="918" dirty="0"/>
          </a:p>
        </p:txBody>
      </p:sp>
      <p:sp>
        <p:nvSpPr>
          <p:cNvPr id="28" name="Shape 25"/>
          <p:cNvSpPr/>
          <p:nvPr/>
        </p:nvSpPr>
        <p:spPr>
          <a:xfrm>
            <a:off x="512978" y="5864047"/>
            <a:ext cx="108814" cy="108814"/>
          </a:xfrm>
          <a:prstGeom prst="rect">
            <a:avLst/>
          </a:prstGeom>
          <a:solidFill>
            <a:srgbClr val="6AB86E"/>
          </a:solidFill>
          <a:ln/>
        </p:spPr>
      </p:sp>
      <p:sp>
        <p:nvSpPr>
          <p:cNvPr id="29" name="Text 26"/>
          <p:cNvSpPr/>
          <p:nvPr/>
        </p:nvSpPr>
        <p:spPr>
          <a:xfrm>
            <a:off x="730606" y="5793638"/>
            <a:ext cx="6559906" cy="442570"/>
          </a:xfrm>
          <a:prstGeom prst="rect">
            <a:avLst/>
          </a:prstGeom>
          <a:noFill/>
          <a:ln/>
        </p:spPr>
        <p:txBody>
          <a:bodyPr wrap="square" lIns="0" tIns="0" rIns="0" bIns="0" rtlCol="0" anchor="t"/>
          <a:lstStyle/>
          <a:p>
            <a:pPr indent="0" marL="0">
              <a:buNone/>
            </a:pPr>
            <a:r>
              <a:rPr lang="en-US" sz="918" dirty="0">
                <a:solidFill>
                  <a:srgbClr val="1A1E1A"/>
                </a:solidFill>
                <a:latin typeface="DM Sans" pitchFamily="34" charset="0"/>
                <a:ea typeface="DM Sans" pitchFamily="34" charset="-122"/>
                <a:cs typeface="DM Sans" pitchFamily="34" charset="-120"/>
              </a:rPr>
              <a:t>Run outreach past a teacher before you send it. Every email template we give you has a sign-off line for exactly this.</a:t>
            </a:r>
            <a:endParaRPr lang="en-US" sz="918" dirty="0"/>
          </a:p>
        </p:txBody>
      </p:sp>
      <p:sp>
        <p:nvSpPr>
          <p:cNvPr id="30" name="Shape 27"/>
          <p:cNvSpPr/>
          <p:nvPr/>
        </p:nvSpPr>
        <p:spPr>
          <a:xfrm>
            <a:off x="512978" y="6326734"/>
            <a:ext cx="108814" cy="108814"/>
          </a:xfrm>
          <a:prstGeom prst="rect">
            <a:avLst/>
          </a:prstGeom>
          <a:solidFill>
            <a:srgbClr val="6AB86E"/>
          </a:solidFill>
          <a:ln/>
        </p:spPr>
      </p:sp>
      <p:sp>
        <p:nvSpPr>
          <p:cNvPr id="31" name="Text 28"/>
          <p:cNvSpPr/>
          <p:nvPr/>
        </p:nvSpPr>
        <p:spPr>
          <a:xfrm>
            <a:off x="730606" y="6256325"/>
            <a:ext cx="6559906" cy="442570"/>
          </a:xfrm>
          <a:prstGeom prst="rect">
            <a:avLst/>
          </a:prstGeom>
          <a:noFill/>
          <a:ln/>
        </p:spPr>
        <p:txBody>
          <a:bodyPr wrap="square" lIns="0" tIns="0" rIns="0" bIns="0" rtlCol="0" anchor="t"/>
          <a:lstStyle/>
          <a:p>
            <a:pPr indent="0" marL="0">
              <a:buNone/>
            </a:pPr>
            <a:r>
              <a:rPr lang="en-US" sz="918" dirty="0">
                <a:solidFill>
                  <a:srgbClr val="1A1E1A"/>
                </a:solidFill>
                <a:latin typeface="DM Sans" pitchFamily="34" charset="0"/>
                <a:ea typeface="DM Sans" pitchFamily="34" charset="-122"/>
                <a:cs typeface="DM Sans" pitchFamily="34" charset="-120"/>
              </a:rPr>
              <a:t>Say so when you are stretched. Ambassadors who go quiet during exam season are normal. Ambassadors who disappear without saying anything leave a school waiting.</a:t>
            </a:r>
            <a:endParaRPr lang="en-US" sz="918" dirty="0"/>
          </a:p>
        </p:txBody>
      </p:sp>
      <p:sp>
        <p:nvSpPr>
          <p:cNvPr id="32" name="Shape 29"/>
          <p:cNvSpPr/>
          <p:nvPr/>
        </p:nvSpPr>
        <p:spPr>
          <a:xfrm>
            <a:off x="481889" y="6839712"/>
            <a:ext cx="6808622" cy="1156716"/>
          </a:xfrm>
          <a:prstGeom prst="rect">
            <a:avLst/>
          </a:prstGeom>
          <a:solidFill>
            <a:srgbClr val="FFFFFF"/>
          </a:solidFill>
          <a:ln w="15113">
            <a:solidFill>
              <a:srgbClr val="E0615A"/>
            </a:solidFill>
            <a:prstDash val="solid"/>
          </a:ln>
        </p:spPr>
      </p:sp>
      <p:sp>
        <p:nvSpPr>
          <p:cNvPr id="33" name="Shape 30"/>
          <p:cNvSpPr/>
          <p:nvPr/>
        </p:nvSpPr>
        <p:spPr>
          <a:xfrm>
            <a:off x="481889" y="6839712"/>
            <a:ext cx="6808622" cy="261518"/>
          </a:xfrm>
          <a:prstGeom prst="rect">
            <a:avLst/>
          </a:prstGeom>
          <a:solidFill>
            <a:srgbClr val="E0615A"/>
          </a:solidFill>
          <a:ln/>
        </p:spPr>
      </p:sp>
      <p:sp>
        <p:nvSpPr>
          <p:cNvPr id="34" name="Text 31"/>
          <p:cNvSpPr/>
          <p:nvPr/>
        </p:nvSpPr>
        <p:spPr>
          <a:xfrm>
            <a:off x="652104" y="6839712"/>
            <a:ext cx="6468191" cy="261518"/>
          </a:xfrm>
          <a:prstGeom prst="rect">
            <a:avLst/>
          </a:prstGeom>
          <a:noFill/>
          <a:ln/>
        </p:spPr>
        <p:txBody>
          <a:bodyPr wrap="square" lIns="0" tIns="0" rIns="0" bIns="0" rtlCol="0" anchor="ctr"/>
          <a:lstStyle/>
          <a:p>
            <a:pPr indent="0" marL="0">
              <a:buNone/>
            </a:pPr>
            <a:r>
              <a:rPr lang="en-US" sz="893" b="1" spc="102" kern="0" dirty="0">
                <a:solidFill>
                  <a:srgbClr val="FFFFFF"/>
                </a:solidFill>
                <a:latin typeface="DM Sans" pitchFamily="34" charset="0"/>
                <a:ea typeface="DM Sans" pitchFamily="34" charset="-122"/>
                <a:cs typeface="DM Sans" pitchFamily="34" charset="-120"/>
              </a:rPr>
              <a:t>THE FOUR RULES</a:t>
            </a:r>
            <a:endParaRPr lang="en-US" sz="893" dirty="0"/>
          </a:p>
        </p:txBody>
      </p:sp>
      <p:sp>
        <p:nvSpPr>
          <p:cNvPr id="35" name="Text 32"/>
          <p:cNvSpPr/>
          <p:nvPr/>
        </p:nvSpPr>
        <p:spPr>
          <a:xfrm>
            <a:off x="720191" y="7171639"/>
            <a:ext cx="6332019" cy="784555"/>
          </a:xfrm>
          <a:prstGeom prst="rect">
            <a:avLst/>
          </a:prstGeom>
          <a:noFill/>
          <a:ln/>
        </p:spPr>
        <p:txBody>
          <a:bodyPr wrap="square" lIns="0" tIns="0" rIns="0" bIns="0" rtlCol="0" anchor="t"/>
          <a:lstStyle/>
          <a:p>
            <a:pPr marL="342900" indent="-342900">
              <a:lnSpc>
                <a:spcPct val="110000"/>
              </a:lnSpc>
              <a:buSzPct val="100000"/>
              <a:buChar char="▪"/>
            </a:pPr>
            <a:r>
              <a:rPr lang="en-US" sz="867" dirty="0">
                <a:solidFill>
                  <a:srgbClr val="1A1E1A"/>
                </a:solidFill>
                <a:latin typeface="DM Sans" pitchFamily="34" charset="0"/>
                <a:ea typeface="DM Sans" pitchFamily="34" charset="-122"/>
                <a:cs typeface="DM Sans" pitchFamily="34" charset="-120"/>
              </a:rPr>
              <a:t>Speak for your own experience, not for FairGame on money, policy, or partnerships.</a:t>
            </a:r>
            <a:endParaRPr lang="en-US" sz="867" dirty="0"/>
          </a:p>
          <a:p>
            <a:pPr marL="342900" indent="-342900">
              <a:lnSpc>
                <a:spcPct val="110000"/>
              </a:lnSpc>
              <a:buSzPct val="100000"/>
              <a:buChar char="▪"/>
            </a:pPr>
            <a:r>
              <a:rPr lang="en-US" sz="867" dirty="0">
                <a:solidFill>
                  <a:srgbClr val="1A1E1A"/>
                </a:solidFill>
                <a:latin typeface="DM Sans" pitchFamily="34" charset="0"/>
                <a:ea typeface="DM Sans" pitchFamily="34" charset="-122"/>
                <a:cs typeface="DM Sans" pitchFamily="34" charset="-120"/>
              </a:rPr>
              <a:t>Never promise a school something we have not confirmed.</a:t>
            </a:r>
            <a:endParaRPr lang="en-US" sz="867" dirty="0"/>
          </a:p>
          <a:p>
            <a:pPr marL="342900" indent="-342900">
              <a:lnSpc>
                <a:spcPct val="110000"/>
              </a:lnSpc>
              <a:buSzPct val="100000"/>
              <a:buChar char="▪"/>
            </a:pPr>
            <a:r>
              <a:rPr lang="en-US" sz="867" dirty="0">
                <a:solidFill>
                  <a:srgbClr val="1A1E1A"/>
                </a:solidFill>
                <a:latin typeface="DM Sans" pitchFamily="34" charset="0"/>
                <a:ea typeface="DM Sans" pitchFamily="34" charset="-122"/>
                <a:cs typeface="DM Sans" pitchFamily="34" charset="-120"/>
              </a:rPr>
              <a:t>Keep contact with students at other schools inside school channels and with an adult copied in.</a:t>
            </a:r>
            <a:endParaRPr lang="en-US" sz="867" dirty="0"/>
          </a:p>
          <a:p>
            <a:pPr marL="342900" indent="-342900">
              <a:lnSpc>
                <a:spcPct val="110000"/>
              </a:lnSpc>
              <a:buSzPct val="100000"/>
              <a:buChar char="▪"/>
            </a:pPr>
            <a:r>
              <a:rPr lang="en-US" sz="867" dirty="0">
                <a:solidFill>
                  <a:srgbClr val="1A1E1A"/>
                </a:solidFill>
                <a:latin typeface="DM Sans" pitchFamily="34" charset="0"/>
                <a:ea typeface="DM Sans" pitchFamily="34" charset="-122"/>
                <a:cs typeface="DM Sans" pitchFamily="34" charset="-120"/>
              </a:rPr>
              <a:t>Tell us immediately if anything feels wrong. You will never be in trouble for raising something.</a:t>
            </a:r>
            <a:endParaRPr lang="en-US" sz="867" dirty="0"/>
          </a:p>
        </p:txBody>
      </p:sp>
      <p:sp>
        <p:nvSpPr>
          <p:cNvPr id="36" name="Shape 33"/>
          <p:cNvSpPr/>
          <p:nvPr/>
        </p:nvSpPr>
        <p:spPr>
          <a:xfrm>
            <a:off x="481889" y="8127187"/>
            <a:ext cx="6808622" cy="623621"/>
          </a:xfrm>
          <a:prstGeom prst="rect">
            <a:avLst/>
          </a:prstGeom>
          <a:solidFill>
            <a:srgbClr val="1C3A1C"/>
          </a:solidFill>
          <a:ln/>
        </p:spPr>
      </p:sp>
      <p:sp>
        <p:nvSpPr>
          <p:cNvPr id="37" name="Text 34"/>
          <p:cNvSpPr/>
          <p:nvPr/>
        </p:nvSpPr>
        <p:spPr>
          <a:xfrm>
            <a:off x="686147" y="8207654"/>
            <a:ext cx="6400105" cy="241402"/>
          </a:xfrm>
          <a:prstGeom prst="rect">
            <a:avLst/>
          </a:prstGeom>
          <a:noFill/>
          <a:ln/>
        </p:spPr>
        <p:txBody>
          <a:bodyPr wrap="square" lIns="0" tIns="0" rIns="0" bIns="0" rtlCol="0" anchor="ctr"/>
          <a:lstStyle/>
          <a:p>
            <a:pPr indent="0" marL="0">
              <a:buNone/>
            </a:pPr>
            <a:r>
              <a:rPr lang="en-US" sz="952" dirty="0">
                <a:solidFill>
                  <a:srgbClr val="FFFFFF"/>
                </a:solidFill>
                <a:latin typeface="DM Sans" pitchFamily="34" charset="0"/>
                <a:ea typeface="DM Sans" pitchFamily="34" charset="-122"/>
                <a:cs typeface="DM Sans" pitchFamily="34" charset="-120"/>
              </a:rPr>
              <a:t>Ready? Ask your teacher for the Student Ambassador Application, or email us directly.</a:t>
            </a:r>
            <a:endParaRPr lang="en-US" sz="952" dirty="0"/>
          </a:p>
        </p:txBody>
      </p:sp>
      <p:sp>
        <p:nvSpPr>
          <p:cNvPr id="38" name="Text 35"/>
          <p:cNvSpPr/>
          <p:nvPr/>
        </p:nvSpPr>
        <p:spPr>
          <a:xfrm>
            <a:off x="686147" y="8449056"/>
            <a:ext cx="6400105" cy="241402"/>
          </a:xfrm>
          <a:prstGeom prst="rect">
            <a:avLst/>
          </a:prstGeom>
          <a:noFill/>
          <a:ln/>
        </p:spPr>
        <p:txBody>
          <a:bodyPr wrap="square" lIns="0" tIns="0" rIns="0" bIns="0" rtlCol="0" anchor="ctr"/>
          <a:lstStyle/>
          <a:p>
            <a:pPr indent="0" marL="0">
              <a:buNone/>
            </a:pPr>
            <a:r>
              <a:rPr lang="en-US" sz="952" b="1" dirty="0">
                <a:solidFill>
                  <a:srgbClr val="6AB86E"/>
                </a:solidFill>
                <a:latin typeface="DM Sans" pitchFamily="34" charset="0"/>
                <a:ea typeface="DM Sans" pitchFamily="34" charset="-122"/>
                <a:cs typeface="DM Sans" pitchFamily="34" charset="-120"/>
              </a:rPr>
              <a:t>fairgameinitiative@outlook.com        fairgameinitiative.org</a:t>
            </a:r>
            <a:endParaRPr lang="en-US" sz="952" dirty="0"/>
          </a:p>
        </p:txBody>
      </p:sp>
      <p:sp>
        <p:nvSpPr>
          <p:cNvPr id="39" name="Shape 36"/>
          <p:cNvSpPr/>
          <p:nvPr/>
        </p:nvSpPr>
        <p:spPr>
          <a:xfrm>
            <a:off x="481889" y="9605772"/>
            <a:ext cx="6808622" cy="0"/>
          </a:xfrm>
          <a:prstGeom prst="line">
            <a:avLst/>
          </a:prstGeom>
          <a:noFill/>
          <a:ln w="12700">
            <a:solidFill>
              <a:srgbClr val="E2E6E2"/>
            </a:solidFill>
            <a:prstDash val="solid"/>
          </a:ln>
        </p:spPr>
      </p:sp>
      <p:sp>
        <p:nvSpPr>
          <p:cNvPr id="40" name="Text 37"/>
          <p:cNvSpPr/>
          <p:nvPr/>
        </p:nvSpPr>
        <p:spPr>
          <a:xfrm>
            <a:off x="481889" y="9656064"/>
            <a:ext cx="4085173" cy="251460"/>
          </a:xfrm>
          <a:prstGeom prst="rect">
            <a:avLst/>
          </a:prstGeom>
          <a:noFill/>
          <a:ln/>
        </p:spPr>
        <p:txBody>
          <a:bodyPr wrap="square" lIns="0" tIns="0" rIns="0" bIns="0" rtlCol="0" anchor="ctr"/>
          <a:lstStyle/>
          <a:p>
            <a:pPr indent="0" marL="0">
              <a:buNone/>
            </a:pPr>
            <a:r>
              <a:rPr lang="en-US" sz="731" dirty="0">
                <a:solidFill>
                  <a:srgbClr val="6B756B"/>
                </a:solidFill>
                <a:latin typeface="DM Sans" pitchFamily="34" charset="0"/>
                <a:ea typeface="DM Sans" pitchFamily="34" charset="-122"/>
                <a:cs typeface="DM Sans" pitchFamily="34" charset="-120"/>
              </a:rPr>
              <a:t>FairGame Initiative  |  Student Ambassador Program</a:t>
            </a:r>
            <a:endParaRPr lang="en-US" sz="731" dirty="0"/>
          </a:p>
        </p:txBody>
      </p:sp>
      <p:sp>
        <p:nvSpPr>
          <p:cNvPr id="41" name="Text 38"/>
          <p:cNvSpPr/>
          <p:nvPr/>
        </p:nvSpPr>
        <p:spPr>
          <a:xfrm>
            <a:off x="4567062" y="9656064"/>
            <a:ext cx="2723449" cy="251460"/>
          </a:xfrm>
          <a:prstGeom prst="rect">
            <a:avLst/>
          </a:prstGeom>
          <a:noFill/>
          <a:ln/>
        </p:spPr>
        <p:txBody>
          <a:bodyPr wrap="square" lIns="0" tIns="0" rIns="0" bIns="0" rtlCol="0" anchor="ctr"/>
          <a:lstStyle/>
          <a:p>
            <a:pPr algn="r" indent="0" marL="0">
              <a:buNone/>
            </a:pPr>
            <a:r>
              <a:rPr lang="en-US" sz="731" i="1" dirty="0">
                <a:solidFill>
                  <a:srgbClr val="E0615A"/>
                </a:solidFill>
                <a:latin typeface="Playfair Display" pitchFamily="34" charset="0"/>
                <a:ea typeface="Playfair Display" pitchFamily="34" charset="-122"/>
                <a:cs typeface="Playfair Display" pitchFamily="34" charset="-120"/>
              </a:rPr>
              <a:t>Science fairs without barriers.</a:t>
            </a:r>
            <a:endParaRPr lang="en-US" sz="73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FairGame Initiative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FairGame Student Ambassador Program</dc:title>
  <dc:subject>PptxGenJS Presentation</dc:subject>
  <dc:creator>FairGame Initiative</dc:creator>
  <cp:lastModifiedBy>FairGame Initiative</cp:lastModifiedBy>
  <cp:revision>1</cp:revision>
  <dcterms:created xsi:type="dcterms:W3CDTF">2026-07-27T19:05:17Z</dcterms:created>
  <dcterms:modified xsi:type="dcterms:W3CDTF">2026-07-27T19:05:17Z</dcterms:modified>
</cp:coreProperties>
</file>