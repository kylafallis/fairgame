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772400" cy="10058400"/>
  <p:notesSz cx="10058400" cy="7772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72400" cy="1760220"/>
          </a:xfrm>
          <a:prstGeom prst="rect">
            <a:avLst/>
          </a:prstGeom>
          <a:solidFill>
            <a:srgbClr val="1C3A1C"/>
          </a:solidFill>
          <a:ln/>
        </p:spPr>
      </p:sp>
      <p:pic>
        <p:nvPicPr>
          <p:cNvPr id="3" name="Image 0" descr="/tmp/fairgame_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50748" y="457657"/>
            <a:ext cx="471894" cy="77449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81889" y="281635"/>
            <a:ext cx="63367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18" b="1" spc="272" kern="0" dirty="0">
                <a:solidFill>
                  <a:srgbClr val="6AB8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FOR INDIVIDUAL AND FOUNDATION DONORS</a:t>
            </a:r>
            <a:endParaRPr lang="en-US" sz="1318" dirty="0"/>
          </a:p>
        </p:txBody>
      </p:sp>
      <p:sp>
        <p:nvSpPr>
          <p:cNvPr id="5" name="Text 2"/>
          <p:cNvSpPr/>
          <p:nvPr/>
        </p:nvSpPr>
        <p:spPr>
          <a:xfrm>
            <a:off x="435254" y="580873"/>
            <a:ext cx="6572675" cy="545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23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FUND A SCHOOL</a:t>
            </a:r>
            <a:endParaRPr lang="en-US" sz="3523" dirty="0"/>
          </a:p>
        </p:txBody>
      </p:sp>
      <p:sp>
        <p:nvSpPr>
          <p:cNvPr id="6" name="Text 3"/>
          <p:cNvSpPr/>
          <p:nvPr/>
        </p:nvSpPr>
        <p:spPr>
          <a:xfrm>
            <a:off x="435254" y="1126541"/>
            <a:ext cx="6572675" cy="545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23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PROGRAMME</a:t>
            </a:r>
            <a:endParaRPr lang="en-US" sz="3523" dirty="0"/>
          </a:p>
        </p:txBody>
      </p:sp>
      <p:sp>
        <p:nvSpPr>
          <p:cNvPr id="7" name="Text 4"/>
          <p:cNvSpPr/>
          <p:nvPr/>
        </p:nvSpPr>
        <p:spPr>
          <a:xfrm>
            <a:off x="450799" y="1961388"/>
            <a:ext cx="687080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8" i="1" dirty="0">
                <a:solidFill>
                  <a:srgbClr val="254F2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gap is real, it is fixable, and it is inexpensive to fix.</a:t>
            </a:r>
            <a:endParaRPr lang="en-US" sz="1428" dirty="0"/>
          </a:p>
        </p:txBody>
      </p:sp>
      <p:sp>
        <p:nvSpPr>
          <p:cNvPr id="8" name="Text 5"/>
          <p:cNvSpPr/>
          <p:nvPr/>
        </p:nvSpPr>
        <p:spPr>
          <a:xfrm>
            <a:off x="450799" y="2363724"/>
            <a:ext cx="6870802" cy="683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6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Students in under-resourced and rural schools do not lack intelligence or curiosity. They lack the infrastructure and connections to run competitive science programmes. A first-year school fair costs between $300 and $1,500. That is the entire barrier between a school and a competition pathway that leads to State Science Day and, for some students, to ISEF.</a:t>
            </a:r>
            <a:endParaRPr lang="en-US" sz="986" dirty="0"/>
          </a:p>
        </p:txBody>
      </p:sp>
      <p:sp>
        <p:nvSpPr>
          <p:cNvPr id="9" name="Shape 6"/>
          <p:cNvSpPr/>
          <p:nvPr/>
        </p:nvSpPr>
        <p:spPr>
          <a:xfrm>
            <a:off x="450799" y="3168396"/>
            <a:ext cx="6870802" cy="704088"/>
          </a:xfrm>
          <a:prstGeom prst="rect">
            <a:avLst/>
          </a:prstGeom>
          <a:solidFill>
            <a:srgbClr val="1C3A1C"/>
          </a:solidFill>
          <a:ln/>
        </p:spPr>
      </p:sp>
      <p:sp>
        <p:nvSpPr>
          <p:cNvPr id="10" name="Text 7"/>
          <p:cNvSpPr/>
          <p:nvPr/>
        </p:nvSpPr>
        <p:spPr>
          <a:xfrm>
            <a:off x="571038" y="3238805"/>
            <a:ext cx="1477222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8" b="1" dirty="0">
                <a:solidFill>
                  <a:srgbClr val="6AB86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$300</a:t>
            </a:r>
            <a:endParaRPr lang="en-US" sz="1658" dirty="0"/>
          </a:p>
        </p:txBody>
      </p:sp>
      <p:sp>
        <p:nvSpPr>
          <p:cNvPr id="11" name="Text 8"/>
          <p:cNvSpPr/>
          <p:nvPr/>
        </p:nvSpPr>
        <p:spPr>
          <a:xfrm>
            <a:off x="571038" y="3560674"/>
            <a:ext cx="1477222" cy="261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2" dirty="0">
                <a:solidFill>
                  <a:srgbClr val="B9CDB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funds a school's first fair</a:t>
            </a:r>
            <a:endParaRPr lang="en-US" sz="782" dirty="0"/>
          </a:p>
        </p:txBody>
      </p:sp>
      <p:sp>
        <p:nvSpPr>
          <p:cNvPr id="12" name="Text 9"/>
          <p:cNvSpPr/>
          <p:nvPr/>
        </p:nvSpPr>
        <p:spPr>
          <a:xfrm>
            <a:off x="2288739" y="3238805"/>
            <a:ext cx="1477222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8" b="1" dirty="0">
                <a:solidFill>
                  <a:srgbClr val="6AB86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[  ]</a:t>
            </a:r>
            <a:endParaRPr lang="en-US" sz="1658" dirty="0"/>
          </a:p>
        </p:txBody>
      </p:sp>
      <p:sp>
        <p:nvSpPr>
          <p:cNvPr id="13" name="Text 10"/>
          <p:cNvSpPr/>
          <p:nvPr/>
        </p:nvSpPr>
        <p:spPr>
          <a:xfrm>
            <a:off x="2288739" y="3560674"/>
            <a:ext cx="1477222" cy="261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2" dirty="0">
                <a:solidFill>
                  <a:srgbClr val="B9CDB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schools supported</a:t>
            </a:r>
            <a:endParaRPr lang="en-US" sz="782" dirty="0"/>
          </a:p>
        </p:txBody>
      </p:sp>
      <p:sp>
        <p:nvSpPr>
          <p:cNvPr id="14" name="Text 11"/>
          <p:cNvSpPr/>
          <p:nvPr/>
        </p:nvSpPr>
        <p:spPr>
          <a:xfrm>
            <a:off x="4006439" y="3238805"/>
            <a:ext cx="1477222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8" b="1" dirty="0">
                <a:solidFill>
                  <a:srgbClr val="6AB86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[  ]</a:t>
            </a:r>
            <a:endParaRPr lang="en-US" sz="1658" dirty="0"/>
          </a:p>
        </p:txBody>
      </p:sp>
      <p:sp>
        <p:nvSpPr>
          <p:cNvPr id="15" name="Text 12"/>
          <p:cNvSpPr/>
          <p:nvPr/>
        </p:nvSpPr>
        <p:spPr>
          <a:xfrm>
            <a:off x="4006439" y="3560674"/>
            <a:ext cx="1477222" cy="261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2" dirty="0">
                <a:solidFill>
                  <a:srgbClr val="B9CDB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students reached</a:t>
            </a:r>
            <a:endParaRPr lang="en-US" sz="782" dirty="0"/>
          </a:p>
        </p:txBody>
      </p:sp>
      <p:sp>
        <p:nvSpPr>
          <p:cNvPr id="16" name="Text 13"/>
          <p:cNvSpPr/>
          <p:nvPr/>
        </p:nvSpPr>
        <p:spPr>
          <a:xfrm>
            <a:off x="5724139" y="3238805"/>
            <a:ext cx="1477222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8" b="1" dirty="0">
                <a:solidFill>
                  <a:srgbClr val="6AB86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[  ]</a:t>
            </a:r>
            <a:endParaRPr lang="en-US" sz="1658" dirty="0"/>
          </a:p>
        </p:txBody>
      </p:sp>
      <p:sp>
        <p:nvSpPr>
          <p:cNvPr id="17" name="Text 14"/>
          <p:cNvSpPr/>
          <p:nvPr/>
        </p:nvSpPr>
        <p:spPr>
          <a:xfrm>
            <a:off x="5724139" y="3560674"/>
            <a:ext cx="1477222" cy="261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2" dirty="0">
                <a:solidFill>
                  <a:srgbClr val="B9CDB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percent to programmes</a:t>
            </a:r>
            <a:endParaRPr lang="en-US" sz="782" dirty="0"/>
          </a:p>
        </p:txBody>
      </p:sp>
      <p:sp>
        <p:nvSpPr>
          <p:cNvPr id="18" name="Text 15"/>
          <p:cNvSpPr/>
          <p:nvPr/>
        </p:nvSpPr>
        <p:spPr>
          <a:xfrm>
            <a:off x="450799" y="4013302"/>
            <a:ext cx="6870802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2" b="1" spc="136" kern="0" dirty="0">
                <a:solidFill>
                  <a:srgbClr val="357A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 YOUR GIFT COVERS</a:t>
            </a:r>
            <a:endParaRPr lang="en-US" sz="952" dirty="0"/>
          </a:p>
        </p:txBody>
      </p:sp>
      <p:sp>
        <p:nvSpPr>
          <p:cNvPr id="19" name="Shape 16"/>
          <p:cNvSpPr/>
          <p:nvPr/>
        </p:nvSpPr>
        <p:spPr>
          <a:xfrm>
            <a:off x="450799" y="4335170"/>
            <a:ext cx="6870802" cy="774497"/>
          </a:xfrm>
          <a:prstGeom prst="rect">
            <a:avLst/>
          </a:prstGeom>
          <a:solidFill>
            <a:srgbClr val="FFFFFF"/>
          </a:solidFill>
          <a:ln w="12954">
            <a:solidFill>
              <a:srgbClr val="6AB86E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50799" y="4335170"/>
            <a:ext cx="388620" cy="774497"/>
          </a:xfrm>
          <a:prstGeom prst="rect">
            <a:avLst/>
          </a:prstGeom>
          <a:solidFill>
            <a:srgbClr val="1C3A1C"/>
          </a:solidFill>
          <a:ln/>
        </p:spPr>
      </p:sp>
      <p:sp>
        <p:nvSpPr>
          <p:cNvPr id="21" name="Text 18"/>
          <p:cNvSpPr/>
          <p:nvPr/>
        </p:nvSpPr>
        <p:spPr>
          <a:xfrm>
            <a:off x="450799" y="4335170"/>
            <a:ext cx="388620" cy="7744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73" b="1" dirty="0">
                <a:solidFill>
                  <a:srgbClr val="6AB86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01</a:t>
            </a:r>
            <a:endParaRPr lang="en-US" sz="1573" dirty="0"/>
          </a:p>
        </p:txBody>
      </p:sp>
      <p:sp>
        <p:nvSpPr>
          <p:cNvPr id="22" name="Text 19"/>
          <p:cNvSpPr/>
          <p:nvPr/>
        </p:nvSpPr>
        <p:spPr>
          <a:xfrm>
            <a:off x="979322" y="4435855"/>
            <a:ext cx="6186830" cy="2633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9" b="1" dirty="0">
                <a:solidFill>
                  <a:srgbClr val="1C3A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Trophies and recognition</a:t>
            </a:r>
            <a:endParaRPr lang="en-US" sz="1139" dirty="0"/>
          </a:p>
        </p:txBody>
      </p:sp>
      <p:sp>
        <p:nvSpPr>
          <p:cNvPr id="23" name="Text 20"/>
          <p:cNvSpPr/>
          <p:nvPr/>
        </p:nvSpPr>
        <p:spPr>
          <a:xfrm>
            <a:off x="979322" y="4691439"/>
            <a:ext cx="6186830" cy="387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4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$100 to $400 per school. The part students remember, and the part that persuades families the work mattered.</a:t>
            </a:r>
            <a:endParaRPr lang="en-US" sz="884" dirty="0"/>
          </a:p>
        </p:txBody>
      </p:sp>
      <p:sp>
        <p:nvSpPr>
          <p:cNvPr id="24" name="Shape 21"/>
          <p:cNvSpPr/>
          <p:nvPr/>
        </p:nvSpPr>
        <p:spPr>
          <a:xfrm>
            <a:off x="450799" y="5210251"/>
            <a:ext cx="6870802" cy="774497"/>
          </a:xfrm>
          <a:prstGeom prst="rect">
            <a:avLst/>
          </a:prstGeom>
          <a:solidFill>
            <a:srgbClr val="FFFFFF"/>
          </a:solidFill>
          <a:ln w="12954">
            <a:solidFill>
              <a:srgbClr val="6AB86E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50799" y="5210251"/>
            <a:ext cx="388620" cy="774497"/>
          </a:xfrm>
          <a:prstGeom prst="rect">
            <a:avLst/>
          </a:prstGeom>
          <a:solidFill>
            <a:srgbClr val="1C3A1C"/>
          </a:solidFill>
          <a:ln/>
        </p:spPr>
      </p:sp>
      <p:sp>
        <p:nvSpPr>
          <p:cNvPr id="26" name="Text 23"/>
          <p:cNvSpPr/>
          <p:nvPr/>
        </p:nvSpPr>
        <p:spPr>
          <a:xfrm>
            <a:off x="450799" y="5210251"/>
            <a:ext cx="388620" cy="7744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73" b="1" dirty="0">
                <a:solidFill>
                  <a:srgbClr val="6AB86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02</a:t>
            </a:r>
            <a:endParaRPr lang="en-US" sz="1573" dirty="0"/>
          </a:p>
        </p:txBody>
      </p:sp>
      <p:sp>
        <p:nvSpPr>
          <p:cNvPr id="27" name="Text 24"/>
          <p:cNvSpPr/>
          <p:nvPr/>
        </p:nvSpPr>
        <p:spPr>
          <a:xfrm>
            <a:off x="979322" y="5310936"/>
            <a:ext cx="6186830" cy="2633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9" b="1" dirty="0">
                <a:solidFill>
                  <a:srgbClr val="1C3A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Printed materials and signage</a:t>
            </a:r>
            <a:endParaRPr lang="en-US" sz="1139" dirty="0"/>
          </a:p>
        </p:txBody>
      </p:sp>
      <p:sp>
        <p:nvSpPr>
          <p:cNvPr id="28" name="Text 25"/>
          <p:cNvSpPr/>
          <p:nvPr/>
        </p:nvSpPr>
        <p:spPr>
          <a:xfrm>
            <a:off x="979322" y="5566520"/>
            <a:ext cx="6186830" cy="387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4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$50 to $200 per school. Programmes, category signs, wayfinding, and student display board supplies.</a:t>
            </a:r>
            <a:endParaRPr lang="en-US" sz="884" dirty="0"/>
          </a:p>
        </p:txBody>
      </p:sp>
      <p:sp>
        <p:nvSpPr>
          <p:cNvPr id="29" name="Shape 26"/>
          <p:cNvSpPr/>
          <p:nvPr/>
        </p:nvSpPr>
        <p:spPr>
          <a:xfrm>
            <a:off x="450799" y="6085332"/>
            <a:ext cx="6870802" cy="774497"/>
          </a:xfrm>
          <a:prstGeom prst="rect">
            <a:avLst/>
          </a:prstGeom>
          <a:solidFill>
            <a:srgbClr val="FFFFFF"/>
          </a:solidFill>
          <a:ln w="12954">
            <a:solidFill>
              <a:srgbClr val="6AB86E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50799" y="6085332"/>
            <a:ext cx="388620" cy="774497"/>
          </a:xfrm>
          <a:prstGeom prst="rect">
            <a:avLst/>
          </a:prstGeom>
          <a:solidFill>
            <a:srgbClr val="1C3A1C"/>
          </a:solidFill>
          <a:ln/>
        </p:spPr>
      </p:sp>
      <p:sp>
        <p:nvSpPr>
          <p:cNvPr id="31" name="Text 28"/>
          <p:cNvSpPr/>
          <p:nvPr/>
        </p:nvSpPr>
        <p:spPr>
          <a:xfrm>
            <a:off x="450799" y="6085332"/>
            <a:ext cx="388620" cy="7744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73" b="1" dirty="0">
                <a:solidFill>
                  <a:srgbClr val="6AB86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03</a:t>
            </a:r>
            <a:endParaRPr lang="en-US" sz="1573" dirty="0"/>
          </a:p>
        </p:txBody>
      </p:sp>
      <p:sp>
        <p:nvSpPr>
          <p:cNvPr id="32" name="Text 29"/>
          <p:cNvSpPr/>
          <p:nvPr/>
        </p:nvSpPr>
        <p:spPr>
          <a:xfrm>
            <a:off x="979322" y="6186017"/>
            <a:ext cx="6186830" cy="2633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9" b="1" dirty="0">
                <a:solidFill>
                  <a:srgbClr val="1C3A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Competition registration fees</a:t>
            </a:r>
            <a:endParaRPr lang="en-US" sz="1139" dirty="0"/>
          </a:p>
        </p:txBody>
      </p:sp>
      <p:sp>
        <p:nvSpPr>
          <p:cNvPr id="33" name="Text 30"/>
          <p:cNvSpPr/>
          <p:nvPr/>
        </p:nvSpPr>
        <p:spPr>
          <a:xfrm>
            <a:off x="979322" y="6441601"/>
            <a:ext cx="6186830" cy="387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4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fee that stops a qualifying student from advancing past their own school fair.</a:t>
            </a:r>
            <a:endParaRPr lang="en-US" sz="884" dirty="0"/>
          </a:p>
        </p:txBody>
      </p:sp>
      <p:sp>
        <p:nvSpPr>
          <p:cNvPr id="34" name="Shape 31"/>
          <p:cNvSpPr/>
          <p:nvPr/>
        </p:nvSpPr>
        <p:spPr>
          <a:xfrm>
            <a:off x="450799" y="6960413"/>
            <a:ext cx="6870802" cy="774497"/>
          </a:xfrm>
          <a:prstGeom prst="rect">
            <a:avLst/>
          </a:prstGeom>
          <a:solidFill>
            <a:srgbClr val="FFFFFF"/>
          </a:solidFill>
          <a:ln w="12954">
            <a:solidFill>
              <a:srgbClr val="6AB86E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50799" y="6960413"/>
            <a:ext cx="388620" cy="774497"/>
          </a:xfrm>
          <a:prstGeom prst="rect">
            <a:avLst/>
          </a:prstGeom>
          <a:solidFill>
            <a:srgbClr val="1C3A1C"/>
          </a:solidFill>
          <a:ln/>
        </p:spPr>
      </p:sp>
      <p:sp>
        <p:nvSpPr>
          <p:cNvPr id="36" name="Text 33"/>
          <p:cNvSpPr/>
          <p:nvPr/>
        </p:nvSpPr>
        <p:spPr>
          <a:xfrm>
            <a:off x="450799" y="6960413"/>
            <a:ext cx="388620" cy="7744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73" b="1" dirty="0">
                <a:solidFill>
                  <a:srgbClr val="6AB86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04</a:t>
            </a:r>
            <a:endParaRPr lang="en-US" sz="1573" dirty="0"/>
          </a:p>
        </p:txBody>
      </p:sp>
      <p:sp>
        <p:nvSpPr>
          <p:cNvPr id="37" name="Text 34"/>
          <p:cNvSpPr/>
          <p:nvPr/>
        </p:nvSpPr>
        <p:spPr>
          <a:xfrm>
            <a:off x="979322" y="7061097"/>
            <a:ext cx="6186830" cy="2633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9" b="1" dirty="0">
                <a:solidFill>
                  <a:srgbClr val="1C3A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School welcome kits</a:t>
            </a:r>
            <a:endParaRPr lang="en-US" sz="1139" dirty="0"/>
          </a:p>
        </p:txBody>
      </p:sp>
      <p:sp>
        <p:nvSpPr>
          <p:cNvPr id="38" name="Text 35"/>
          <p:cNvSpPr/>
          <p:nvPr/>
        </p:nvSpPr>
        <p:spPr>
          <a:xfrm>
            <a:off x="979322" y="7316681"/>
            <a:ext cx="6186830" cy="387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4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Poster boards, construction paper, and basic supplies, so no student is asked to buy materials at home.</a:t>
            </a:r>
            <a:endParaRPr lang="en-US" sz="884" dirty="0"/>
          </a:p>
        </p:txBody>
      </p:sp>
      <p:sp>
        <p:nvSpPr>
          <p:cNvPr id="39" name="Shape 36"/>
          <p:cNvSpPr/>
          <p:nvPr/>
        </p:nvSpPr>
        <p:spPr>
          <a:xfrm>
            <a:off x="450799" y="7895844"/>
            <a:ext cx="6870802" cy="1186891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40" name="Text 37"/>
          <p:cNvSpPr/>
          <p:nvPr/>
        </p:nvSpPr>
        <p:spPr>
          <a:xfrm>
            <a:off x="643182" y="7996428"/>
            <a:ext cx="6458554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5" b="1" spc="119" kern="0" dirty="0">
                <a:solidFill>
                  <a:srgbClr val="357A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WAYS TO GIVE</a:t>
            </a:r>
            <a:endParaRPr lang="en-US" sz="935" dirty="0"/>
          </a:p>
        </p:txBody>
      </p:sp>
      <p:sp>
        <p:nvSpPr>
          <p:cNvPr id="41" name="Text 38"/>
          <p:cNvSpPr/>
          <p:nvPr/>
        </p:nvSpPr>
        <p:spPr>
          <a:xfrm>
            <a:off x="711890" y="8278063"/>
            <a:ext cx="6321137" cy="744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buSzPct val="100000"/>
              <a:buChar char="▪"/>
            </a:pPr>
            <a:r>
              <a:rPr lang="en-US" sz="901" dirty="0">
                <a:solidFill>
                  <a:srgbClr val="254F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One-time gift, at any amount</a:t>
            </a:r>
            <a:endParaRPr lang="en-US" sz="901" dirty="0"/>
          </a:p>
          <a:p>
            <a:pPr marL="342900" indent="-342900">
              <a:lnSpc>
                <a:spcPct val="112000"/>
              </a:lnSpc>
              <a:buSzPct val="100000"/>
              <a:buChar char="▪"/>
            </a:pPr>
            <a:r>
              <a:rPr lang="en-US" sz="901" dirty="0">
                <a:solidFill>
                  <a:srgbClr val="254F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Monthly recurring giving, which lets us commit to schools a year ahead</a:t>
            </a:r>
            <a:endParaRPr lang="en-US" sz="901" dirty="0"/>
          </a:p>
          <a:p>
            <a:pPr marL="342900" indent="-342900">
              <a:lnSpc>
                <a:spcPct val="112000"/>
              </a:lnSpc>
              <a:buSzPct val="100000"/>
              <a:buChar char="▪"/>
            </a:pPr>
            <a:r>
              <a:rPr lang="en-US" sz="901" dirty="0">
                <a:solidFill>
                  <a:srgbClr val="254F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Sponsor a named school programme for a full year</a:t>
            </a:r>
            <a:endParaRPr lang="en-US" sz="901" dirty="0"/>
          </a:p>
          <a:p>
            <a:pPr marL="342900" indent="-342900">
              <a:lnSpc>
                <a:spcPct val="112000"/>
              </a:lnSpc>
              <a:buSzPct val="100000"/>
              <a:buChar char="▪"/>
            </a:pPr>
            <a:r>
              <a:rPr lang="en-US" sz="901" dirty="0">
                <a:solidFill>
                  <a:srgbClr val="254F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Employer matching, which many companies offer for education giving</a:t>
            </a:r>
            <a:endParaRPr lang="en-US" sz="901" dirty="0"/>
          </a:p>
          <a:p>
            <a:pPr marL="342900" indent="-342900">
              <a:lnSpc>
                <a:spcPct val="112000"/>
              </a:lnSpc>
              <a:buSzPct val="100000"/>
              <a:buChar char="▪"/>
            </a:pPr>
            <a:r>
              <a:rPr lang="en-US" sz="901" dirty="0">
                <a:solidFill>
                  <a:srgbClr val="254F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Confirm current 501(c)(3) status with us before claiming a deduction</a:t>
            </a:r>
            <a:endParaRPr lang="en-US" sz="901" dirty="0"/>
          </a:p>
        </p:txBody>
      </p:sp>
      <p:sp>
        <p:nvSpPr>
          <p:cNvPr id="42" name="Shape 39"/>
          <p:cNvSpPr/>
          <p:nvPr/>
        </p:nvSpPr>
        <p:spPr>
          <a:xfrm>
            <a:off x="450799" y="9203436"/>
            <a:ext cx="6870802" cy="603504"/>
          </a:xfrm>
          <a:prstGeom prst="rect">
            <a:avLst/>
          </a:prstGeom>
          <a:solidFill>
            <a:srgbClr val="1C3A1C"/>
          </a:solidFill>
          <a:ln/>
        </p:spPr>
      </p:sp>
      <p:sp>
        <p:nvSpPr>
          <p:cNvPr id="43" name="Text 40"/>
          <p:cNvSpPr/>
          <p:nvPr/>
        </p:nvSpPr>
        <p:spPr>
          <a:xfrm>
            <a:off x="643182" y="9273845"/>
            <a:ext cx="6458554" cy="2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8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Every dollar goes to schools that could not otherwise offer this.</a:t>
            </a:r>
            <a:endParaRPr lang="en-US" sz="918" dirty="0"/>
          </a:p>
        </p:txBody>
      </p:sp>
      <p:sp>
        <p:nvSpPr>
          <p:cNvPr id="44" name="Text 41"/>
          <p:cNvSpPr/>
          <p:nvPr/>
        </p:nvSpPr>
        <p:spPr>
          <a:xfrm>
            <a:off x="643182" y="9515246"/>
            <a:ext cx="6458554" cy="2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8" b="1" dirty="0">
                <a:solidFill>
                  <a:srgbClr val="6AB8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fairgameinitiative@outlook.com        fairgameinitiative.org</a:t>
            </a:r>
            <a:endParaRPr lang="en-US" sz="918" dirty="0"/>
          </a:p>
        </p:txBody>
      </p:sp>
      <p:sp>
        <p:nvSpPr>
          <p:cNvPr id="45" name="Shape 42"/>
          <p:cNvSpPr/>
          <p:nvPr/>
        </p:nvSpPr>
        <p:spPr>
          <a:xfrm>
            <a:off x="481889" y="9605772"/>
            <a:ext cx="6808622" cy="0"/>
          </a:xfrm>
          <a:prstGeom prst="line">
            <a:avLst/>
          </a:prstGeom>
          <a:noFill/>
          <a:ln w="12700">
            <a:solidFill>
              <a:srgbClr val="E2E6E2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481889" y="9656064"/>
            <a:ext cx="4085173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1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FairGame Initiative  |  For donors</a:t>
            </a:r>
            <a:endParaRPr lang="en-US" sz="731" dirty="0"/>
          </a:p>
        </p:txBody>
      </p:sp>
      <p:sp>
        <p:nvSpPr>
          <p:cNvPr id="47" name="Text 44"/>
          <p:cNvSpPr/>
          <p:nvPr/>
        </p:nvSpPr>
        <p:spPr>
          <a:xfrm>
            <a:off x="4567062" y="9656064"/>
            <a:ext cx="2723449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1" i="1" dirty="0">
                <a:solidFill>
                  <a:srgbClr val="E0615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Science fairs without barriers.</a:t>
            </a:r>
            <a:endParaRPr lang="en-US" sz="73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FairGame Initiative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FairGame One-Pager, For donors</dc:title>
  <dc:subject>PptxGenJS Presentation</dc:subject>
  <dc:creator>FairGame Initiative</dc:creator>
  <cp:lastModifiedBy>FairGame Initiative</cp:lastModifiedBy>
  <cp:revision>1</cp:revision>
  <dcterms:created xsi:type="dcterms:W3CDTF">2026-07-28T01:39:56Z</dcterms:created>
  <dcterms:modified xsi:type="dcterms:W3CDTF">2026-07-28T01:39:56Z</dcterms:modified>
</cp:coreProperties>
</file>