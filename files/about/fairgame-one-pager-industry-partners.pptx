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72400" cy="1760220"/>
          </a:xfrm>
          <a:prstGeom prst="rect">
            <a:avLst/>
          </a:prstGeom>
          <a:solidFill>
            <a:srgbClr val="1C3A1C"/>
          </a:solidFill>
          <a:ln/>
        </p:spPr>
      </p:sp>
      <p:pic>
        <p:nvPicPr>
          <p:cNvPr id="3" name="Image 0" descr="/tmp/fairgame_logo_white.png">    </p:cNvPr>
          <p:cNvPicPr>
            <a:picLocks noChangeAspect="1"/>
          </p:cNvPicPr>
          <p:nvPr/>
        </p:nvPicPr>
        <p:blipFill>
          <a:blip r:embed="rId1"/>
          <a:stretch>
            <a:fillRect/>
          </a:stretch>
        </p:blipFill>
        <p:spPr>
          <a:xfrm>
            <a:off x="6950748" y="457657"/>
            <a:ext cx="471894" cy="774497"/>
          </a:xfrm>
          <a:prstGeom prst="rect">
            <a:avLst/>
          </a:prstGeom>
        </p:spPr>
      </p:pic>
      <p:sp>
        <p:nvSpPr>
          <p:cNvPr id="4" name="Text 1"/>
          <p:cNvSpPr/>
          <p:nvPr/>
        </p:nvSpPr>
        <p:spPr>
          <a:xfrm>
            <a:off x="481889" y="281635"/>
            <a:ext cx="6336728" cy="281635"/>
          </a:xfrm>
          <a:prstGeom prst="rect">
            <a:avLst/>
          </a:prstGeom>
          <a:noFill/>
          <a:ln/>
        </p:spPr>
        <p:txBody>
          <a:bodyPr wrap="square" lIns="0" tIns="0" rIns="0" bIns="0" rtlCol="0" anchor="ctr"/>
          <a:lstStyle/>
          <a:p>
            <a:pPr indent="0" marL="0">
              <a:buNone/>
            </a:pPr>
            <a:r>
              <a:rPr lang="en-US" sz="1318" b="1" spc="272" kern="0" dirty="0">
                <a:solidFill>
                  <a:srgbClr val="6AB86E"/>
                </a:solidFill>
                <a:latin typeface="DM Sans" pitchFamily="34" charset="0"/>
                <a:ea typeface="DM Sans" pitchFamily="34" charset="-122"/>
                <a:cs typeface="DM Sans" pitchFamily="34" charset="-120"/>
              </a:rPr>
              <a:t>FOR CORPORATE AND UNIVERSITY PARTNERS</a:t>
            </a:r>
            <a:endParaRPr lang="en-US" sz="1318" dirty="0"/>
          </a:p>
        </p:txBody>
      </p:sp>
      <p:sp>
        <p:nvSpPr>
          <p:cNvPr id="5" name="Text 2"/>
          <p:cNvSpPr/>
          <p:nvPr/>
        </p:nvSpPr>
        <p:spPr>
          <a:xfrm>
            <a:off x="435254" y="580873"/>
            <a:ext cx="6572675" cy="545668"/>
          </a:xfrm>
          <a:prstGeom prst="rect">
            <a:avLst/>
          </a:prstGeom>
          <a:noFill/>
          <a:ln/>
        </p:spPr>
        <p:txBody>
          <a:bodyPr wrap="square" lIns="0" tIns="0" rIns="0" bIns="0" rtlCol="0" anchor="ctr"/>
          <a:lstStyle/>
          <a:p>
            <a:pPr indent="0" marL="0">
              <a:buNone/>
            </a:pPr>
            <a:r>
              <a:rPr lang="en-US" sz="3523" dirty="0">
                <a:solidFill>
                  <a:srgbClr val="FFFFFF"/>
                </a:solidFill>
                <a:latin typeface="Anton" pitchFamily="34" charset="0"/>
                <a:ea typeface="Anton" pitchFamily="34" charset="-122"/>
                <a:cs typeface="Anton" pitchFamily="34" charset="-120"/>
              </a:rPr>
              <a:t>PARTNER WITH</a:t>
            </a:r>
            <a:endParaRPr lang="en-US" sz="3523" dirty="0"/>
          </a:p>
        </p:txBody>
      </p:sp>
      <p:sp>
        <p:nvSpPr>
          <p:cNvPr id="6" name="Text 3"/>
          <p:cNvSpPr/>
          <p:nvPr/>
        </p:nvSpPr>
        <p:spPr>
          <a:xfrm>
            <a:off x="435254" y="1126541"/>
            <a:ext cx="6572675" cy="545668"/>
          </a:xfrm>
          <a:prstGeom prst="rect">
            <a:avLst/>
          </a:prstGeom>
          <a:noFill/>
          <a:ln/>
        </p:spPr>
        <p:txBody>
          <a:bodyPr wrap="square" lIns="0" tIns="0" rIns="0" bIns="0" rtlCol="0" anchor="ctr"/>
          <a:lstStyle/>
          <a:p>
            <a:pPr indent="0" marL="0">
              <a:buNone/>
            </a:pPr>
            <a:r>
              <a:rPr lang="en-US" sz="3523" dirty="0">
                <a:solidFill>
                  <a:srgbClr val="FFFFFF"/>
                </a:solidFill>
                <a:latin typeface="Anton" pitchFamily="34" charset="0"/>
                <a:ea typeface="Anton" pitchFamily="34" charset="-122"/>
                <a:cs typeface="Anton" pitchFamily="34" charset="-120"/>
              </a:rPr>
              <a:t>FAIRGAME</a:t>
            </a:r>
            <a:endParaRPr lang="en-US" sz="3523" dirty="0"/>
          </a:p>
        </p:txBody>
      </p:sp>
      <p:sp>
        <p:nvSpPr>
          <p:cNvPr id="7" name="Text 4"/>
          <p:cNvSpPr/>
          <p:nvPr/>
        </p:nvSpPr>
        <p:spPr>
          <a:xfrm>
            <a:off x="450799" y="1961388"/>
            <a:ext cx="6870802" cy="301752"/>
          </a:xfrm>
          <a:prstGeom prst="rect">
            <a:avLst/>
          </a:prstGeom>
          <a:noFill/>
          <a:ln/>
        </p:spPr>
        <p:txBody>
          <a:bodyPr wrap="square" lIns="0" tIns="0" rIns="0" bIns="0" rtlCol="0" anchor="ctr"/>
          <a:lstStyle/>
          <a:p>
            <a:pPr indent="0" marL="0">
              <a:buNone/>
            </a:pPr>
            <a:r>
              <a:rPr lang="en-US" sz="1428" i="1" dirty="0">
                <a:solidFill>
                  <a:srgbClr val="254F25"/>
                </a:solidFill>
                <a:latin typeface="Playfair Display" pitchFamily="34" charset="0"/>
                <a:ea typeface="Playfair Display" pitchFamily="34" charset="-122"/>
                <a:cs typeface="Playfair Display" pitchFamily="34" charset="-120"/>
              </a:rPr>
              <a:t>Reach the STEM pipeline where it actually narrows.</a:t>
            </a:r>
            <a:endParaRPr lang="en-US" sz="1428" dirty="0"/>
          </a:p>
        </p:txBody>
      </p:sp>
      <p:sp>
        <p:nvSpPr>
          <p:cNvPr id="8" name="Text 5"/>
          <p:cNvSpPr/>
          <p:nvPr/>
        </p:nvSpPr>
        <p:spPr>
          <a:xfrm>
            <a:off x="450799" y="2363724"/>
            <a:ext cx="6870802" cy="683971"/>
          </a:xfrm>
          <a:prstGeom prst="rect">
            <a:avLst/>
          </a:prstGeom>
          <a:noFill/>
          <a:ln/>
        </p:spPr>
        <p:txBody>
          <a:bodyPr wrap="square" lIns="0" tIns="0" rIns="0" bIns="0" rtlCol="0" anchor="t"/>
          <a:lstStyle/>
          <a:p>
            <a:pPr indent="0" marL="0">
              <a:buNone/>
            </a:pPr>
            <a:r>
              <a:rPr lang="en-US" sz="986" dirty="0">
                <a:solidFill>
                  <a:srgbClr val="6B756B"/>
                </a:solidFill>
                <a:latin typeface="DM Sans" pitchFamily="34" charset="0"/>
                <a:ea typeface="DM Sans" pitchFamily="34" charset="-122"/>
                <a:cs typeface="DM Sans" pitchFamily="34" charset="-120"/>
              </a:rPr>
              <a:t>The STEM workforce gap does not begin at university admissions. It begins earlier, in schools where competitive science programmes do not exist, so students never discover they are capable of research. FairGame builds those programmes in under-resourced and rural Ohio schools. Partners supply the expertise, visibility, and funding that turn a plan into a programme.</a:t>
            </a:r>
            <a:endParaRPr lang="en-US" sz="986" dirty="0"/>
          </a:p>
        </p:txBody>
      </p:sp>
      <p:sp>
        <p:nvSpPr>
          <p:cNvPr id="9" name="Shape 6"/>
          <p:cNvSpPr/>
          <p:nvPr/>
        </p:nvSpPr>
        <p:spPr>
          <a:xfrm>
            <a:off x="450799" y="3168396"/>
            <a:ext cx="6870802" cy="704088"/>
          </a:xfrm>
          <a:prstGeom prst="rect">
            <a:avLst/>
          </a:prstGeom>
          <a:solidFill>
            <a:srgbClr val="1C3A1C"/>
          </a:solidFill>
          <a:ln/>
        </p:spPr>
      </p:sp>
      <p:sp>
        <p:nvSpPr>
          <p:cNvPr id="10" name="Text 7"/>
          <p:cNvSpPr/>
          <p:nvPr/>
        </p:nvSpPr>
        <p:spPr>
          <a:xfrm>
            <a:off x="571038" y="3238805"/>
            <a:ext cx="1477222" cy="311810"/>
          </a:xfrm>
          <a:prstGeom prst="rect">
            <a:avLst/>
          </a:prstGeom>
          <a:noFill/>
          <a:ln/>
        </p:spPr>
        <p:txBody>
          <a:bodyPr wrap="square" lIns="0" tIns="0" rIns="0" bIns="0" rtlCol="0" anchor="ctr"/>
          <a:lstStyle/>
          <a:p>
            <a:pPr indent="0" marL="0">
              <a:buNone/>
            </a:pPr>
            <a:r>
              <a:rPr lang="en-US" sz="1658" b="1" dirty="0">
                <a:solidFill>
                  <a:srgbClr val="6AB86E"/>
                </a:solidFill>
                <a:latin typeface="Playfair Display" pitchFamily="34" charset="0"/>
                <a:ea typeface="Playfair Display" pitchFamily="34" charset="-122"/>
                <a:cs typeface="Playfair Display" pitchFamily="34" charset="-120"/>
              </a:rPr>
              <a:t>[  ]</a:t>
            </a:r>
            <a:endParaRPr lang="en-US" sz="1658" dirty="0"/>
          </a:p>
        </p:txBody>
      </p:sp>
      <p:sp>
        <p:nvSpPr>
          <p:cNvPr id="11" name="Text 8"/>
          <p:cNvSpPr/>
          <p:nvPr/>
        </p:nvSpPr>
        <p:spPr>
          <a:xfrm>
            <a:off x="571038" y="3560674"/>
            <a:ext cx="1477222" cy="261518"/>
          </a:xfrm>
          <a:prstGeom prst="rect">
            <a:avLst/>
          </a:prstGeom>
          <a:noFill/>
          <a:ln/>
        </p:spPr>
        <p:txBody>
          <a:bodyPr wrap="square" lIns="0" tIns="0" rIns="0" bIns="0" rtlCol="0" anchor="ctr"/>
          <a:lstStyle/>
          <a:p>
            <a:pPr indent="0" marL="0">
              <a:buNone/>
            </a:pPr>
            <a:r>
              <a:rPr lang="en-US" sz="782" dirty="0">
                <a:solidFill>
                  <a:srgbClr val="B9CDB9"/>
                </a:solidFill>
                <a:latin typeface="DM Sans" pitchFamily="34" charset="0"/>
                <a:ea typeface="DM Sans" pitchFamily="34" charset="-122"/>
                <a:cs typeface="DM Sans" pitchFamily="34" charset="-120"/>
              </a:rPr>
              <a:t>schools supported</a:t>
            </a:r>
            <a:endParaRPr lang="en-US" sz="782" dirty="0"/>
          </a:p>
        </p:txBody>
      </p:sp>
      <p:sp>
        <p:nvSpPr>
          <p:cNvPr id="12" name="Text 9"/>
          <p:cNvSpPr/>
          <p:nvPr/>
        </p:nvSpPr>
        <p:spPr>
          <a:xfrm>
            <a:off x="2288739" y="3238805"/>
            <a:ext cx="1477222" cy="311810"/>
          </a:xfrm>
          <a:prstGeom prst="rect">
            <a:avLst/>
          </a:prstGeom>
          <a:noFill/>
          <a:ln/>
        </p:spPr>
        <p:txBody>
          <a:bodyPr wrap="square" lIns="0" tIns="0" rIns="0" bIns="0" rtlCol="0" anchor="ctr"/>
          <a:lstStyle/>
          <a:p>
            <a:pPr indent="0" marL="0">
              <a:buNone/>
            </a:pPr>
            <a:r>
              <a:rPr lang="en-US" sz="1658" b="1" dirty="0">
                <a:solidFill>
                  <a:srgbClr val="6AB86E"/>
                </a:solidFill>
                <a:latin typeface="Playfair Display" pitchFamily="34" charset="0"/>
                <a:ea typeface="Playfair Display" pitchFamily="34" charset="-122"/>
                <a:cs typeface="Playfair Display" pitchFamily="34" charset="-120"/>
              </a:rPr>
              <a:t>[  ]</a:t>
            </a:r>
            <a:endParaRPr lang="en-US" sz="1658" dirty="0"/>
          </a:p>
        </p:txBody>
      </p:sp>
      <p:sp>
        <p:nvSpPr>
          <p:cNvPr id="13" name="Text 10"/>
          <p:cNvSpPr/>
          <p:nvPr/>
        </p:nvSpPr>
        <p:spPr>
          <a:xfrm>
            <a:off x="2288739" y="3560674"/>
            <a:ext cx="1477222" cy="261518"/>
          </a:xfrm>
          <a:prstGeom prst="rect">
            <a:avLst/>
          </a:prstGeom>
          <a:noFill/>
          <a:ln/>
        </p:spPr>
        <p:txBody>
          <a:bodyPr wrap="square" lIns="0" tIns="0" rIns="0" bIns="0" rtlCol="0" anchor="ctr"/>
          <a:lstStyle/>
          <a:p>
            <a:pPr indent="0" marL="0">
              <a:buNone/>
            </a:pPr>
            <a:r>
              <a:rPr lang="en-US" sz="782" dirty="0">
                <a:solidFill>
                  <a:srgbClr val="B9CDB9"/>
                </a:solidFill>
                <a:latin typeface="DM Sans" pitchFamily="34" charset="0"/>
                <a:ea typeface="DM Sans" pitchFamily="34" charset="-122"/>
                <a:cs typeface="DM Sans" pitchFamily="34" charset="-120"/>
              </a:rPr>
              <a:t>students reached</a:t>
            </a:r>
            <a:endParaRPr lang="en-US" sz="782" dirty="0"/>
          </a:p>
        </p:txBody>
      </p:sp>
      <p:sp>
        <p:nvSpPr>
          <p:cNvPr id="14" name="Text 11"/>
          <p:cNvSpPr/>
          <p:nvPr/>
        </p:nvSpPr>
        <p:spPr>
          <a:xfrm>
            <a:off x="4006439" y="3238805"/>
            <a:ext cx="1477222" cy="311810"/>
          </a:xfrm>
          <a:prstGeom prst="rect">
            <a:avLst/>
          </a:prstGeom>
          <a:noFill/>
          <a:ln/>
        </p:spPr>
        <p:txBody>
          <a:bodyPr wrap="square" lIns="0" tIns="0" rIns="0" bIns="0" rtlCol="0" anchor="ctr"/>
          <a:lstStyle/>
          <a:p>
            <a:pPr indent="0" marL="0">
              <a:buNone/>
            </a:pPr>
            <a:r>
              <a:rPr lang="en-US" sz="1658" b="1" dirty="0">
                <a:solidFill>
                  <a:srgbClr val="6AB86E"/>
                </a:solidFill>
                <a:latin typeface="Playfair Display" pitchFamily="34" charset="0"/>
                <a:ea typeface="Playfair Display" pitchFamily="34" charset="-122"/>
                <a:cs typeface="Playfair Display" pitchFamily="34" charset="-120"/>
              </a:rPr>
              <a:t>[  ]</a:t>
            </a:r>
            <a:endParaRPr lang="en-US" sz="1658" dirty="0"/>
          </a:p>
        </p:txBody>
      </p:sp>
      <p:sp>
        <p:nvSpPr>
          <p:cNvPr id="15" name="Text 12"/>
          <p:cNvSpPr/>
          <p:nvPr/>
        </p:nvSpPr>
        <p:spPr>
          <a:xfrm>
            <a:off x="4006439" y="3560674"/>
            <a:ext cx="1477222" cy="261518"/>
          </a:xfrm>
          <a:prstGeom prst="rect">
            <a:avLst/>
          </a:prstGeom>
          <a:noFill/>
          <a:ln/>
        </p:spPr>
        <p:txBody>
          <a:bodyPr wrap="square" lIns="0" tIns="0" rIns="0" bIns="0" rtlCol="0" anchor="ctr"/>
          <a:lstStyle/>
          <a:p>
            <a:pPr indent="0" marL="0">
              <a:buNone/>
            </a:pPr>
            <a:r>
              <a:rPr lang="en-US" sz="782" dirty="0">
                <a:solidFill>
                  <a:srgbClr val="B9CDB9"/>
                </a:solidFill>
                <a:latin typeface="DM Sans" pitchFamily="34" charset="0"/>
                <a:ea typeface="DM Sans" pitchFamily="34" charset="-122"/>
                <a:cs typeface="DM Sans" pitchFamily="34" charset="-120"/>
              </a:rPr>
              <a:t>partner schools sought</a:t>
            </a:r>
            <a:endParaRPr lang="en-US" sz="782" dirty="0"/>
          </a:p>
        </p:txBody>
      </p:sp>
      <p:sp>
        <p:nvSpPr>
          <p:cNvPr id="16" name="Text 13"/>
          <p:cNvSpPr/>
          <p:nvPr/>
        </p:nvSpPr>
        <p:spPr>
          <a:xfrm>
            <a:off x="5724139" y="3238805"/>
            <a:ext cx="1477222" cy="311810"/>
          </a:xfrm>
          <a:prstGeom prst="rect">
            <a:avLst/>
          </a:prstGeom>
          <a:noFill/>
          <a:ln/>
        </p:spPr>
        <p:txBody>
          <a:bodyPr wrap="square" lIns="0" tIns="0" rIns="0" bIns="0" rtlCol="0" anchor="ctr"/>
          <a:lstStyle/>
          <a:p>
            <a:pPr indent="0" marL="0">
              <a:buNone/>
            </a:pPr>
            <a:r>
              <a:rPr lang="en-US" sz="1658" b="1" dirty="0">
                <a:solidFill>
                  <a:srgbClr val="6AB86E"/>
                </a:solidFill>
                <a:latin typeface="Playfair Display" pitchFamily="34" charset="0"/>
                <a:ea typeface="Playfair Display" pitchFamily="34" charset="-122"/>
                <a:cs typeface="Playfair Display" pitchFamily="34" charset="-120"/>
              </a:rPr>
              <a:t>501(c)(3)</a:t>
            </a:r>
            <a:endParaRPr lang="en-US" sz="1658" dirty="0"/>
          </a:p>
        </p:txBody>
      </p:sp>
      <p:sp>
        <p:nvSpPr>
          <p:cNvPr id="17" name="Text 14"/>
          <p:cNvSpPr/>
          <p:nvPr/>
        </p:nvSpPr>
        <p:spPr>
          <a:xfrm>
            <a:off x="5724139" y="3560674"/>
            <a:ext cx="1477222" cy="261518"/>
          </a:xfrm>
          <a:prstGeom prst="rect">
            <a:avLst/>
          </a:prstGeom>
          <a:noFill/>
          <a:ln/>
        </p:spPr>
        <p:txBody>
          <a:bodyPr wrap="square" lIns="0" tIns="0" rIns="0" bIns="0" rtlCol="0" anchor="ctr"/>
          <a:lstStyle/>
          <a:p>
            <a:pPr indent="0" marL="0">
              <a:buNone/>
            </a:pPr>
            <a:r>
              <a:rPr lang="en-US" sz="782" dirty="0">
                <a:solidFill>
                  <a:srgbClr val="B9CDB9"/>
                </a:solidFill>
                <a:latin typeface="DM Sans" pitchFamily="34" charset="0"/>
                <a:ea typeface="DM Sans" pitchFamily="34" charset="-122"/>
                <a:cs typeface="DM Sans" pitchFamily="34" charset="-120"/>
              </a:rPr>
              <a:t>status pending</a:t>
            </a:r>
            <a:endParaRPr lang="en-US" sz="782" dirty="0"/>
          </a:p>
        </p:txBody>
      </p:sp>
      <p:sp>
        <p:nvSpPr>
          <p:cNvPr id="18" name="Text 15"/>
          <p:cNvSpPr/>
          <p:nvPr/>
        </p:nvSpPr>
        <p:spPr>
          <a:xfrm>
            <a:off x="450799" y="4013302"/>
            <a:ext cx="6870802" cy="251460"/>
          </a:xfrm>
          <a:prstGeom prst="rect">
            <a:avLst/>
          </a:prstGeom>
          <a:noFill/>
          <a:ln/>
        </p:spPr>
        <p:txBody>
          <a:bodyPr wrap="square" lIns="0" tIns="0" rIns="0" bIns="0" rtlCol="0" anchor="ctr"/>
          <a:lstStyle/>
          <a:p>
            <a:pPr indent="0" marL="0">
              <a:buNone/>
            </a:pPr>
            <a:r>
              <a:rPr lang="en-US" sz="952" b="1" spc="136" kern="0" dirty="0">
                <a:solidFill>
                  <a:srgbClr val="357A38"/>
                </a:solidFill>
                <a:latin typeface="DM Sans" pitchFamily="34" charset="0"/>
                <a:ea typeface="DM Sans" pitchFamily="34" charset="-122"/>
                <a:cs typeface="DM Sans" pitchFamily="34" charset="-120"/>
              </a:rPr>
              <a:t>FOUR WAYS TO PARTNER</a:t>
            </a:r>
            <a:endParaRPr lang="en-US" sz="952" dirty="0"/>
          </a:p>
        </p:txBody>
      </p:sp>
      <p:sp>
        <p:nvSpPr>
          <p:cNvPr id="19" name="Shape 16"/>
          <p:cNvSpPr/>
          <p:nvPr/>
        </p:nvSpPr>
        <p:spPr>
          <a:xfrm>
            <a:off x="450799" y="4335170"/>
            <a:ext cx="6870802" cy="774497"/>
          </a:xfrm>
          <a:prstGeom prst="rect">
            <a:avLst/>
          </a:prstGeom>
          <a:solidFill>
            <a:srgbClr val="FFFFFF"/>
          </a:solidFill>
          <a:ln w="12954">
            <a:solidFill>
              <a:srgbClr val="6AB86E"/>
            </a:solidFill>
            <a:prstDash val="solid"/>
          </a:ln>
        </p:spPr>
      </p:sp>
      <p:sp>
        <p:nvSpPr>
          <p:cNvPr id="20" name="Shape 17"/>
          <p:cNvSpPr/>
          <p:nvPr/>
        </p:nvSpPr>
        <p:spPr>
          <a:xfrm>
            <a:off x="450799" y="4335170"/>
            <a:ext cx="388620" cy="774497"/>
          </a:xfrm>
          <a:prstGeom prst="rect">
            <a:avLst/>
          </a:prstGeom>
          <a:solidFill>
            <a:srgbClr val="1C3A1C"/>
          </a:solidFill>
          <a:ln/>
        </p:spPr>
      </p:sp>
      <p:sp>
        <p:nvSpPr>
          <p:cNvPr id="21" name="Text 18"/>
          <p:cNvSpPr/>
          <p:nvPr/>
        </p:nvSpPr>
        <p:spPr>
          <a:xfrm>
            <a:off x="450799" y="4335170"/>
            <a:ext cx="388620" cy="774497"/>
          </a:xfrm>
          <a:prstGeom prst="rect">
            <a:avLst/>
          </a:prstGeom>
          <a:noFill/>
          <a:ln/>
        </p:spPr>
        <p:txBody>
          <a:bodyPr wrap="square" lIns="0" tIns="0" rIns="0" bIns="0" rtlCol="0" anchor="ctr"/>
          <a:lstStyle/>
          <a:p>
            <a:pPr algn="ctr" indent="0" marL="0">
              <a:buNone/>
            </a:pPr>
            <a:r>
              <a:rPr lang="en-US" sz="1573" b="1" dirty="0">
                <a:solidFill>
                  <a:srgbClr val="6AB86E"/>
                </a:solidFill>
                <a:latin typeface="Playfair Display" pitchFamily="34" charset="0"/>
                <a:ea typeface="Playfair Display" pitchFamily="34" charset="-122"/>
                <a:cs typeface="Playfair Display" pitchFamily="34" charset="-120"/>
              </a:rPr>
              <a:t>01</a:t>
            </a:r>
            <a:endParaRPr lang="en-US" sz="1573" dirty="0"/>
          </a:p>
        </p:txBody>
      </p:sp>
      <p:sp>
        <p:nvSpPr>
          <p:cNvPr id="22" name="Text 19"/>
          <p:cNvSpPr/>
          <p:nvPr/>
        </p:nvSpPr>
        <p:spPr>
          <a:xfrm>
            <a:off x="979322" y="4435855"/>
            <a:ext cx="6186830" cy="263329"/>
          </a:xfrm>
          <a:prstGeom prst="rect">
            <a:avLst/>
          </a:prstGeom>
          <a:noFill/>
          <a:ln/>
        </p:spPr>
        <p:txBody>
          <a:bodyPr wrap="square" lIns="0" tIns="0" rIns="0" bIns="0" rtlCol="0" anchor="ctr"/>
          <a:lstStyle/>
          <a:p>
            <a:pPr indent="0" marL="0">
              <a:buNone/>
            </a:pPr>
            <a:r>
              <a:rPr lang="en-US" sz="1139" b="1" dirty="0">
                <a:solidFill>
                  <a:srgbClr val="1C3A1C"/>
                </a:solidFill>
                <a:latin typeface="DM Sans" pitchFamily="34" charset="0"/>
                <a:ea typeface="DM Sans" pitchFamily="34" charset="-122"/>
                <a:cs typeface="DM Sans" pitchFamily="34" charset="-120"/>
              </a:rPr>
              <a:t>Employee volunteering</a:t>
            </a:r>
            <a:endParaRPr lang="en-US" sz="1139" dirty="0"/>
          </a:p>
        </p:txBody>
      </p:sp>
      <p:sp>
        <p:nvSpPr>
          <p:cNvPr id="23" name="Text 20"/>
          <p:cNvSpPr/>
          <p:nvPr/>
        </p:nvSpPr>
        <p:spPr>
          <a:xfrm>
            <a:off x="979322" y="4691439"/>
            <a:ext cx="6186830" cy="387248"/>
          </a:xfrm>
          <a:prstGeom prst="rect">
            <a:avLst/>
          </a:prstGeom>
          <a:noFill/>
          <a:ln/>
        </p:spPr>
        <p:txBody>
          <a:bodyPr wrap="square" lIns="0" tIns="0" rIns="0" bIns="0" rtlCol="0" anchor="t"/>
          <a:lstStyle/>
          <a:p>
            <a:pPr indent="0" marL="0">
              <a:buNone/>
            </a:pPr>
            <a:r>
              <a:rPr lang="en-US" sz="884" dirty="0">
                <a:solidFill>
                  <a:srgbClr val="6B756B"/>
                </a:solidFill>
                <a:latin typeface="DM Sans" pitchFamily="34" charset="0"/>
                <a:ea typeface="DM Sans" pitchFamily="34" charset="-122"/>
                <a:cs typeface="DM Sans" pitchFamily="34" charset="-120"/>
              </a:rPr>
              <a:t>Your team judges fairs and mentors students. Three to five hours per judging event, virtual options available, and corporate volunteer hours apply.</a:t>
            </a:r>
            <a:endParaRPr lang="en-US" sz="884" dirty="0"/>
          </a:p>
        </p:txBody>
      </p:sp>
      <p:sp>
        <p:nvSpPr>
          <p:cNvPr id="24" name="Shape 21"/>
          <p:cNvSpPr/>
          <p:nvPr/>
        </p:nvSpPr>
        <p:spPr>
          <a:xfrm>
            <a:off x="450799" y="5210251"/>
            <a:ext cx="6870802" cy="774497"/>
          </a:xfrm>
          <a:prstGeom prst="rect">
            <a:avLst/>
          </a:prstGeom>
          <a:solidFill>
            <a:srgbClr val="FFFFFF"/>
          </a:solidFill>
          <a:ln w="12954">
            <a:solidFill>
              <a:srgbClr val="6AB86E"/>
            </a:solidFill>
            <a:prstDash val="solid"/>
          </a:ln>
        </p:spPr>
      </p:sp>
      <p:sp>
        <p:nvSpPr>
          <p:cNvPr id="25" name="Shape 22"/>
          <p:cNvSpPr/>
          <p:nvPr/>
        </p:nvSpPr>
        <p:spPr>
          <a:xfrm>
            <a:off x="450799" y="5210251"/>
            <a:ext cx="388620" cy="774497"/>
          </a:xfrm>
          <a:prstGeom prst="rect">
            <a:avLst/>
          </a:prstGeom>
          <a:solidFill>
            <a:srgbClr val="1C3A1C"/>
          </a:solidFill>
          <a:ln/>
        </p:spPr>
      </p:sp>
      <p:sp>
        <p:nvSpPr>
          <p:cNvPr id="26" name="Text 23"/>
          <p:cNvSpPr/>
          <p:nvPr/>
        </p:nvSpPr>
        <p:spPr>
          <a:xfrm>
            <a:off x="450799" y="5210251"/>
            <a:ext cx="388620" cy="774497"/>
          </a:xfrm>
          <a:prstGeom prst="rect">
            <a:avLst/>
          </a:prstGeom>
          <a:noFill/>
          <a:ln/>
        </p:spPr>
        <p:txBody>
          <a:bodyPr wrap="square" lIns="0" tIns="0" rIns="0" bIns="0" rtlCol="0" anchor="ctr"/>
          <a:lstStyle/>
          <a:p>
            <a:pPr algn="ctr" indent="0" marL="0">
              <a:buNone/>
            </a:pPr>
            <a:r>
              <a:rPr lang="en-US" sz="1573" b="1" dirty="0">
                <a:solidFill>
                  <a:srgbClr val="6AB86E"/>
                </a:solidFill>
                <a:latin typeface="Playfair Display" pitchFamily="34" charset="0"/>
                <a:ea typeface="Playfair Display" pitchFamily="34" charset="-122"/>
                <a:cs typeface="Playfair Display" pitchFamily="34" charset="-120"/>
              </a:rPr>
              <a:t>02</a:t>
            </a:r>
            <a:endParaRPr lang="en-US" sz="1573" dirty="0"/>
          </a:p>
        </p:txBody>
      </p:sp>
      <p:sp>
        <p:nvSpPr>
          <p:cNvPr id="27" name="Text 24"/>
          <p:cNvSpPr/>
          <p:nvPr/>
        </p:nvSpPr>
        <p:spPr>
          <a:xfrm>
            <a:off x="979322" y="5310936"/>
            <a:ext cx="6186830" cy="263329"/>
          </a:xfrm>
          <a:prstGeom prst="rect">
            <a:avLst/>
          </a:prstGeom>
          <a:noFill/>
          <a:ln/>
        </p:spPr>
        <p:txBody>
          <a:bodyPr wrap="square" lIns="0" tIns="0" rIns="0" bIns="0" rtlCol="0" anchor="ctr"/>
          <a:lstStyle/>
          <a:p>
            <a:pPr indent="0" marL="0">
              <a:buNone/>
            </a:pPr>
            <a:r>
              <a:rPr lang="en-US" sz="1139" b="1" dirty="0">
                <a:solidFill>
                  <a:srgbClr val="1C3A1C"/>
                </a:solidFill>
                <a:latin typeface="DM Sans" pitchFamily="34" charset="0"/>
                <a:ea typeface="DM Sans" pitchFamily="34" charset="-122"/>
                <a:cs typeface="DM Sans" pitchFamily="34" charset="-120"/>
              </a:rPr>
              <a:t>Sponsor a school programme</a:t>
            </a:r>
            <a:endParaRPr lang="en-US" sz="1139" dirty="0"/>
          </a:p>
        </p:txBody>
      </p:sp>
      <p:sp>
        <p:nvSpPr>
          <p:cNvPr id="28" name="Text 25"/>
          <p:cNvSpPr/>
          <p:nvPr/>
        </p:nvSpPr>
        <p:spPr>
          <a:xfrm>
            <a:off x="979322" y="5566520"/>
            <a:ext cx="6186830" cy="387248"/>
          </a:xfrm>
          <a:prstGeom prst="rect">
            <a:avLst/>
          </a:prstGeom>
          <a:noFill/>
          <a:ln/>
        </p:spPr>
        <p:txBody>
          <a:bodyPr wrap="square" lIns="0" tIns="0" rIns="0" bIns="0" rtlCol="0" anchor="t"/>
          <a:lstStyle/>
          <a:p>
            <a:pPr indent="0" marL="0">
              <a:buNone/>
            </a:pPr>
            <a:r>
              <a:rPr lang="en-US" sz="884" dirty="0">
                <a:solidFill>
                  <a:srgbClr val="6B756B"/>
                </a:solidFill>
                <a:latin typeface="DM Sans" pitchFamily="34" charset="0"/>
                <a:ea typeface="DM Sans" pitchFamily="34" charset="-122"/>
                <a:cs typeface="DM Sans" pitchFamily="34" charset="-120"/>
              </a:rPr>
              <a:t>Underwrite the cost of a school's first year, covering trophies, signage, materials, and registration fees.</a:t>
            </a:r>
            <a:endParaRPr lang="en-US" sz="884" dirty="0"/>
          </a:p>
        </p:txBody>
      </p:sp>
      <p:sp>
        <p:nvSpPr>
          <p:cNvPr id="29" name="Shape 26"/>
          <p:cNvSpPr/>
          <p:nvPr/>
        </p:nvSpPr>
        <p:spPr>
          <a:xfrm>
            <a:off x="450799" y="6085332"/>
            <a:ext cx="6870802" cy="774497"/>
          </a:xfrm>
          <a:prstGeom prst="rect">
            <a:avLst/>
          </a:prstGeom>
          <a:solidFill>
            <a:srgbClr val="FFFFFF"/>
          </a:solidFill>
          <a:ln w="12954">
            <a:solidFill>
              <a:srgbClr val="6AB86E"/>
            </a:solidFill>
            <a:prstDash val="solid"/>
          </a:ln>
        </p:spPr>
      </p:sp>
      <p:sp>
        <p:nvSpPr>
          <p:cNvPr id="30" name="Shape 27"/>
          <p:cNvSpPr/>
          <p:nvPr/>
        </p:nvSpPr>
        <p:spPr>
          <a:xfrm>
            <a:off x="450799" y="6085332"/>
            <a:ext cx="388620" cy="774497"/>
          </a:xfrm>
          <a:prstGeom prst="rect">
            <a:avLst/>
          </a:prstGeom>
          <a:solidFill>
            <a:srgbClr val="1C3A1C"/>
          </a:solidFill>
          <a:ln/>
        </p:spPr>
      </p:sp>
      <p:sp>
        <p:nvSpPr>
          <p:cNvPr id="31" name="Text 28"/>
          <p:cNvSpPr/>
          <p:nvPr/>
        </p:nvSpPr>
        <p:spPr>
          <a:xfrm>
            <a:off x="450799" y="6085332"/>
            <a:ext cx="388620" cy="774497"/>
          </a:xfrm>
          <a:prstGeom prst="rect">
            <a:avLst/>
          </a:prstGeom>
          <a:noFill/>
          <a:ln/>
        </p:spPr>
        <p:txBody>
          <a:bodyPr wrap="square" lIns="0" tIns="0" rIns="0" bIns="0" rtlCol="0" anchor="ctr"/>
          <a:lstStyle/>
          <a:p>
            <a:pPr algn="ctr" indent="0" marL="0">
              <a:buNone/>
            </a:pPr>
            <a:r>
              <a:rPr lang="en-US" sz="1573" b="1" dirty="0">
                <a:solidFill>
                  <a:srgbClr val="6AB86E"/>
                </a:solidFill>
                <a:latin typeface="Playfair Display" pitchFamily="34" charset="0"/>
                <a:ea typeface="Playfair Display" pitchFamily="34" charset="-122"/>
                <a:cs typeface="Playfair Display" pitchFamily="34" charset="-120"/>
              </a:rPr>
              <a:t>03</a:t>
            </a:r>
            <a:endParaRPr lang="en-US" sz="1573" dirty="0"/>
          </a:p>
        </p:txBody>
      </p:sp>
      <p:sp>
        <p:nvSpPr>
          <p:cNvPr id="32" name="Text 29"/>
          <p:cNvSpPr/>
          <p:nvPr/>
        </p:nvSpPr>
        <p:spPr>
          <a:xfrm>
            <a:off x="979322" y="6186017"/>
            <a:ext cx="6186830" cy="263329"/>
          </a:xfrm>
          <a:prstGeom prst="rect">
            <a:avLst/>
          </a:prstGeom>
          <a:noFill/>
          <a:ln/>
        </p:spPr>
        <p:txBody>
          <a:bodyPr wrap="square" lIns="0" tIns="0" rIns="0" bIns="0" rtlCol="0" anchor="ctr"/>
          <a:lstStyle/>
          <a:p>
            <a:pPr indent="0" marL="0">
              <a:buNone/>
            </a:pPr>
            <a:r>
              <a:rPr lang="en-US" sz="1139" b="1" dirty="0">
                <a:solidFill>
                  <a:srgbClr val="1C3A1C"/>
                </a:solidFill>
                <a:latin typeface="DM Sans" pitchFamily="34" charset="0"/>
                <a:ea typeface="DM Sans" pitchFamily="34" charset="-122"/>
                <a:cs typeface="DM Sans" pitchFamily="34" charset="-120"/>
              </a:rPr>
              <a:t>Host students</a:t>
            </a:r>
            <a:endParaRPr lang="en-US" sz="1139" dirty="0"/>
          </a:p>
        </p:txBody>
      </p:sp>
      <p:sp>
        <p:nvSpPr>
          <p:cNvPr id="33" name="Text 30"/>
          <p:cNvSpPr/>
          <p:nvPr/>
        </p:nvSpPr>
        <p:spPr>
          <a:xfrm>
            <a:off x="979322" y="6441601"/>
            <a:ext cx="6186830" cy="387248"/>
          </a:xfrm>
          <a:prstGeom prst="rect">
            <a:avLst/>
          </a:prstGeom>
          <a:noFill/>
          <a:ln/>
        </p:spPr>
        <p:txBody>
          <a:bodyPr wrap="square" lIns="0" tIns="0" rIns="0" bIns="0" rtlCol="0" anchor="t"/>
          <a:lstStyle/>
          <a:p>
            <a:pPr indent="0" marL="0">
              <a:buNone/>
            </a:pPr>
            <a:r>
              <a:rPr lang="en-US" sz="884" dirty="0">
                <a:solidFill>
                  <a:srgbClr val="6B756B"/>
                </a:solidFill>
                <a:latin typeface="DM Sans" pitchFamily="34" charset="0"/>
                <a:ea typeface="DM Sans" pitchFamily="34" charset="-122"/>
                <a:cs typeface="DM Sans" pitchFamily="34" charset="-120"/>
              </a:rPr>
              <a:t>Site visits and lab tours. Students prepare questions in advance, and hosts consistently report it as the most rewarding hour of their quarter.</a:t>
            </a:r>
            <a:endParaRPr lang="en-US" sz="884" dirty="0"/>
          </a:p>
        </p:txBody>
      </p:sp>
      <p:sp>
        <p:nvSpPr>
          <p:cNvPr id="34" name="Shape 31"/>
          <p:cNvSpPr/>
          <p:nvPr/>
        </p:nvSpPr>
        <p:spPr>
          <a:xfrm>
            <a:off x="450799" y="6960413"/>
            <a:ext cx="6870802" cy="774497"/>
          </a:xfrm>
          <a:prstGeom prst="rect">
            <a:avLst/>
          </a:prstGeom>
          <a:solidFill>
            <a:srgbClr val="FFFFFF"/>
          </a:solidFill>
          <a:ln w="12954">
            <a:solidFill>
              <a:srgbClr val="6AB86E"/>
            </a:solidFill>
            <a:prstDash val="solid"/>
          </a:ln>
        </p:spPr>
      </p:sp>
      <p:sp>
        <p:nvSpPr>
          <p:cNvPr id="35" name="Shape 32"/>
          <p:cNvSpPr/>
          <p:nvPr/>
        </p:nvSpPr>
        <p:spPr>
          <a:xfrm>
            <a:off x="450799" y="6960413"/>
            <a:ext cx="388620" cy="774497"/>
          </a:xfrm>
          <a:prstGeom prst="rect">
            <a:avLst/>
          </a:prstGeom>
          <a:solidFill>
            <a:srgbClr val="1C3A1C"/>
          </a:solidFill>
          <a:ln/>
        </p:spPr>
      </p:sp>
      <p:sp>
        <p:nvSpPr>
          <p:cNvPr id="36" name="Text 33"/>
          <p:cNvSpPr/>
          <p:nvPr/>
        </p:nvSpPr>
        <p:spPr>
          <a:xfrm>
            <a:off x="450799" y="6960413"/>
            <a:ext cx="388620" cy="774497"/>
          </a:xfrm>
          <a:prstGeom prst="rect">
            <a:avLst/>
          </a:prstGeom>
          <a:noFill/>
          <a:ln/>
        </p:spPr>
        <p:txBody>
          <a:bodyPr wrap="square" lIns="0" tIns="0" rIns="0" bIns="0" rtlCol="0" anchor="ctr"/>
          <a:lstStyle/>
          <a:p>
            <a:pPr algn="ctr" indent="0" marL="0">
              <a:buNone/>
            </a:pPr>
            <a:r>
              <a:rPr lang="en-US" sz="1573" b="1" dirty="0">
                <a:solidFill>
                  <a:srgbClr val="6AB86E"/>
                </a:solidFill>
                <a:latin typeface="Playfair Display" pitchFamily="34" charset="0"/>
                <a:ea typeface="Playfair Display" pitchFamily="34" charset="-122"/>
                <a:cs typeface="Playfair Display" pitchFamily="34" charset="-120"/>
              </a:rPr>
              <a:t>04</a:t>
            </a:r>
            <a:endParaRPr lang="en-US" sz="1573" dirty="0"/>
          </a:p>
        </p:txBody>
      </p:sp>
      <p:sp>
        <p:nvSpPr>
          <p:cNvPr id="37" name="Text 34"/>
          <p:cNvSpPr/>
          <p:nvPr/>
        </p:nvSpPr>
        <p:spPr>
          <a:xfrm>
            <a:off x="979322" y="7061097"/>
            <a:ext cx="6186830" cy="263329"/>
          </a:xfrm>
          <a:prstGeom prst="rect">
            <a:avLst/>
          </a:prstGeom>
          <a:noFill/>
          <a:ln/>
        </p:spPr>
        <p:txBody>
          <a:bodyPr wrap="square" lIns="0" tIns="0" rIns="0" bIns="0" rtlCol="0" anchor="ctr"/>
          <a:lstStyle/>
          <a:p>
            <a:pPr indent="0" marL="0">
              <a:buNone/>
            </a:pPr>
            <a:r>
              <a:rPr lang="en-US" sz="1139" b="1" dirty="0">
                <a:solidFill>
                  <a:srgbClr val="1C3A1C"/>
                </a:solidFill>
                <a:latin typeface="DM Sans" pitchFamily="34" charset="0"/>
                <a:ea typeface="DM Sans" pitchFamily="34" charset="-122"/>
                <a:cs typeface="DM Sans" pitchFamily="34" charset="-120"/>
              </a:rPr>
              <a:t>In-kind support</a:t>
            </a:r>
            <a:endParaRPr lang="en-US" sz="1139" dirty="0"/>
          </a:p>
        </p:txBody>
      </p:sp>
      <p:sp>
        <p:nvSpPr>
          <p:cNvPr id="38" name="Text 35"/>
          <p:cNvSpPr/>
          <p:nvPr/>
        </p:nvSpPr>
        <p:spPr>
          <a:xfrm>
            <a:off x="979322" y="7316681"/>
            <a:ext cx="6186830" cy="387248"/>
          </a:xfrm>
          <a:prstGeom prst="rect">
            <a:avLst/>
          </a:prstGeom>
          <a:noFill/>
          <a:ln/>
        </p:spPr>
        <p:txBody>
          <a:bodyPr wrap="square" lIns="0" tIns="0" rIns="0" bIns="0" rtlCol="0" anchor="t"/>
          <a:lstStyle/>
          <a:p>
            <a:pPr indent="0" marL="0">
              <a:buNone/>
            </a:pPr>
            <a:r>
              <a:rPr lang="en-US" sz="884" dirty="0">
                <a:solidFill>
                  <a:srgbClr val="6B756B"/>
                </a:solidFill>
                <a:latin typeface="DM Sans" pitchFamily="34" charset="0"/>
                <a:ea typeface="DM Sans" pitchFamily="34" charset="-122"/>
                <a:cs typeface="DM Sans" pitchFamily="34" charset="-120"/>
              </a:rPr>
              <a:t>Equipment, printing, meeting space, or professional services. Often the easiest partnership to start with.</a:t>
            </a:r>
            <a:endParaRPr lang="en-US" sz="884" dirty="0"/>
          </a:p>
        </p:txBody>
      </p:sp>
      <p:sp>
        <p:nvSpPr>
          <p:cNvPr id="39" name="Shape 36"/>
          <p:cNvSpPr/>
          <p:nvPr/>
        </p:nvSpPr>
        <p:spPr>
          <a:xfrm>
            <a:off x="450799" y="7895844"/>
            <a:ext cx="6870802" cy="1186891"/>
          </a:xfrm>
          <a:prstGeom prst="rect">
            <a:avLst/>
          </a:prstGeom>
          <a:solidFill>
            <a:srgbClr val="E8F5E9"/>
          </a:solidFill>
          <a:ln/>
        </p:spPr>
      </p:sp>
      <p:sp>
        <p:nvSpPr>
          <p:cNvPr id="40" name="Text 37"/>
          <p:cNvSpPr/>
          <p:nvPr/>
        </p:nvSpPr>
        <p:spPr>
          <a:xfrm>
            <a:off x="643182" y="7996428"/>
            <a:ext cx="6458554" cy="241402"/>
          </a:xfrm>
          <a:prstGeom prst="rect">
            <a:avLst/>
          </a:prstGeom>
          <a:noFill/>
          <a:ln/>
        </p:spPr>
        <p:txBody>
          <a:bodyPr wrap="square" lIns="0" tIns="0" rIns="0" bIns="0" rtlCol="0" anchor="ctr"/>
          <a:lstStyle/>
          <a:p>
            <a:pPr indent="0" marL="0">
              <a:buNone/>
            </a:pPr>
            <a:r>
              <a:rPr lang="en-US" sz="935" b="1" spc="119" kern="0" dirty="0">
                <a:solidFill>
                  <a:srgbClr val="357A38"/>
                </a:solidFill>
                <a:latin typeface="DM Sans" pitchFamily="34" charset="0"/>
                <a:ea typeface="DM Sans" pitchFamily="34" charset="-122"/>
                <a:cs typeface="DM Sans" pitchFamily="34" charset="-120"/>
              </a:rPr>
              <a:t>WHAT PARTNERS RECEIVE</a:t>
            </a:r>
            <a:endParaRPr lang="en-US" sz="935" dirty="0"/>
          </a:p>
        </p:txBody>
      </p:sp>
      <p:sp>
        <p:nvSpPr>
          <p:cNvPr id="41" name="Text 38"/>
          <p:cNvSpPr/>
          <p:nvPr/>
        </p:nvSpPr>
        <p:spPr>
          <a:xfrm>
            <a:off x="711890" y="8278063"/>
            <a:ext cx="6321137" cy="744322"/>
          </a:xfrm>
          <a:prstGeom prst="rect">
            <a:avLst/>
          </a:prstGeom>
          <a:noFill/>
          <a:ln/>
        </p:spPr>
        <p:txBody>
          <a:bodyPr wrap="square" lIns="0" tIns="0" rIns="0" bIns="0" rtlCol="0" anchor="t"/>
          <a:lstStyle/>
          <a:p>
            <a:pPr marL="342900" indent="-342900">
              <a:lnSpc>
                <a:spcPct val="112000"/>
              </a:lnSpc>
              <a:buSzPct val="100000"/>
              <a:buChar char="▪"/>
            </a:pPr>
            <a:r>
              <a:rPr lang="en-US" sz="901" dirty="0">
                <a:solidFill>
                  <a:srgbClr val="254F25"/>
                </a:solidFill>
                <a:latin typeface="DM Sans" pitchFamily="34" charset="0"/>
                <a:ea typeface="DM Sans" pitchFamily="34" charset="-122"/>
                <a:cs typeface="DM Sans" pitchFamily="34" charset="-120"/>
              </a:rPr>
              <a:t>Named recognition on event signage, in programmes, and in communication with families</a:t>
            </a:r>
            <a:endParaRPr lang="en-US" sz="901" dirty="0"/>
          </a:p>
          <a:p>
            <a:pPr marL="342900" indent="-342900">
              <a:lnSpc>
                <a:spcPct val="112000"/>
              </a:lnSpc>
              <a:buSzPct val="100000"/>
              <a:buChar char="▪"/>
            </a:pPr>
            <a:r>
              <a:rPr lang="en-US" sz="901" dirty="0">
                <a:solidFill>
                  <a:srgbClr val="254F25"/>
                </a:solidFill>
                <a:latin typeface="DM Sans" pitchFamily="34" charset="0"/>
                <a:ea typeface="DM Sans" pitchFamily="34" charset="-122"/>
                <a:cs typeface="DM Sans" pitchFamily="34" charset="-120"/>
              </a:rPr>
              <a:t>A direct pipeline to students in your region, several years before they choose a degree</a:t>
            </a:r>
            <a:endParaRPr lang="en-US" sz="901" dirty="0"/>
          </a:p>
          <a:p>
            <a:pPr marL="342900" indent="-342900">
              <a:lnSpc>
                <a:spcPct val="112000"/>
              </a:lnSpc>
              <a:buSzPct val="100000"/>
              <a:buChar char="▪"/>
            </a:pPr>
            <a:r>
              <a:rPr lang="en-US" sz="901" dirty="0">
                <a:solidFill>
                  <a:srgbClr val="254F25"/>
                </a:solidFill>
                <a:latin typeface="DM Sans" pitchFamily="34" charset="0"/>
                <a:ea typeface="DM Sans" pitchFamily="34" charset="-122"/>
                <a:cs typeface="DM Sans" pitchFamily="34" charset="-120"/>
              </a:rPr>
              <a:t>Verified volunteer hours documented for your corporate reporting</a:t>
            </a:r>
            <a:endParaRPr lang="en-US" sz="901" dirty="0"/>
          </a:p>
          <a:p>
            <a:pPr marL="342900" indent="-342900">
              <a:lnSpc>
                <a:spcPct val="112000"/>
              </a:lnSpc>
              <a:buSzPct val="100000"/>
              <a:buChar char="▪"/>
            </a:pPr>
            <a:r>
              <a:rPr lang="en-US" sz="901" dirty="0">
                <a:solidFill>
                  <a:srgbClr val="254F25"/>
                </a:solidFill>
                <a:latin typeface="DM Sans" pitchFamily="34" charset="0"/>
                <a:ea typeface="DM Sans" pitchFamily="34" charset="-122"/>
                <a:cs typeface="DM Sans" pitchFamily="34" charset="-120"/>
              </a:rPr>
              <a:t>Advance notice of State Science Day and school fair dates for team scheduling</a:t>
            </a:r>
            <a:endParaRPr lang="en-US" sz="901" dirty="0"/>
          </a:p>
          <a:p>
            <a:pPr marL="342900" indent="-342900">
              <a:lnSpc>
                <a:spcPct val="112000"/>
              </a:lnSpc>
              <a:buSzPct val="100000"/>
              <a:buChar char="▪"/>
            </a:pPr>
            <a:r>
              <a:rPr lang="en-US" sz="901" dirty="0">
                <a:solidFill>
                  <a:srgbClr val="254F25"/>
                </a:solidFill>
                <a:latin typeface="DM Sans" pitchFamily="34" charset="0"/>
                <a:ea typeface="DM Sans" pitchFamily="34" charset="-122"/>
                <a:cs typeface="DM Sans" pitchFamily="34" charset="-120"/>
              </a:rPr>
              <a:t>A named contact at FairGame for the life of the partnership</a:t>
            </a:r>
            <a:endParaRPr lang="en-US" sz="901" dirty="0"/>
          </a:p>
        </p:txBody>
      </p:sp>
      <p:sp>
        <p:nvSpPr>
          <p:cNvPr id="42" name="Shape 39"/>
          <p:cNvSpPr/>
          <p:nvPr/>
        </p:nvSpPr>
        <p:spPr>
          <a:xfrm>
            <a:off x="450799" y="9203436"/>
            <a:ext cx="6870802" cy="603504"/>
          </a:xfrm>
          <a:prstGeom prst="rect">
            <a:avLst/>
          </a:prstGeom>
          <a:solidFill>
            <a:srgbClr val="1C3A1C"/>
          </a:solidFill>
          <a:ln/>
        </p:spPr>
      </p:sp>
      <p:sp>
        <p:nvSpPr>
          <p:cNvPr id="43" name="Text 40"/>
          <p:cNvSpPr/>
          <p:nvPr/>
        </p:nvSpPr>
        <p:spPr>
          <a:xfrm>
            <a:off x="643182" y="9273845"/>
            <a:ext cx="6458554" cy="221285"/>
          </a:xfrm>
          <a:prstGeom prst="rect">
            <a:avLst/>
          </a:prstGeom>
          <a:noFill/>
          <a:ln/>
        </p:spPr>
        <p:txBody>
          <a:bodyPr wrap="square" lIns="0" tIns="0" rIns="0" bIns="0" rtlCol="0" anchor="ctr"/>
          <a:lstStyle/>
          <a:p>
            <a:pPr indent="0" marL="0">
              <a:buNone/>
            </a:pPr>
            <a:r>
              <a:rPr lang="en-US" sz="918" dirty="0">
                <a:solidFill>
                  <a:srgbClr val="FFFFFF"/>
                </a:solidFill>
                <a:latin typeface="DM Sans" pitchFamily="34" charset="0"/>
                <a:ea typeface="DM Sans" pitchFamily="34" charset="-122"/>
                <a:cs typeface="DM Sans" pitchFamily="34" charset="-120"/>
              </a:rPr>
              <a:t>Tell us what your team can offer and we will build the partnership around it.</a:t>
            </a:r>
            <a:endParaRPr lang="en-US" sz="918" dirty="0"/>
          </a:p>
        </p:txBody>
      </p:sp>
      <p:sp>
        <p:nvSpPr>
          <p:cNvPr id="44" name="Text 41"/>
          <p:cNvSpPr/>
          <p:nvPr/>
        </p:nvSpPr>
        <p:spPr>
          <a:xfrm>
            <a:off x="643182" y="9515246"/>
            <a:ext cx="6458554" cy="221285"/>
          </a:xfrm>
          <a:prstGeom prst="rect">
            <a:avLst/>
          </a:prstGeom>
          <a:noFill/>
          <a:ln/>
        </p:spPr>
        <p:txBody>
          <a:bodyPr wrap="square" lIns="0" tIns="0" rIns="0" bIns="0" rtlCol="0" anchor="ctr"/>
          <a:lstStyle/>
          <a:p>
            <a:pPr indent="0" marL="0">
              <a:buNone/>
            </a:pPr>
            <a:r>
              <a:rPr lang="en-US" sz="918" b="1" dirty="0">
                <a:solidFill>
                  <a:srgbClr val="6AB86E"/>
                </a:solidFill>
                <a:latin typeface="DM Sans" pitchFamily="34" charset="0"/>
                <a:ea typeface="DM Sans" pitchFamily="34" charset="-122"/>
                <a:cs typeface="DM Sans" pitchFamily="34" charset="-120"/>
              </a:rPr>
              <a:t>fairgameinitiative@outlook.com        fairgameinitiative.org</a:t>
            </a:r>
            <a:endParaRPr lang="en-US" sz="918" dirty="0"/>
          </a:p>
        </p:txBody>
      </p:sp>
      <p:sp>
        <p:nvSpPr>
          <p:cNvPr id="45" name="Shape 42"/>
          <p:cNvSpPr/>
          <p:nvPr/>
        </p:nvSpPr>
        <p:spPr>
          <a:xfrm>
            <a:off x="481889" y="9605772"/>
            <a:ext cx="6808622" cy="0"/>
          </a:xfrm>
          <a:prstGeom prst="line">
            <a:avLst/>
          </a:prstGeom>
          <a:noFill/>
          <a:ln w="12700">
            <a:solidFill>
              <a:srgbClr val="E2E6E2"/>
            </a:solidFill>
            <a:prstDash val="solid"/>
          </a:ln>
        </p:spPr>
      </p:sp>
      <p:sp>
        <p:nvSpPr>
          <p:cNvPr id="46" name="Text 43"/>
          <p:cNvSpPr/>
          <p:nvPr/>
        </p:nvSpPr>
        <p:spPr>
          <a:xfrm>
            <a:off x="481889" y="9656064"/>
            <a:ext cx="4085173" cy="251460"/>
          </a:xfrm>
          <a:prstGeom prst="rect">
            <a:avLst/>
          </a:prstGeom>
          <a:noFill/>
          <a:ln/>
        </p:spPr>
        <p:txBody>
          <a:bodyPr wrap="square" lIns="0" tIns="0" rIns="0" bIns="0" rtlCol="0" anchor="ctr"/>
          <a:lstStyle/>
          <a:p>
            <a:pPr indent="0" marL="0">
              <a:buNone/>
            </a:pPr>
            <a:r>
              <a:rPr lang="en-US" sz="731" dirty="0">
                <a:solidFill>
                  <a:srgbClr val="6B756B"/>
                </a:solidFill>
                <a:latin typeface="DM Sans" pitchFamily="34" charset="0"/>
                <a:ea typeface="DM Sans" pitchFamily="34" charset="-122"/>
                <a:cs typeface="DM Sans" pitchFamily="34" charset="-120"/>
              </a:rPr>
              <a:t>FairGame Initiative  |  For industry partners</a:t>
            </a:r>
            <a:endParaRPr lang="en-US" sz="731" dirty="0"/>
          </a:p>
        </p:txBody>
      </p:sp>
      <p:sp>
        <p:nvSpPr>
          <p:cNvPr id="47" name="Text 44"/>
          <p:cNvSpPr/>
          <p:nvPr/>
        </p:nvSpPr>
        <p:spPr>
          <a:xfrm>
            <a:off x="4567062" y="9656064"/>
            <a:ext cx="2723449" cy="251460"/>
          </a:xfrm>
          <a:prstGeom prst="rect">
            <a:avLst/>
          </a:prstGeom>
          <a:noFill/>
          <a:ln/>
        </p:spPr>
        <p:txBody>
          <a:bodyPr wrap="square" lIns="0" tIns="0" rIns="0" bIns="0" rtlCol="0" anchor="ctr"/>
          <a:lstStyle/>
          <a:p>
            <a:pPr algn="r" indent="0" marL="0">
              <a:buNone/>
            </a:pPr>
            <a:r>
              <a:rPr lang="en-US" sz="731" i="1" dirty="0">
                <a:solidFill>
                  <a:srgbClr val="E0615A"/>
                </a:solidFill>
                <a:latin typeface="Playfair Display" pitchFamily="34" charset="0"/>
                <a:ea typeface="Playfair Display" pitchFamily="34" charset="-122"/>
                <a:cs typeface="Playfair Display" pitchFamily="34" charset="-120"/>
              </a:rPr>
              <a:t>Science fairs without barriers.</a:t>
            </a:r>
            <a:endParaRPr lang="en-US" sz="73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FairGame Initiative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FairGame One-Pager, For industry partners</dc:title>
  <dc:subject>PptxGenJS Presentation</dc:subject>
  <dc:creator>FairGame Initiative</dc:creator>
  <cp:lastModifiedBy>FairGame Initiative</cp:lastModifiedBy>
  <cp:revision>1</cp:revision>
  <dcterms:created xsi:type="dcterms:W3CDTF">2026-07-28T01:39:56Z</dcterms:created>
  <dcterms:modified xsi:type="dcterms:W3CDTF">2026-07-28T01:39:56Z</dcterms:modified>
</cp:coreProperties>
</file>