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0058400" cy="7772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058400" cy="1554480"/>
          </a:xfrm>
          <a:prstGeom prst="rect">
            <a:avLst/>
          </a:prstGeom>
          <a:solidFill>
            <a:srgbClr val="1C3A1C"/>
          </a:solidFill>
          <a:ln/>
        </p:spPr>
      </p:sp>
      <p:pic>
        <p:nvPicPr>
          <p:cNvPr id="3" name="Image 0" descr="/tmp/fairgame_logo_white.png">    </p:cNvPr>
          <p:cNvPicPr>
            <a:picLocks noChangeAspect="1"/>
          </p:cNvPicPr>
          <p:nvPr/>
        </p:nvPicPr>
        <p:blipFill>
          <a:blip r:embed="rId1"/>
          <a:stretch>
            <a:fillRect/>
          </a:stretch>
        </p:blipFill>
        <p:spPr>
          <a:xfrm>
            <a:off x="9189034" y="404165"/>
            <a:ext cx="416738" cy="683971"/>
          </a:xfrm>
          <a:prstGeom prst="rect">
            <a:avLst/>
          </a:prstGeom>
        </p:spPr>
      </p:pic>
      <p:sp>
        <p:nvSpPr>
          <p:cNvPr id="4" name="Text 1"/>
          <p:cNvSpPr/>
          <p:nvPr/>
        </p:nvSpPr>
        <p:spPr>
          <a:xfrm>
            <a:off x="623621" y="248717"/>
            <a:ext cx="8394420" cy="248717"/>
          </a:xfrm>
          <a:prstGeom prst="rect">
            <a:avLst/>
          </a:prstGeom>
          <a:noFill/>
          <a:ln/>
        </p:spPr>
        <p:txBody>
          <a:bodyPr wrap="square" lIns="0" tIns="0" rIns="0" bIns="0" rtlCol="0" anchor="ctr"/>
          <a:lstStyle/>
          <a:p>
            <a:pPr indent="0" marL="0">
              <a:buNone/>
            </a:pPr>
            <a:r>
              <a:rPr lang="en-US" sz="1705" b="1" spc="352" kern="0" dirty="0">
                <a:solidFill>
                  <a:srgbClr val="6AB86E"/>
                </a:solidFill>
                <a:latin typeface="DM Sans" pitchFamily="34" charset="0"/>
                <a:ea typeface="DM Sans" pitchFamily="34" charset="-122"/>
                <a:cs typeface="DM Sans" pitchFamily="34" charset="-120"/>
              </a:rPr>
              <a:t>WORD WALL  |  GRADES 5 TO 6</a:t>
            </a:r>
            <a:endParaRPr lang="en-US" sz="1705" dirty="0"/>
          </a:p>
        </p:txBody>
      </p:sp>
      <p:sp>
        <p:nvSpPr>
          <p:cNvPr id="5" name="Text 2"/>
          <p:cNvSpPr/>
          <p:nvPr/>
        </p:nvSpPr>
        <p:spPr>
          <a:xfrm>
            <a:off x="563270" y="512978"/>
            <a:ext cx="8602789" cy="963778"/>
          </a:xfrm>
          <a:prstGeom prst="rect">
            <a:avLst/>
          </a:prstGeom>
          <a:noFill/>
          <a:ln/>
        </p:spPr>
        <p:txBody>
          <a:bodyPr wrap="square" lIns="0" tIns="0" rIns="0" bIns="0" rtlCol="0" anchor="ctr"/>
          <a:lstStyle/>
          <a:p>
            <a:pPr indent="0" marL="0">
              <a:buNone/>
            </a:pPr>
            <a:r>
              <a:rPr lang="en-US" sz="6223" dirty="0">
                <a:solidFill>
                  <a:srgbClr val="FFFFFF"/>
                </a:solidFill>
                <a:latin typeface="Anton" pitchFamily="34" charset="0"/>
                <a:ea typeface="Anton" pitchFamily="34" charset="-122"/>
                <a:cs typeface="Anton" pitchFamily="34" charset="-120"/>
              </a:rPr>
              <a:t>VOCABULARY CARDS</a:t>
            </a:r>
            <a:endParaRPr lang="en-US" sz="6223" dirty="0"/>
          </a:p>
        </p:txBody>
      </p:sp>
      <p:sp>
        <p:nvSpPr>
          <p:cNvPr id="6" name="Text 3"/>
          <p:cNvSpPr/>
          <p:nvPr/>
        </p:nvSpPr>
        <p:spPr>
          <a:xfrm>
            <a:off x="502920" y="1865376"/>
            <a:ext cx="9052560" cy="699516"/>
          </a:xfrm>
          <a:prstGeom prst="rect">
            <a:avLst/>
          </a:prstGeom>
          <a:noFill/>
          <a:ln/>
        </p:spPr>
        <p:txBody>
          <a:bodyPr wrap="square" lIns="0" tIns="0" rIns="0" bIns="0" rtlCol="0" anchor="t"/>
          <a:lstStyle/>
          <a:p>
            <a:pPr indent="0" marL="0">
              <a:buNone/>
            </a:pPr>
            <a:r>
              <a:rPr lang="en-US" sz="1485" dirty="0">
                <a:solidFill>
                  <a:srgbClr val="6B756B"/>
                </a:solidFill>
                <a:latin typeface="DM Sans" pitchFamily="34" charset="0"/>
                <a:ea typeface="DM Sans" pitchFamily="34" charset="-122"/>
                <a:cs typeface="DM Sans" pitchFamily="34" charset="-120"/>
              </a:rPr>
              <a:t>Forty terms, four per sheet. Print, cut along the borders, and add each card to the wall as the class reaches that phase. Colours group the terms by phase so the wall builds a visible map of the project.</a:t>
            </a:r>
            <a:endParaRPr lang="en-US" sz="1485" dirty="0"/>
          </a:p>
        </p:txBody>
      </p:sp>
      <p:sp>
        <p:nvSpPr>
          <p:cNvPr id="7" name="Shape 4"/>
          <p:cNvSpPr/>
          <p:nvPr/>
        </p:nvSpPr>
        <p:spPr>
          <a:xfrm>
            <a:off x="502920" y="2953512"/>
            <a:ext cx="1418234" cy="427482"/>
          </a:xfrm>
          <a:prstGeom prst="rect">
            <a:avLst/>
          </a:prstGeom>
          <a:solidFill>
            <a:srgbClr val="357A38"/>
          </a:solidFill>
          <a:ln/>
        </p:spPr>
      </p:sp>
      <p:sp>
        <p:nvSpPr>
          <p:cNvPr id="8" name="Text 5"/>
          <p:cNvSpPr/>
          <p:nvPr/>
        </p:nvSpPr>
        <p:spPr>
          <a:xfrm>
            <a:off x="502920" y="2953512"/>
            <a:ext cx="1418234" cy="427482"/>
          </a:xfrm>
          <a:prstGeom prst="rect">
            <a:avLst/>
          </a:prstGeom>
          <a:noFill/>
          <a:ln/>
        </p:spPr>
        <p:txBody>
          <a:bodyPr wrap="square" lIns="0" tIns="0" rIns="0" bIns="0" rtlCol="0" anchor="ctr"/>
          <a:lstStyle/>
          <a:p>
            <a:pPr algn="ctr" indent="0" marL="0">
              <a:buNone/>
            </a:pPr>
            <a:r>
              <a:rPr lang="en-US" sz="1155" b="1" dirty="0">
                <a:solidFill>
                  <a:srgbClr val="FFFFFF"/>
                </a:solidFill>
                <a:latin typeface="DM Sans" pitchFamily="34" charset="0"/>
                <a:ea typeface="DM Sans" pitchFamily="34" charset="-122"/>
                <a:cs typeface="DM Sans" pitchFamily="34" charset="-120"/>
              </a:rPr>
              <a:t>PLANNING</a:t>
            </a:r>
            <a:endParaRPr lang="en-US" sz="1155" dirty="0"/>
          </a:p>
        </p:txBody>
      </p:sp>
      <p:sp>
        <p:nvSpPr>
          <p:cNvPr id="9" name="Text 6"/>
          <p:cNvSpPr/>
          <p:nvPr/>
        </p:nvSpPr>
        <p:spPr>
          <a:xfrm>
            <a:off x="502920" y="3458718"/>
            <a:ext cx="1418234" cy="310896"/>
          </a:xfrm>
          <a:prstGeom prst="rect">
            <a:avLst/>
          </a:prstGeom>
          <a:noFill/>
          <a:ln/>
        </p:spPr>
        <p:txBody>
          <a:bodyPr wrap="square" lIns="0" tIns="0" rIns="0" bIns="0" rtlCol="0" anchor="ctr"/>
          <a:lstStyle/>
          <a:p>
            <a:pPr algn="ctr" indent="0" marL="0">
              <a:buNone/>
            </a:pPr>
            <a:r>
              <a:rPr lang="en-US" sz="1100" dirty="0">
                <a:solidFill>
                  <a:srgbClr val="6B756B"/>
                </a:solidFill>
                <a:latin typeface="DM Sans" pitchFamily="34" charset="0"/>
                <a:ea typeface="DM Sans" pitchFamily="34" charset="-122"/>
                <a:cs typeface="DM Sans" pitchFamily="34" charset="-120"/>
              </a:rPr>
              <a:t>7 terms</a:t>
            </a:r>
            <a:endParaRPr lang="en-US" sz="1100" dirty="0"/>
          </a:p>
        </p:txBody>
      </p:sp>
      <p:sp>
        <p:nvSpPr>
          <p:cNvPr id="10" name="Shape 7"/>
          <p:cNvSpPr/>
          <p:nvPr/>
        </p:nvSpPr>
        <p:spPr>
          <a:xfrm>
            <a:off x="2011680" y="2953512"/>
            <a:ext cx="1418234" cy="427482"/>
          </a:xfrm>
          <a:prstGeom prst="rect">
            <a:avLst/>
          </a:prstGeom>
          <a:solidFill>
            <a:srgbClr val="1C3A1C"/>
          </a:solidFill>
          <a:ln/>
        </p:spPr>
      </p:sp>
      <p:sp>
        <p:nvSpPr>
          <p:cNvPr id="11" name="Text 8"/>
          <p:cNvSpPr/>
          <p:nvPr/>
        </p:nvSpPr>
        <p:spPr>
          <a:xfrm>
            <a:off x="2011680" y="2953512"/>
            <a:ext cx="1418234" cy="427482"/>
          </a:xfrm>
          <a:prstGeom prst="rect">
            <a:avLst/>
          </a:prstGeom>
          <a:noFill/>
          <a:ln/>
        </p:spPr>
        <p:txBody>
          <a:bodyPr wrap="square" lIns="0" tIns="0" rIns="0" bIns="0" rtlCol="0" anchor="ctr"/>
          <a:lstStyle/>
          <a:p>
            <a:pPr algn="ctr" indent="0" marL="0">
              <a:buNone/>
            </a:pPr>
            <a:r>
              <a:rPr lang="en-US" sz="1155" b="1" dirty="0">
                <a:solidFill>
                  <a:srgbClr val="FFFFFF"/>
                </a:solidFill>
                <a:latin typeface="DM Sans" pitchFamily="34" charset="0"/>
                <a:ea typeface="DM Sans" pitchFamily="34" charset="-122"/>
                <a:cs typeface="DM Sans" pitchFamily="34" charset="-120"/>
              </a:rPr>
              <a:t>DESIGN</a:t>
            </a:r>
            <a:endParaRPr lang="en-US" sz="1155" dirty="0"/>
          </a:p>
        </p:txBody>
      </p:sp>
      <p:sp>
        <p:nvSpPr>
          <p:cNvPr id="12" name="Text 9"/>
          <p:cNvSpPr/>
          <p:nvPr/>
        </p:nvSpPr>
        <p:spPr>
          <a:xfrm>
            <a:off x="2011680" y="3458718"/>
            <a:ext cx="1418234" cy="310896"/>
          </a:xfrm>
          <a:prstGeom prst="rect">
            <a:avLst/>
          </a:prstGeom>
          <a:noFill/>
          <a:ln/>
        </p:spPr>
        <p:txBody>
          <a:bodyPr wrap="square" lIns="0" tIns="0" rIns="0" bIns="0" rtlCol="0" anchor="ctr"/>
          <a:lstStyle/>
          <a:p>
            <a:pPr algn="ctr" indent="0" marL="0">
              <a:buNone/>
            </a:pPr>
            <a:r>
              <a:rPr lang="en-US" sz="1100" dirty="0">
                <a:solidFill>
                  <a:srgbClr val="6B756B"/>
                </a:solidFill>
                <a:latin typeface="DM Sans" pitchFamily="34" charset="0"/>
                <a:ea typeface="DM Sans" pitchFamily="34" charset="-122"/>
                <a:cs typeface="DM Sans" pitchFamily="34" charset="-120"/>
              </a:rPr>
              <a:t>10 terms</a:t>
            </a:r>
            <a:endParaRPr lang="en-US" sz="1100" dirty="0"/>
          </a:p>
        </p:txBody>
      </p:sp>
      <p:sp>
        <p:nvSpPr>
          <p:cNvPr id="13" name="Shape 10"/>
          <p:cNvSpPr/>
          <p:nvPr/>
        </p:nvSpPr>
        <p:spPr>
          <a:xfrm>
            <a:off x="3520440" y="2953512"/>
            <a:ext cx="1418234" cy="427482"/>
          </a:xfrm>
          <a:prstGeom prst="rect">
            <a:avLst/>
          </a:prstGeom>
          <a:solidFill>
            <a:srgbClr val="E0615A"/>
          </a:solidFill>
          <a:ln/>
        </p:spPr>
      </p:sp>
      <p:sp>
        <p:nvSpPr>
          <p:cNvPr id="14" name="Text 11"/>
          <p:cNvSpPr/>
          <p:nvPr/>
        </p:nvSpPr>
        <p:spPr>
          <a:xfrm>
            <a:off x="3520440" y="2953512"/>
            <a:ext cx="1418234" cy="427482"/>
          </a:xfrm>
          <a:prstGeom prst="rect">
            <a:avLst/>
          </a:prstGeom>
          <a:noFill/>
          <a:ln/>
        </p:spPr>
        <p:txBody>
          <a:bodyPr wrap="square" lIns="0" tIns="0" rIns="0" bIns="0" rtlCol="0" anchor="ctr"/>
          <a:lstStyle/>
          <a:p>
            <a:pPr algn="ctr" indent="0" marL="0">
              <a:buNone/>
            </a:pPr>
            <a:r>
              <a:rPr lang="en-US" sz="1155" b="1" dirty="0">
                <a:solidFill>
                  <a:srgbClr val="FFFFFF"/>
                </a:solidFill>
                <a:latin typeface="DM Sans" pitchFamily="34" charset="0"/>
                <a:ea typeface="DM Sans" pitchFamily="34" charset="-122"/>
                <a:cs typeface="DM Sans" pitchFamily="34" charset="-120"/>
              </a:rPr>
              <a:t>DATA</a:t>
            </a:r>
            <a:endParaRPr lang="en-US" sz="1155" dirty="0"/>
          </a:p>
        </p:txBody>
      </p:sp>
      <p:sp>
        <p:nvSpPr>
          <p:cNvPr id="15" name="Text 12"/>
          <p:cNvSpPr/>
          <p:nvPr/>
        </p:nvSpPr>
        <p:spPr>
          <a:xfrm>
            <a:off x="3520440" y="3458718"/>
            <a:ext cx="1418234" cy="310896"/>
          </a:xfrm>
          <a:prstGeom prst="rect">
            <a:avLst/>
          </a:prstGeom>
          <a:noFill/>
          <a:ln/>
        </p:spPr>
        <p:txBody>
          <a:bodyPr wrap="square" lIns="0" tIns="0" rIns="0" bIns="0" rtlCol="0" anchor="ctr"/>
          <a:lstStyle/>
          <a:p>
            <a:pPr algn="ctr" indent="0" marL="0">
              <a:buNone/>
            </a:pPr>
            <a:r>
              <a:rPr lang="en-US" sz="1100" dirty="0">
                <a:solidFill>
                  <a:srgbClr val="6B756B"/>
                </a:solidFill>
                <a:latin typeface="DM Sans" pitchFamily="34" charset="0"/>
                <a:ea typeface="DM Sans" pitchFamily="34" charset="-122"/>
                <a:cs typeface="DM Sans" pitchFamily="34" charset="-120"/>
              </a:rPr>
              <a:t>8 terms</a:t>
            </a:r>
            <a:endParaRPr lang="en-US" sz="1100" dirty="0"/>
          </a:p>
        </p:txBody>
      </p:sp>
      <p:sp>
        <p:nvSpPr>
          <p:cNvPr id="16" name="Shape 13"/>
          <p:cNvSpPr/>
          <p:nvPr/>
        </p:nvSpPr>
        <p:spPr>
          <a:xfrm>
            <a:off x="5029200" y="2953512"/>
            <a:ext cx="1418234" cy="427482"/>
          </a:xfrm>
          <a:prstGeom prst="rect">
            <a:avLst/>
          </a:prstGeom>
          <a:solidFill>
            <a:srgbClr val="4A9E4E"/>
          </a:solidFill>
          <a:ln/>
        </p:spPr>
      </p:sp>
      <p:sp>
        <p:nvSpPr>
          <p:cNvPr id="17" name="Text 14"/>
          <p:cNvSpPr/>
          <p:nvPr/>
        </p:nvSpPr>
        <p:spPr>
          <a:xfrm>
            <a:off x="5029200" y="2953512"/>
            <a:ext cx="1418234" cy="427482"/>
          </a:xfrm>
          <a:prstGeom prst="rect">
            <a:avLst/>
          </a:prstGeom>
          <a:noFill/>
          <a:ln/>
        </p:spPr>
        <p:txBody>
          <a:bodyPr wrap="square" lIns="0" tIns="0" rIns="0" bIns="0" rtlCol="0" anchor="ctr"/>
          <a:lstStyle/>
          <a:p>
            <a:pPr algn="ctr" indent="0" marL="0">
              <a:buNone/>
            </a:pPr>
            <a:r>
              <a:rPr lang="en-US" sz="1155" b="1" dirty="0">
                <a:solidFill>
                  <a:srgbClr val="FFFFFF"/>
                </a:solidFill>
                <a:latin typeface="DM Sans" pitchFamily="34" charset="0"/>
                <a:ea typeface="DM Sans" pitchFamily="34" charset="-122"/>
                <a:cs typeface="DM Sans" pitchFamily="34" charset="-120"/>
              </a:rPr>
              <a:t>ANALYSIS</a:t>
            </a:r>
            <a:endParaRPr lang="en-US" sz="1155" dirty="0"/>
          </a:p>
        </p:txBody>
      </p:sp>
      <p:sp>
        <p:nvSpPr>
          <p:cNvPr id="18" name="Text 15"/>
          <p:cNvSpPr/>
          <p:nvPr/>
        </p:nvSpPr>
        <p:spPr>
          <a:xfrm>
            <a:off x="5029200" y="3458718"/>
            <a:ext cx="1418234" cy="310896"/>
          </a:xfrm>
          <a:prstGeom prst="rect">
            <a:avLst/>
          </a:prstGeom>
          <a:noFill/>
          <a:ln/>
        </p:spPr>
        <p:txBody>
          <a:bodyPr wrap="square" lIns="0" tIns="0" rIns="0" bIns="0" rtlCol="0" anchor="ctr"/>
          <a:lstStyle/>
          <a:p>
            <a:pPr algn="ctr" indent="0" marL="0">
              <a:buNone/>
            </a:pPr>
            <a:r>
              <a:rPr lang="en-US" sz="1100" dirty="0">
                <a:solidFill>
                  <a:srgbClr val="6B756B"/>
                </a:solidFill>
                <a:latin typeface="DM Sans" pitchFamily="34" charset="0"/>
                <a:ea typeface="DM Sans" pitchFamily="34" charset="-122"/>
                <a:cs typeface="DM Sans" pitchFamily="34" charset="-120"/>
              </a:rPr>
              <a:t>7 terms</a:t>
            </a:r>
            <a:endParaRPr lang="en-US" sz="1100" dirty="0"/>
          </a:p>
        </p:txBody>
      </p:sp>
      <p:sp>
        <p:nvSpPr>
          <p:cNvPr id="19" name="Shape 16"/>
          <p:cNvSpPr/>
          <p:nvPr/>
        </p:nvSpPr>
        <p:spPr>
          <a:xfrm>
            <a:off x="6537960" y="2953512"/>
            <a:ext cx="1418234" cy="427482"/>
          </a:xfrm>
          <a:prstGeom prst="rect">
            <a:avLst/>
          </a:prstGeom>
          <a:solidFill>
            <a:srgbClr val="254F25"/>
          </a:solidFill>
          <a:ln/>
        </p:spPr>
      </p:sp>
      <p:sp>
        <p:nvSpPr>
          <p:cNvPr id="20" name="Text 17"/>
          <p:cNvSpPr/>
          <p:nvPr/>
        </p:nvSpPr>
        <p:spPr>
          <a:xfrm>
            <a:off x="6537960" y="2953512"/>
            <a:ext cx="1418234" cy="427482"/>
          </a:xfrm>
          <a:prstGeom prst="rect">
            <a:avLst/>
          </a:prstGeom>
          <a:noFill/>
          <a:ln/>
        </p:spPr>
        <p:txBody>
          <a:bodyPr wrap="square" lIns="0" tIns="0" rIns="0" bIns="0" rtlCol="0" anchor="ctr"/>
          <a:lstStyle/>
          <a:p>
            <a:pPr algn="ctr" indent="0" marL="0">
              <a:buNone/>
            </a:pPr>
            <a:r>
              <a:rPr lang="en-US" sz="1155" b="1" dirty="0">
                <a:solidFill>
                  <a:srgbClr val="FFFFFF"/>
                </a:solidFill>
                <a:latin typeface="DM Sans" pitchFamily="34" charset="0"/>
                <a:ea typeface="DM Sans" pitchFamily="34" charset="-122"/>
                <a:cs typeface="DM Sans" pitchFamily="34" charset="-120"/>
              </a:rPr>
              <a:t>CONCLUSION</a:t>
            </a:r>
            <a:endParaRPr lang="en-US" sz="1155" dirty="0"/>
          </a:p>
        </p:txBody>
      </p:sp>
      <p:sp>
        <p:nvSpPr>
          <p:cNvPr id="21" name="Text 18"/>
          <p:cNvSpPr/>
          <p:nvPr/>
        </p:nvSpPr>
        <p:spPr>
          <a:xfrm>
            <a:off x="6537960" y="3458718"/>
            <a:ext cx="1418234" cy="310896"/>
          </a:xfrm>
          <a:prstGeom prst="rect">
            <a:avLst/>
          </a:prstGeom>
          <a:noFill/>
          <a:ln/>
        </p:spPr>
        <p:txBody>
          <a:bodyPr wrap="square" lIns="0" tIns="0" rIns="0" bIns="0" rtlCol="0" anchor="ctr"/>
          <a:lstStyle/>
          <a:p>
            <a:pPr algn="ctr" indent="0" marL="0">
              <a:buNone/>
            </a:pPr>
            <a:r>
              <a:rPr lang="en-US" sz="1100" dirty="0">
                <a:solidFill>
                  <a:srgbClr val="6B756B"/>
                </a:solidFill>
                <a:latin typeface="DM Sans" pitchFamily="34" charset="0"/>
                <a:ea typeface="DM Sans" pitchFamily="34" charset="-122"/>
                <a:cs typeface="DM Sans" pitchFamily="34" charset="-120"/>
              </a:rPr>
              <a:t>6 terms</a:t>
            </a:r>
            <a:endParaRPr lang="en-US" sz="1100" dirty="0"/>
          </a:p>
        </p:txBody>
      </p:sp>
      <p:sp>
        <p:nvSpPr>
          <p:cNvPr id="22" name="Shape 19"/>
          <p:cNvSpPr/>
          <p:nvPr/>
        </p:nvSpPr>
        <p:spPr>
          <a:xfrm>
            <a:off x="8046720" y="2953512"/>
            <a:ext cx="1418234" cy="427482"/>
          </a:xfrm>
          <a:prstGeom prst="rect">
            <a:avLst/>
          </a:prstGeom>
          <a:solidFill>
            <a:srgbClr val="E8827D"/>
          </a:solidFill>
          <a:ln/>
        </p:spPr>
      </p:sp>
      <p:sp>
        <p:nvSpPr>
          <p:cNvPr id="23" name="Text 20"/>
          <p:cNvSpPr/>
          <p:nvPr/>
        </p:nvSpPr>
        <p:spPr>
          <a:xfrm>
            <a:off x="8046720" y="2953512"/>
            <a:ext cx="1418234" cy="427482"/>
          </a:xfrm>
          <a:prstGeom prst="rect">
            <a:avLst/>
          </a:prstGeom>
          <a:noFill/>
          <a:ln/>
        </p:spPr>
        <p:txBody>
          <a:bodyPr wrap="square" lIns="0" tIns="0" rIns="0" bIns="0" rtlCol="0" anchor="ctr"/>
          <a:lstStyle/>
          <a:p>
            <a:pPr algn="ctr" indent="0" marL="0">
              <a:buNone/>
            </a:pPr>
            <a:r>
              <a:rPr lang="en-US" sz="1155" b="1" dirty="0">
                <a:solidFill>
                  <a:srgbClr val="FFFFFF"/>
                </a:solidFill>
                <a:latin typeface="DM Sans" pitchFamily="34" charset="0"/>
                <a:ea typeface="DM Sans" pitchFamily="34" charset="-122"/>
                <a:cs typeface="DM Sans" pitchFamily="34" charset="-120"/>
              </a:rPr>
              <a:t>SHARING</a:t>
            </a:r>
            <a:endParaRPr lang="en-US" sz="1155" dirty="0"/>
          </a:p>
        </p:txBody>
      </p:sp>
      <p:sp>
        <p:nvSpPr>
          <p:cNvPr id="24" name="Text 21"/>
          <p:cNvSpPr/>
          <p:nvPr/>
        </p:nvSpPr>
        <p:spPr>
          <a:xfrm>
            <a:off x="8046720" y="3458718"/>
            <a:ext cx="1418234" cy="310896"/>
          </a:xfrm>
          <a:prstGeom prst="rect">
            <a:avLst/>
          </a:prstGeom>
          <a:noFill/>
          <a:ln/>
        </p:spPr>
        <p:txBody>
          <a:bodyPr wrap="square" lIns="0" tIns="0" rIns="0" bIns="0" rtlCol="0" anchor="ctr"/>
          <a:lstStyle/>
          <a:p>
            <a:pPr algn="ctr" indent="0" marL="0">
              <a:buNone/>
            </a:pPr>
            <a:r>
              <a:rPr lang="en-US" sz="1100" dirty="0">
                <a:solidFill>
                  <a:srgbClr val="6B756B"/>
                </a:solidFill>
                <a:latin typeface="DM Sans" pitchFamily="34" charset="0"/>
                <a:ea typeface="DM Sans" pitchFamily="34" charset="-122"/>
                <a:cs typeface="DM Sans" pitchFamily="34" charset="-120"/>
              </a:rPr>
              <a:t>2 terms</a:t>
            </a:r>
            <a:endParaRPr lang="en-US" sz="1100" dirty="0"/>
          </a:p>
        </p:txBody>
      </p:sp>
      <p:sp>
        <p:nvSpPr>
          <p:cNvPr id="25" name="Shape 22"/>
          <p:cNvSpPr/>
          <p:nvPr/>
        </p:nvSpPr>
        <p:spPr>
          <a:xfrm>
            <a:off x="502920" y="4041648"/>
            <a:ext cx="9052560" cy="1554480"/>
          </a:xfrm>
          <a:prstGeom prst="rect">
            <a:avLst/>
          </a:prstGeom>
          <a:solidFill>
            <a:srgbClr val="E8F5E9"/>
          </a:solidFill>
          <a:ln/>
        </p:spPr>
      </p:sp>
      <p:sp>
        <p:nvSpPr>
          <p:cNvPr id="26" name="Text 23"/>
          <p:cNvSpPr/>
          <p:nvPr/>
        </p:nvSpPr>
        <p:spPr>
          <a:xfrm>
            <a:off x="704088" y="4235958"/>
            <a:ext cx="9052560" cy="310896"/>
          </a:xfrm>
          <a:prstGeom prst="rect">
            <a:avLst/>
          </a:prstGeom>
          <a:noFill/>
          <a:ln/>
        </p:spPr>
        <p:txBody>
          <a:bodyPr wrap="square" lIns="0" tIns="0" rIns="0" bIns="0" rtlCol="0" anchor="ctr"/>
          <a:lstStyle/>
          <a:p>
            <a:pPr indent="0" marL="0">
              <a:buNone/>
            </a:pPr>
            <a:r>
              <a:rPr lang="en-US" sz="1265" b="1" spc="154" kern="0" dirty="0">
                <a:solidFill>
                  <a:srgbClr val="357A38"/>
                </a:solidFill>
                <a:latin typeface="DM Sans" pitchFamily="34" charset="0"/>
                <a:ea typeface="DM Sans" pitchFamily="34" charset="-122"/>
                <a:cs typeface="DM Sans" pitchFamily="34" charset="-120"/>
              </a:rPr>
              <a:t>HOW TO USE THE WALL</a:t>
            </a:r>
            <a:endParaRPr lang="en-US" sz="1265" dirty="0"/>
          </a:p>
        </p:txBody>
      </p:sp>
      <p:sp>
        <p:nvSpPr>
          <p:cNvPr id="27" name="Text 24"/>
          <p:cNvSpPr/>
          <p:nvPr/>
        </p:nvSpPr>
        <p:spPr>
          <a:xfrm>
            <a:off x="704088" y="4624578"/>
            <a:ext cx="8650224" cy="854964"/>
          </a:xfrm>
          <a:prstGeom prst="rect">
            <a:avLst/>
          </a:prstGeom>
          <a:noFill/>
          <a:ln/>
        </p:spPr>
        <p:txBody>
          <a:bodyPr wrap="square" lIns="0" tIns="0" rIns="0" bIns="0" rtlCol="0" anchor="t"/>
          <a:lstStyle/>
          <a:p>
            <a:pPr marL="342900" indent="-342900">
              <a:lnSpc>
                <a:spcPct val="120000"/>
              </a:lnSpc>
              <a:buSzPct val="100000"/>
              <a:buChar char="▪"/>
            </a:pPr>
            <a:r>
              <a:rPr lang="en-US" sz="1265" dirty="0">
                <a:solidFill>
                  <a:srgbClr val="254F25"/>
                </a:solidFill>
                <a:latin typeface="DM Sans" pitchFamily="34" charset="0"/>
                <a:ea typeface="DM Sans" pitchFamily="34" charset="-122"/>
                <a:cs typeface="DM Sans" pitchFamily="34" charset="-120"/>
              </a:rPr>
              <a:t>Add cards as you reach each phase rather than posting all forty on day one.</a:t>
            </a:r>
            <a:endParaRPr lang="en-US" sz="1265" dirty="0"/>
          </a:p>
          <a:p>
            <a:pPr marL="342900" indent="-342900">
              <a:lnSpc>
                <a:spcPct val="120000"/>
              </a:lnSpc>
              <a:buSzPct val="100000"/>
              <a:buChar char="▪"/>
            </a:pPr>
            <a:r>
              <a:rPr lang="en-US" sz="1265" dirty="0">
                <a:solidFill>
                  <a:srgbClr val="254F25"/>
                </a:solidFill>
                <a:latin typeface="DM Sans" pitchFamily="34" charset="0"/>
                <a:ea typeface="DM Sans" pitchFamily="34" charset="-122"/>
                <a:cs typeface="DM Sans" pitchFamily="34" charset="-120"/>
              </a:rPr>
              <a:t>Point to the card whenever you use the word out loud. Students copy what they see modelled.</a:t>
            </a:r>
            <a:endParaRPr lang="en-US" sz="1265" dirty="0"/>
          </a:p>
          <a:p>
            <a:pPr marL="342900" indent="-342900">
              <a:lnSpc>
                <a:spcPct val="120000"/>
              </a:lnSpc>
              <a:buSzPct val="100000"/>
              <a:buChar char="▪"/>
            </a:pPr>
            <a:r>
              <a:rPr lang="en-US" sz="1265" dirty="0">
                <a:solidFill>
                  <a:srgbClr val="254F25"/>
                </a:solidFill>
                <a:latin typeface="DM Sans" pitchFamily="34" charset="0"/>
                <a:ea typeface="DM Sans" pitchFamily="34" charset="-122"/>
                <a:cs typeface="DM Sans" pitchFamily="34" charset="-120"/>
              </a:rPr>
              <a:t>Ask students to use two wall words in every journal entry.</a:t>
            </a:r>
            <a:endParaRPr lang="en-US" sz="1265" dirty="0"/>
          </a:p>
          <a:p>
            <a:pPr marL="342900" indent="-342900">
              <a:lnSpc>
                <a:spcPct val="120000"/>
              </a:lnSpc>
              <a:buSzPct val="100000"/>
              <a:buChar char="▪"/>
            </a:pPr>
            <a:r>
              <a:rPr lang="en-US" sz="1265" dirty="0">
                <a:solidFill>
                  <a:srgbClr val="254F25"/>
                </a:solidFill>
                <a:latin typeface="DM Sans" pitchFamily="34" charset="0"/>
                <a:ea typeface="DM Sans" pitchFamily="34" charset="-122"/>
                <a:cs typeface="DM Sans" pitchFamily="34" charset="-120"/>
              </a:rPr>
              <a:t>Leave the wall up through the fair. Students use it when they write their abstract.</a:t>
            </a:r>
            <a:endParaRPr lang="en-US" sz="1265" dirty="0"/>
          </a:p>
        </p:txBody>
      </p:sp>
      <p:sp>
        <p:nvSpPr>
          <p:cNvPr id="28" name="Shape 25"/>
          <p:cNvSpPr/>
          <p:nvPr/>
        </p:nvSpPr>
        <p:spPr>
          <a:xfrm>
            <a:off x="623621" y="7422642"/>
            <a:ext cx="8811158" cy="0"/>
          </a:xfrm>
          <a:prstGeom prst="line">
            <a:avLst/>
          </a:prstGeom>
          <a:noFill/>
          <a:ln w="12700">
            <a:solidFill>
              <a:srgbClr val="E2E6E2"/>
            </a:solidFill>
            <a:prstDash val="solid"/>
          </a:ln>
        </p:spPr>
      </p:sp>
      <p:sp>
        <p:nvSpPr>
          <p:cNvPr id="29" name="Text 26"/>
          <p:cNvSpPr/>
          <p:nvPr/>
        </p:nvSpPr>
        <p:spPr>
          <a:xfrm>
            <a:off x="623621" y="7461504"/>
            <a:ext cx="5286695" cy="194310"/>
          </a:xfrm>
          <a:prstGeom prst="rect">
            <a:avLst/>
          </a:prstGeom>
          <a:noFill/>
          <a:ln/>
        </p:spPr>
        <p:txBody>
          <a:bodyPr wrap="square" lIns="0" tIns="0" rIns="0" bIns="0" rtlCol="0" anchor="ctr"/>
          <a:lstStyle/>
          <a:p>
            <a:pPr indent="0" marL="0">
              <a:buNone/>
            </a:pPr>
            <a:r>
              <a:rPr lang="en-US" sz="946" dirty="0">
                <a:solidFill>
                  <a:srgbClr val="6B756B"/>
                </a:solidFill>
                <a:latin typeface="DM Sans" pitchFamily="34" charset="0"/>
                <a:ea typeface="DM Sans" pitchFamily="34" charset="-122"/>
                <a:cs typeface="DM Sans" pitchFamily="34" charset="-120"/>
              </a:rPr>
              <a:t>FairGame Initiative  |  Word wall vocabulary, Grades 5 to 6</a:t>
            </a:r>
            <a:endParaRPr lang="en-US" sz="946" dirty="0"/>
          </a:p>
        </p:txBody>
      </p:sp>
      <p:sp>
        <p:nvSpPr>
          <p:cNvPr id="30" name="Text 27"/>
          <p:cNvSpPr/>
          <p:nvPr/>
        </p:nvSpPr>
        <p:spPr>
          <a:xfrm>
            <a:off x="5910316" y="7461504"/>
            <a:ext cx="3524463" cy="194310"/>
          </a:xfrm>
          <a:prstGeom prst="rect">
            <a:avLst/>
          </a:prstGeom>
          <a:noFill/>
          <a:ln/>
        </p:spPr>
        <p:txBody>
          <a:bodyPr wrap="square" lIns="0" tIns="0" rIns="0" bIns="0" rtlCol="0" anchor="ctr"/>
          <a:lstStyle/>
          <a:p>
            <a:pPr algn="r" indent="0" marL="0">
              <a:buNone/>
            </a:pPr>
            <a:r>
              <a:rPr lang="en-US" sz="946" i="1" dirty="0">
                <a:solidFill>
                  <a:srgbClr val="E0615A"/>
                </a:solidFill>
                <a:latin typeface="Playfair Display" pitchFamily="34" charset="0"/>
                <a:ea typeface="Playfair Display" pitchFamily="34" charset="-122"/>
                <a:cs typeface="Playfair Display" pitchFamily="34" charset="-120"/>
              </a:rPr>
              <a:t>Science fairs without barriers.</a:t>
            </a:r>
            <a:endParaRPr lang="en-US" sz="946"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357A38"/>
            </a:solidFill>
            <a:prstDash val="solid"/>
          </a:ln>
        </p:spPr>
      </p:sp>
      <p:sp>
        <p:nvSpPr>
          <p:cNvPr id="3" name="Shape 1"/>
          <p:cNvSpPr/>
          <p:nvPr/>
        </p:nvSpPr>
        <p:spPr>
          <a:xfrm>
            <a:off x="221285" y="221285"/>
            <a:ext cx="4586630" cy="654290"/>
          </a:xfrm>
          <a:prstGeom prst="rect">
            <a:avLst/>
          </a:prstGeom>
          <a:solidFill>
            <a:srgbClr val="357A38"/>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PLANNING</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Question</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thing you want to find out. It has to be something you can test.</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357A38"/>
            </a:solidFill>
            <a:prstDash val="solid"/>
          </a:ln>
        </p:spPr>
      </p:sp>
      <p:sp>
        <p:nvSpPr>
          <p:cNvPr id="8" name="Shape 6"/>
          <p:cNvSpPr/>
          <p:nvPr/>
        </p:nvSpPr>
        <p:spPr>
          <a:xfrm>
            <a:off x="5250485" y="221285"/>
            <a:ext cx="4586630" cy="654290"/>
          </a:xfrm>
          <a:prstGeom prst="rect">
            <a:avLst/>
          </a:prstGeom>
          <a:solidFill>
            <a:srgbClr val="357A38"/>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PLANNING</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Background research</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Reading to find out what people already know about your topic.</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357A38"/>
            </a:solidFill>
            <a:prstDash val="solid"/>
          </a:ln>
        </p:spPr>
      </p:sp>
      <p:sp>
        <p:nvSpPr>
          <p:cNvPr id="13" name="Shape 11"/>
          <p:cNvSpPr/>
          <p:nvPr/>
        </p:nvSpPr>
        <p:spPr>
          <a:xfrm>
            <a:off x="221285" y="4107485"/>
            <a:ext cx="4586630" cy="654290"/>
          </a:xfrm>
          <a:prstGeom prst="rect">
            <a:avLst/>
          </a:prstGeom>
          <a:solidFill>
            <a:srgbClr val="357A38"/>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PLANNING</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Source</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book, article, or website where you found information.</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357A38"/>
            </a:solidFill>
            <a:prstDash val="solid"/>
          </a:ln>
        </p:spPr>
      </p:sp>
      <p:sp>
        <p:nvSpPr>
          <p:cNvPr id="18" name="Shape 16"/>
          <p:cNvSpPr/>
          <p:nvPr/>
        </p:nvSpPr>
        <p:spPr>
          <a:xfrm>
            <a:off x="5250485" y="4107485"/>
            <a:ext cx="4586630" cy="654290"/>
          </a:xfrm>
          <a:prstGeom prst="rect">
            <a:avLst/>
          </a:prstGeom>
          <a:solidFill>
            <a:srgbClr val="357A38"/>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PLANNING</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Citation</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note that says where a fact came from.</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357A38"/>
            </a:solidFill>
            <a:prstDash val="solid"/>
          </a:ln>
        </p:spPr>
      </p:sp>
      <p:sp>
        <p:nvSpPr>
          <p:cNvPr id="3" name="Shape 1"/>
          <p:cNvSpPr/>
          <p:nvPr/>
        </p:nvSpPr>
        <p:spPr>
          <a:xfrm>
            <a:off x="221285" y="221285"/>
            <a:ext cx="4586630" cy="654290"/>
          </a:xfrm>
          <a:prstGeom prst="rect">
            <a:avLst/>
          </a:prstGeom>
          <a:solidFill>
            <a:srgbClr val="357A38"/>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PLANNING</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Bibliography</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list of every source you used, at the end of your paper.</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357A38"/>
            </a:solidFill>
            <a:prstDash val="solid"/>
          </a:ln>
        </p:spPr>
      </p:sp>
      <p:sp>
        <p:nvSpPr>
          <p:cNvPr id="8" name="Shape 6"/>
          <p:cNvSpPr/>
          <p:nvPr/>
        </p:nvSpPr>
        <p:spPr>
          <a:xfrm>
            <a:off x="5250485" y="221285"/>
            <a:ext cx="4586630" cy="654290"/>
          </a:xfrm>
          <a:prstGeom prst="rect">
            <a:avLst/>
          </a:prstGeom>
          <a:solidFill>
            <a:srgbClr val="357A38"/>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PLANNING</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Hypothesis</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Your best guess about what will happen, and why.</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357A38"/>
            </a:solidFill>
            <a:prstDash val="solid"/>
          </a:ln>
        </p:spPr>
      </p:sp>
      <p:sp>
        <p:nvSpPr>
          <p:cNvPr id="13" name="Shape 11"/>
          <p:cNvSpPr/>
          <p:nvPr/>
        </p:nvSpPr>
        <p:spPr>
          <a:xfrm>
            <a:off x="221285" y="4107485"/>
            <a:ext cx="4586630" cy="654290"/>
          </a:xfrm>
          <a:prstGeom prst="rect">
            <a:avLst/>
          </a:prstGeom>
          <a:solidFill>
            <a:srgbClr val="357A38"/>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PLANNING</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Prediction</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What you think the answer will be before you test it.</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1C3A1C"/>
            </a:solidFill>
            <a:prstDash val="solid"/>
          </a:ln>
        </p:spPr>
      </p:sp>
      <p:sp>
        <p:nvSpPr>
          <p:cNvPr id="18" name="Shape 16"/>
          <p:cNvSpPr/>
          <p:nvPr/>
        </p:nvSpPr>
        <p:spPr>
          <a:xfrm>
            <a:off x="5250485" y="4107485"/>
            <a:ext cx="4586630" cy="654290"/>
          </a:xfrm>
          <a:prstGeom prst="rect">
            <a:avLst/>
          </a:prstGeom>
          <a:solidFill>
            <a:srgbClr val="1C3A1C"/>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Experiment</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fair test you run to answer your question.</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1C3A1C"/>
            </a:solidFill>
            <a:prstDash val="solid"/>
          </a:ln>
        </p:spPr>
      </p:sp>
      <p:sp>
        <p:nvSpPr>
          <p:cNvPr id="3" name="Shape 1"/>
          <p:cNvSpPr/>
          <p:nvPr/>
        </p:nvSpPr>
        <p:spPr>
          <a:xfrm>
            <a:off x="221285" y="221285"/>
            <a:ext cx="4586630" cy="654290"/>
          </a:xfrm>
          <a:prstGeom prst="rect">
            <a:avLst/>
          </a:prstGeom>
          <a:solidFill>
            <a:srgbClr val="1C3A1C"/>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Independent variable</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one thing you change on purpose.</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1C3A1C"/>
            </a:solidFill>
            <a:prstDash val="solid"/>
          </a:ln>
        </p:spPr>
      </p:sp>
      <p:sp>
        <p:nvSpPr>
          <p:cNvPr id="8" name="Shape 6"/>
          <p:cNvSpPr/>
          <p:nvPr/>
        </p:nvSpPr>
        <p:spPr>
          <a:xfrm>
            <a:off x="5250485" y="221285"/>
            <a:ext cx="4586630" cy="654290"/>
          </a:xfrm>
          <a:prstGeom prst="rect">
            <a:avLst/>
          </a:prstGeom>
          <a:solidFill>
            <a:srgbClr val="1C3A1C"/>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Dependent variable</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thing you measure to see what happened.</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1C3A1C"/>
            </a:solidFill>
            <a:prstDash val="solid"/>
          </a:ln>
        </p:spPr>
      </p:sp>
      <p:sp>
        <p:nvSpPr>
          <p:cNvPr id="13" name="Shape 11"/>
          <p:cNvSpPr/>
          <p:nvPr/>
        </p:nvSpPr>
        <p:spPr>
          <a:xfrm>
            <a:off x="221285" y="4107485"/>
            <a:ext cx="4586630" cy="654290"/>
          </a:xfrm>
          <a:prstGeom prst="rect">
            <a:avLst/>
          </a:prstGeom>
          <a:solidFill>
            <a:srgbClr val="1C3A1C"/>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Controlled variable</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Something you keep exactly the same every time.</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1C3A1C"/>
            </a:solidFill>
            <a:prstDash val="solid"/>
          </a:ln>
        </p:spPr>
      </p:sp>
      <p:sp>
        <p:nvSpPr>
          <p:cNvPr id="18" name="Shape 16"/>
          <p:cNvSpPr/>
          <p:nvPr/>
        </p:nvSpPr>
        <p:spPr>
          <a:xfrm>
            <a:off x="5250485" y="4107485"/>
            <a:ext cx="4586630" cy="654290"/>
          </a:xfrm>
          <a:prstGeom prst="rect">
            <a:avLst/>
          </a:prstGeom>
          <a:solidFill>
            <a:srgbClr val="1C3A1C"/>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Control group</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version you do not change, so you have something to compare to.</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1C3A1C"/>
            </a:solidFill>
            <a:prstDash val="solid"/>
          </a:ln>
        </p:spPr>
      </p:sp>
      <p:sp>
        <p:nvSpPr>
          <p:cNvPr id="3" name="Shape 1"/>
          <p:cNvSpPr/>
          <p:nvPr/>
        </p:nvSpPr>
        <p:spPr>
          <a:xfrm>
            <a:off x="221285" y="221285"/>
            <a:ext cx="4586630" cy="654290"/>
          </a:xfrm>
          <a:prstGeom prst="rect">
            <a:avLst/>
          </a:prstGeom>
          <a:solidFill>
            <a:srgbClr val="1C3A1C"/>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Procedure</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steps you follow, written so someone else could copy them.</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1C3A1C"/>
            </a:solidFill>
            <a:prstDash val="solid"/>
          </a:ln>
        </p:spPr>
      </p:sp>
      <p:sp>
        <p:nvSpPr>
          <p:cNvPr id="8" name="Shape 6"/>
          <p:cNvSpPr/>
          <p:nvPr/>
        </p:nvSpPr>
        <p:spPr>
          <a:xfrm>
            <a:off x="5250485" y="221285"/>
            <a:ext cx="4586630" cy="654290"/>
          </a:xfrm>
          <a:prstGeom prst="rect">
            <a:avLst/>
          </a:prstGeom>
          <a:solidFill>
            <a:srgbClr val="1C3A1C"/>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Materials</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Everything you use to run your experiment.</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1C3A1C"/>
            </a:solidFill>
            <a:prstDash val="solid"/>
          </a:ln>
        </p:spPr>
      </p:sp>
      <p:sp>
        <p:nvSpPr>
          <p:cNvPr id="13" name="Shape 11"/>
          <p:cNvSpPr/>
          <p:nvPr/>
        </p:nvSpPr>
        <p:spPr>
          <a:xfrm>
            <a:off x="221285" y="4107485"/>
            <a:ext cx="4586630" cy="654290"/>
          </a:xfrm>
          <a:prstGeom prst="rect">
            <a:avLst/>
          </a:prstGeom>
          <a:solidFill>
            <a:srgbClr val="1C3A1C"/>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Trial</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One run of your experiment.</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1C3A1C"/>
            </a:solidFill>
            <a:prstDash val="solid"/>
          </a:ln>
        </p:spPr>
      </p:sp>
      <p:sp>
        <p:nvSpPr>
          <p:cNvPr id="18" name="Shape 16"/>
          <p:cNvSpPr/>
          <p:nvPr/>
        </p:nvSpPr>
        <p:spPr>
          <a:xfrm>
            <a:off x="5250485" y="4107485"/>
            <a:ext cx="4586630" cy="654290"/>
          </a:xfrm>
          <a:prstGeom prst="rect">
            <a:avLst/>
          </a:prstGeom>
          <a:solidFill>
            <a:srgbClr val="1C3A1C"/>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Sample size</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How many times or how many things you tested.</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1C3A1C"/>
            </a:solidFill>
            <a:prstDash val="solid"/>
          </a:ln>
        </p:spPr>
      </p:sp>
      <p:sp>
        <p:nvSpPr>
          <p:cNvPr id="3" name="Shape 1"/>
          <p:cNvSpPr/>
          <p:nvPr/>
        </p:nvSpPr>
        <p:spPr>
          <a:xfrm>
            <a:off x="221285" y="221285"/>
            <a:ext cx="4586630" cy="654290"/>
          </a:xfrm>
          <a:prstGeom prst="rect">
            <a:avLst/>
          </a:prstGeom>
          <a:solidFill>
            <a:srgbClr val="1C3A1C"/>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DESIGN</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Replication</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Doing the test more than once to be sure.</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E0615A"/>
            </a:solidFill>
            <a:prstDash val="solid"/>
          </a:ln>
        </p:spPr>
      </p:sp>
      <p:sp>
        <p:nvSpPr>
          <p:cNvPr id="8" name="Shape 6"/>
          <p:cNvSpPr/>
          <p:nvPr/>
        </p:nvSpPr>
        <p:spPr>
          <a:xfrm>
            <a:off x="5250485" y="221285"/>
            <a:ext cx="4586630" cy="654290"/>
          </a:xfrm>
          <a:prstGeom prst="rect">
            <a:avLst/>
          </a:prstGeom>
          <a:solidFill>
            <a:srgbClr val="E0615A"/>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DATA</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Data</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measurements and observations you collect.</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E0615A"/>
            </a:solidFill>
            <a:prstDash val="solid"/>
          </a:ln>
        </p:spPr>
      </p:sp>
      <p:sp>
        <p:nvSpPr>
          <p:cNvPr id="13" name="Shape 11"/>
          <p:cNvSpPr/>
          <p:nvPr/>
        </p:nvSpPr>
        <p:spPr>
          <a:xfrm>
            <a:off x="221285" y="4107485"/>
            <a:ext cx="4586630" cy="654290"/>
          </a:xfrm>
          <a:prstGeom prst="rect">
            <a:avLst/>
          </a:prstGeom>
          <a:solidFill>
            <a:srgbClr val="E0615A"/>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DATA</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Observation</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Something you notice and write down.</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E0615A"/>
            </a:solidFill>
            <a:prstDash val="solid"/>
          </a:ln>
        </p:spPr>
      </p:sp>
      <p:sp>
        <p:nvSpPr>
          <p:cNvPr id="18" name="Shape 16"/>
          <p:cNvSpPr/>
          <p:nvPr/>
        </p:nvSpPr>
        <p:spPr>
          <a:xfrm>
            <a:off x="5250485" y="4107485"/>
            <a:ext cx="4586630" cy="654290"/>
          </a:xfrm>
          <a:prstGeom prst="rect">
            <a:avLst/>
          </a:prstGeom>
          <a:solidFill>
            <a:srgbClr val="E0615A"/>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DATA</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Measurement</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number you get using a tool, like a ruler or timer.</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E0615A"/>
            </a:solidFill>
            <a:prstDash val="solid"/>
          </a:ln>
        </p:spPr>
      </p:sp>
      <p:sp>
        <p:nvSpPr>
          <p:cNvPr id="3" name="Shape 1"/>
          <p:cNvSpPr/>
          <p:nvPr/>
        </p:nvSpPr>
        <p:spPr>
          <a:xfrm>
            <a:off x="221285" y="221285"/>
            <a:ext cx="4586630" cy="654290"/>
          </a:xfrm>
          <a:prstGeom prst="rect">
            <a:avLst/>
          </a:prstGeom>
          <a:solidFill>
            <a:srgbClr val="E0615A"/>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DATA</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Units</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What your number is counted in, like centimetres or seconds.</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E0615A"/>
            </a:solidFill>
            <a:prstDash val="solid"/>
          </a:ln>
        </p:spPr>
      </p:sp>
      <p:sp>
        <p:nvSpPr>
          <p:cNvPr id="8" name="Shape 6"/>
          <p:cNvSpPr/>
          <p:nvPr/>
        </p:nvSpPr>
        <p:spPr>
          <a:xfrm>
            <a:off x="5250485" y="221285"/>
            <a:ext cx="4586630" cy="654290"/>
          </a:xfrm>
          <a:prstGeom prst="rect">
            <a:avLst/>
          </a:prstGeom>
          <a:solidFill>
            <a:srgbClr val="E0615A"/>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DATA</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Data table</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chart where you write your numbers in rows and columns.</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E0615A"/>
            </a:solidFill>
            <a:prstDash val="solid"/>
          </a:ln>
        </p:spPr>
      </p:sp>
      <p:sp>
        <p:nvSpPr>
          <p:cNvPr id="13" name="Shape 11"/>
          <p:cNvSpPr/>
          <p:nvPr/>
        </p:nvSpPr>
        <p:spPr>
          <a:xfrm>
            <a:off x="221285" y="4107485"/>
            <a:ext cx="4586630" cy="654290"/>
          </a:xfrm>
          <a:prstGeom prst="rect">
            <a:avLst/>
          </a:prstGeom>
          <a:solidFill>
            <a:srgbClr val="E0615A"/>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DATA</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Lab notebook</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book where you write what you did each day.</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E0615A"/>
            </a:solidFill>
            <a:prstDash val="solid"/>
          </a:ln>
        </p:spPr>
      </p:sp>
      <p:sp>
        <p:nvSpPr>
          <p:cNvPr id="18" name="Shape 16"/>
          <p:cNvSpPr/>
          <p:nvPr/>
        </p:nvSpPr>
        <p:spPr>
          <a:xfrm>
            <a:off x="5250485" y="4107485"/>
            <a:ext cx="4586630" cy="654290"/>
          </a:xfrm>
          <a:prstGeom prst="rect">
            <a:avLst/>
          </a:prstGeom>
          <a:solidFill>
            <a:srgbClr val="E0615A"/>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DATA</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Accuracy</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How close your measurement is to the true answer.</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E0615A"/>
            </a:solidFill>
            <a:prstDash val="solid"/>
          </a:ln>
        </p:spPr>
      </p:sp>
      <p:sp>
        <p:nvSpPr>
          <p:cNvPr id="3" name="Shape 1"/>
          <p:cNvSpPr/>
          <p:nvPr/>
        </p:nvSpPr>
        <p:spPr>
          <a:xfrm>
            <a:off x="221285" y="221285"/>
            <a:ext cx="4586630" cy="654290"/>
          </a:xfrm>
          <a:prstGeom prst="rect">
            <a:avLst/>
          </a:prstGeom>
          <a:solidFill>
            <a:srgbClr val="E0615A"/>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DATA</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Precision</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How close your repeated measurements are to each other.</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4A9E4E"/>
            </a:solidFill>
            <a:prstDash val="solid"/>
          </a:ln>
        </p:spPr>
      </p:sp>
      <p:sp>
        <p:nvSpPr>
          <p:cNvPr id="8" name="Shape 6"/>
          <p:cNvSpPr/>
          <p:nvPr/>
        </p:nvSpPr>
        <p:spPr>
          <a:xfrm>
            <a:off x="5250485" y="221285"/>
            <a:ext cx="4586630" cy="654290"/>
          </a:xfrm>
          <a:prstGeom prst="rect">
            <a:avLst/>
          </a:prstGeom>
          <a:solidFill>
            <a:srgbClr val="4A9E4E"/>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ANALYSIS</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Average</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Add your numbers, then divide by how many there were.</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4A9E4E"/>
            </a:solidFill>
            <a:prstDash val="solid"/>
          </a:ln>
        </p:spPr>
      </p:sp>
      <p:sp>
        <p:nvSpPr>
          <p:cNvPr id="13" name="Shape 11"/>
          <p:cNvSpPr/>
          <p:nvPr/>
        </p:nvSpPr>
        <p:spPr>
          <a:xfrm>
            <a:off x="221285" y="4107485"/>
            <a:ext cx="4586630" cy="654290"/>
          </a:xfrm>
          <a:prstGeom prst="rect">
            <a:avLst/>
          </a:prstGeom>
          <a:solidFill>
            <a:srgbClr val="4A9E4E"/>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ANALYSIS</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Range</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biggest number minus the smallest number.</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4A9E4E"/>
            </a:solidFill>
            <a:prstDash val="solid"/>
          </a:ln>
        </p:spPr>
      </p:sp>
      <p:sp>
        <p:nvSpPr>
          <p:cNvPr id="18" name="Shape 16"/>
          <p:cNvSpPr/>
          <p:nvPr/>
        </p:nvSpPr>
        <p:spPr>
          <a:xfrm>
            <a:off x="5250485" y="4107485"/>
            <a:ext cx="4586630" cy="654290"/>
          </a:xfrm>
          <a:prstGeom prst="rect">
            <a:avLst/>
          </a:prstGeom>
          <a:solidFill>
            <a:srgbClr val="4A9E4E"/>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ANALYSIS</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Graph</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picture of your data that shows the pattern.</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4A9E4E"/>
            </a:solidFill>
            <a:prstDash val="solid"/>
          </a:ln>
        </p:spPr>
      </p:sp>
      <p:sp>
        <p:nvSpPr>
          <p:cNvPr id="3" name="Shape 1"/>
          <p:cNvSpPr/>
          <p:nvPr/>
        </p:nvSpPr>
        <p:spPr>
          <a:xfrm>
            <a:off x="221285" y="221285"/>
            <a:ext cx="4586630" cy="654290"/>
          </a:xfrm>
          <a:prstGeom prst="rect">
            <a:avLst/>
          </a:prstGeom>
          <a:solidFill>
            <a:srgbClr val="4A9E4E"/>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ANALYSIS</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Bar graph</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Bars that compare groups side by side.</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4A9E4E"/>
            </a:solidFill>
            <a:prstDash val="solid"/>
          </a:ln>
        </p:spPr>
      </p:sp>
      <p:sp>
        <p:nvSpPr>
          <p:cNvPr id="8" name="Shape 6"/>
          <p:cNvSpPr/>
          <p:nvPr/>
        </p:nvSpPr>
        <p:spPr>
          <a:xfrm>
            <a:off x="5250485" y="221285"/>
            <a:ext cx="4586630" cy="654290"/>
          </a:xfrm>
          <a:prstGeom prst="rect">
            <a:avLst/>
          </a:prstGeom>
          <a:solidFill>
            <a:srgbClr val="4A9E4E"/>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ANALYSIS</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Line graph</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line that shows how something changed over time.</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4A9E4E"/>
            </a:solidFill>
            <a:prstDash val="solid"/>
          </a:ln>
        </p:spPr>
      </p:sp>
      <p:sp>
        <p:nvSpPr>
          <p:cNvPr id="13" name="Shape 11"/>
          <p:cNvSpPr/>
          <p:nvPr/>
        </p:nvSpPr>
        <p:spPr>
          <a:xfrm>
            <a:off x="221285" y="4107485"/>
            <a:ext cx="4586630" cy="654290"/>
          </a:xfrm>
          <a:prstGeom prst="rect">
            <a:avLst/>
          </a:prstGeom>
          <a:solidFill>
            <a:srgbClr val="4A9E4E"/>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ANALYSIS</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Scatter plot</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Dots that show whether two numbers go together.</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4A9E4E"/>
            </a:solidFill>
            <a:prstDash val="solid"/>
          </a:ln>
        </p:spPr>
      </p:sp>
      <p:sp>
        <p:nvSpPr>
          <p:cNvPr id="18" name="Shape 16"/>
          <p:cNvSpPr/>
          <p:nvPr/>
        </p:nvSpPr>
        <p:spPr>
          <a:xfrm>
            <a:off x="5250485" y="4107485"/>
            <a:ext cx="4586630" cy="654290"/>
          </a:xfrm>
          <a:prstGeom prst="rect">
            <a:avLst/>
          </a:prstGeom>
          <a:solidFill>
            <a:srgbClr val="4A9E4E"/>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ANALYSIS</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Analysis</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Looking at your data to figure out what it means.</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254F25"/>
            </a:solidFill>
            <a:prstDash val="solid"/>
          </a:ln>
        </p:spPr>
      </p:sp>
      <p:sp>
        <p:nvSpPr>
          <p:cNvPr id="3" name="Shape 1"/>
          <p:cNvSpPr/>
          <p:nvPr/>
        </p:nvSpPr>
        <p:spPr>
          <a:xfrm>
            <a:off x="221285" y="221285"/>
            <a:ext cx="4586630" cy="654290"/>
          </a:xfrm>
          <a:prstGeom prst="rect">
            <a:avLst/>
          </a:prstGeom>
          <a:solidFill>
            <a:srgbClr val="254F25"/>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CONCLUSION</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Claim</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What you say your data shows.</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254F25"/>
            </a:solidFill>
            <a:prstDash val="solid"/>
          </a:ln>
        </p:spPr>
      </p:sp>
      <p:sp>
        <p:nvSpPr>
          <p:cNvPr id="8" name="Shape 6"/>
          <p:cNvSpPr/>
          <p:nvPr/>
        </p:nvSpPr>
        <p:spPr>
          <a:xfrm>
            <a:off x="5250485" y="221285"/>
            <a:ext cx="4586630" cy="654290"/>
          </a:xfrm>
          <a:prstGeom prst="rect">
            <a:avLst/>
          </a:prstGeom>
          <a:solidFill>
            <a:srgbClr val="254F25"/>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CONCLUSION</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Evidence</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actual numbers that back up what you say.</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254F25"/>
            </a:solidFill>
            <a:prstDash val="solid"/>
          </a:ln>
        </p:spPr>
      </p:sp>
      <p:sp>
        <p:nvSpPr>
          <p:cNvPr id="13" name="Shape 11"/>
          <p:cNvSpPr/>
          <p:nvPr/>
        </p:nvSpPr>
        <p:spPr>
          <a:xfrm>
            <a:off x="221285" y="4107485"/>
            <a:ext cx="4586630" cy="654290"/>
          </a:xfrm>
          <a:prstGeom prst="rect">
            <a:avLst/>
          </a:prstGeom>
          <a:solidFill>
            <a:srgbClr val="254F25"/>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CONCLUSION</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Reasoning</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The explanation of how your evidence proves your claim.</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254F25"/>
            </a:solidFill>
            <a:prstDash val="solid"/>
          </a:ln>
        </p:spPr>
      </p:sp>
      <p:sp>
        <p:nvSpPr>
          <p:cNvPr id="18" name="Shape 16"/>
          <p:cNvSpPr/>
          <p:nvPr/>
        </p:nvSpPr>
        <p:spPr>
          <a:xfrm>
            <a:off x="5250485" y="4107485"/>
            <a:ext cx="4586630" cy="654290"/>
          </a:xfrm>
          <a:prstGeom prst="rect">
            <a:avLst/>
          </a:prstGeom>
          <a:solidFill>
            <a:srgbClr val="254F25"/>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CONCLUSION</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Conclusion</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What you learned, and whether your hypothesis was right.</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221285" y="221285"/>
            <a:ext cx="4586630" cy="3443630"/>
          </a:xfrm>
          <a:prstGeom prst="rect">
            <a:avLst/>
          </a:prstGeom>
          <a:solidFill>
            <a:srgbClr val="FFFFFF"/>
          </a:solidFill>
          <a:ln w="27940">
            <a:solidFill>
              <a:srgbClr val="254F25"/>
            </a:solidFill>
            <a:prstDash val="solid"/>
          </a:ln>
        </p:spPr>
      </p:sp>
      <p:sp>
        <p:nvSpPr>
          <p:cNvPr id="3" name="Shape 1"/>
          <p:cNvSpPr/>
          <p:nvPr/>
        </p:nvSpPr>
        <p:spPr>
          <a:xfrm>
            <a:off x="221285" y="221285"/>
            <a:ext cx="4586630" cy="654290"/>
          </a:xfrm>
          <a:prstGeom prst="rect">
            <a:avLst/>
          </a:prstGeom>
          <a:solidFill>
            <a:srgbClr val="254F25"/>
          </a:solidFill>
          <a:ln/>
        </p:spPr>
      </p:sp>
      <p:sp>
        <p:nvSpPr>
          <p:cNvPr id="4" name="Text 2"/>
          <p:cNvSpPr/>
          <p:nvPr/>
        </p:nvSpPr>
        <p:spPr>
          <a:xfrm>
            <a:off x="4727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CONCLUSION</a:t>
            </a:r>
            <a:endParaRPr lang="en-US" sz="1100" dirty="0"/>
          </a:p>
        </p:txBody>
      </p:sp>
      <p:sp>
        <p:nvSpPr>
          <p:cNvPr id="5" name="Text 3"/>
          <p:cNvSpPr/>
          <p:nvPr/>
        </p:nvSpPr>
        <p:spPr>
          <a:xfrm>
            <a:off x="4727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Limitation</a:t>
            </a:r>
            <a:endParaRPr lang="en-US" sz="2860" dirty="0"/>
          </a:p>
        </p:txBody>
      </p:sp>
      <p:sp>
        <p:nvSpPr>
          <p:cNvPr id="6" name="Text 4"/>
          <p:cNvSpPr/>
          <p:nvPr/>
        </p:nvSpPr>
        <p:spPr>
          <a:xfrm>
            <a:off x="4727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Something that could have made your results less certain.</a:t>
            </a:r>
            <a:endParaRPr lang="en-US" sz="1408" dirty="0"/>
          </a:p>
        </p:txBody>
      </p:sp>
      <p:sp>
        <p:nvSpPr>
          <p:cNvPr id="7" name="Shape 5"/>
          <p:cNvSpPr/>
          <p:nvPr/>
        </p:nvSpPr>
        <p:spPr>
          <a:xfrm>
            <a:off x="5250485" y="221285"/>
            <a:ext cx="4586630" cy="3443630"/>
          </a:xfrm>
          <a:prstGeom prst="rect">
            <a:avLst/>
          </a:prstGeom>
          <a:solidFill>
            <a:srgbClr val="FFFFFF"/>
          </a:solidFill>
          <a:ln w="27940">
            <a:solidFill>
              <a:srgbClr val="254F25"/>
            </a:solidFill>
            <a:prstDash val="solid"/>
          </a:ln>
        </p:spPr>
      </p:sp>
      <p:sp>
        <p:nvSpPr>
          <p:cNvPr id="8" name="Shape 6"/>
          <p:cNvSpPr/>
          <p:nvPr/>
        </p:nvSpPr>
        <p:spPr>
          <a:xfrm>
            <a:off x="5250485" y="221285"/>
            <a:ext cx="4586630" cy="654290"/>
          </a:xfrm>
          <a:prstGeom prst="rect">
            <a:avLst/>
          </a:prstGeom>
          <a:solidFill>
            <a:srgbClr val="254F25"/>
          </a:solidFill>
          <a:ln/>
        </p:spPr>
      </p:sp>
      <p:sp>
        <p:nvSpPr>
          <p:cNvPr id="9" name="Text 7"/>
          <p:cNvSpPr/>
          <p:nvPr/>
        </p:nvSpPr>
        <p:spPr>
          <a:xfrm>
            <a:off x="5501945" y="2212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CONCLUSION</a:t>
            </a:r>
            <a:endParaRPr lang="en-US" sz="1100" dirty="0"/>
          </a:p>
        </p:txBody>
      </p:sp>
      <p:sp>
        <p:nvSpPr>
          <p:cNvPr id="10" name="Text 8"/>
          <p:cNvSpPr/>
          <p:nvPr/>
        </p:nvSpPr>
        <p:spPr>
          <a:xfrm>
            <a:off x="5501945" y="9921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Bias</a:t>
            </a:r>
            <a:endParaRPr lang="en-US" sz="2860" dirty="0"/>
          </a:p>
        </p:txBody>
      </p:sp>
      <p:sp>
        <p:nvSpPr>
          <p:cNvPr id="11" name="Text 9"/>
          <p:cNvSpPr/>
          <p:nvPr/>
        </p:nvSpPr>
        <p:spPr>
          <a:xfrm>
            <a:off x="5501945" y="18471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Anything that unfairly pushes your results one way.</a:t>
            </a:r>
            <a:endParaRPr lang="en-US" sz="1408" dirty="0"/>
          </a:p>
        </p:txBody>
      </p:sp>
      <p:sp>
        <p:nvSpPr>
          <p:cNvPr id="12" name="Shape 10"/>
          <p:cNvSpPr/>
          <p:nvPr/>
        </p:nvSpPr>
        <p:spPr>
          <a:xfrm>
            <a:off x="221285" y="4107485"/>
            <a:ext cx="4586630" cy="3443630"/>
          </a:xfrm>
          <a:prstGeom prst="rect">
            <a:avLst/>
          </a:prstGeom>
          <a:solidFill>
            <a:srgbClr val="FFFFFF"/>
          </a:solidFill>
          <a:ln w="27940">
            <a:solidFill>
              <a:srgbClr val="E8827D"/>
            </a:solidFill>
            <a:prstDash val="solid"/>
          </a:ln>
        </p:spPr>
      </p:sp>
      <p:sp>
        <p:nvSpPr>
          <p:cNvPr id="13" name="Shape 11"/>
          <p:cNvSpPr/>
          <p:nvPr/>
        </p:nvSpPr>
        <p:spPr>
          <a:xfrm>
            <a:off x="221285" y="4107485"/>
            <a:ext cx="4586630" cy="654290"/>
          </a:xfrm>
          <a:prstGeom prst="rect">
            <a:avLst/>
          </a:prstGeom>
          <a:solidFill>
            <a:srgbClr val="E8827D"/>
          </a:solidFill>
          <a:ln/>
        </p:spPr>
      </p:sp>
      <p:sp>
        <p:nvSpPr>
          <p:cNvPr id="14" name="Text 12"/>
          <p:cNvSpPr/>
          <p:nvPr/>
        </p:nvSpPr>
        <p:spPr>
          <a:xfrm>
            <a:off x="4727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SHARING</a:t>
            </a:r>
            <a:endParaRPr lang="en-US" sz="1100" dirty="0"/>
          </a:p>
        </p:txBody>
      </p:sp>
      <p:sp>
        <p:nvSpPr>
          <p:cNvPr id="15" name="Text 13"/>
          <p:cNvSpPr/>
          <p:nvPr/>
        </p:nvSpPr>
        <p:spPr>
          <a:xfrm>
            <a:off x="4727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Abstract</a:t>
            </a:r>
            <a:endParaRPr lang="en-US" sz="2860" dirty="0"/>
          </a:p>
        </p:txBody>
      </p:sp>
      <p:sp>
        <p:nvSpPr>
          <p:cNvPr id="16" name="Text 14"/>
          <p:cNvSpPr/>
          <p:nvPr/>
        </p:nvSpPr>
        <p:spPr>
          <a:xfrm>
            <a:off x="4727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A short summary of your whole project.</a:t>
            </a:r>
            <a:endParaRPr lang="en-US" sz="1408" dirty="0"/>
          </a:p>
        </p:txBody>
      </p:sp>
      <p:sp>
        <p:nvSpPr>
          <p:cNvPr id="17" name="Shape 15"/>
          <p:cNvSpPr/>
          <p:nvPr/>
        </p:nvSpPr>
        <p:spPr>
          <a:xfrm>
            <a:off x="5250485" y="4107485"/>
            <a:ext cx="4586630" cy="3443630"/>
          </a:xfrm>
          <a:prstGeom prst="rect">
            <a:avLst/>
          </a:prstGeom>
          <a:solidFill>
            <a:srgbClr val="FFFFFF"/>
          </a:solidFill>
          <a:ln w="27940">
            <a:solidFill>
              <a:srgbClr val="E8827D"/>
            </a:solidFill>
            <a:prstDash val="solid"/>
          </a:ln>
        </p:spPr>
      </p:sp>
      <p:sp>
        <p:nvSpPr>
          <p:cNvPr id="18" name="Shape 16"/>
          <p:cNvSpPr/>
          <p:nvPr/>
        </p:nvSpPr>
        <p:spPr>
          <a:xfrm>
            <a:off x="5250485" y="4107485"/>
            <a:ext cx="4586630" cy="654290"/>
          </a:xfrm>
          <a:prstGeom prst="rect">
            <a:avLst/>
          </a:prstGeom>
          <a:solidFill>
            <a:srgbClr val="E8827D"/>
          </a:solidFill>
          <a:ln/>
        </p:spPr>
      </p:sp>
      <p:sp>
        <p:nvSpPr>
          <p:cNvPr id="19" name="Text 17"/>
          <p:cNvSpPr/>
          <p:nvPr/>
        </p:nvSpPr>
        <p:spPr>
          <a:xfrm>
            <a:off x="5501945" y="4107485"/>
            <a:ext cx="3898636" cy="654290"/>
          </a:xfrm>
          <a:prstGeom prst="rect">
            <a:avLst/>
          </a:prstGeom>
          <a:noFill/>
          <a:ln/>
        </p:spPr>
        <p:txBody>
          <a:bodyPr wrap="square" lIns="0" tIns="0" rIns="0" bIns="0" rtlCol="0" anchor="ctr"/>
          <a:lstStyle/>
          <a:p>
            <a:pPr indent="0" marL="0">
              <a:buNone/>
            </a:pPr>
            <a:r>
              <a:rPr lang="en-US" sz="1100" b="1" spc="143" kern="0" dirty="0">
                <a:solidFill>
                  <a:srgbClr val="FFFFFF"/>
                </a:solidFill>
                <a:latin typeface="DM Sans" pitchFamily="34" charset="0"/>
                <a:ea typeface="DM Sans" pitchFamily="34" charset="-122"/>
                <a:cs typeface="DM Sans" pitchFamily="34" charset="-120"/>
              </a:rPr>
              <a:t>SHARING</a:t>
            </a:r>
            <a:endParaRPr lang="en-US" sz="1100" dirty="0"/>
          </a:p>
        </p:txBody>
      </p:sp>
      <p:sp>
        <p:nvSpPr>
          <p:cNvPr id="20" name="Text 18"/>
          <p:cNvSpPr/>
          <p:nvPr/>
        </p:nvSpPr>
        <p:spPr>
          <a:xfrm>
            <a:off x="5501945" y="4878361"/>
            <a:ext cx="4127967" cy="854964"/>
          </a:xfrm>
          <a:prstGeom prst="rect">
            <a:avLst/>
          </a:prstGeom>
          <a:noFill/>
          <a:ln/>
        </p:spPr>
        <p:txBody>
          <a:bodyPr wrap="square" lIns="0" tIns="0" rIns="0" bIns="0" rtlCol="0" anchor="ctr"/>
          <a:lstStyle/>
          <a:p>
            <a:pPr indent="0" marL="0">
              <a:buNone/>
            </a:pPr>
            <a:r>
              <a:rPr lang="en-US" sz="2860" dirty="0">
                <a:solidFill>
                  <a:srgbClr val="1C3A1C"/>
                </a:solidFill>
                <a:latin typeface="Anton" pitchFamily="34" charset="0"/>
                <a:ea typeface="Anton" pitchFamily="34" charset="-122"/>
                <a:cs typeface="Anton" pitchFamily="34" charset="-120"/>
              </a:rPr>
              <a:t>Peer review</a:t>
            </a:r>
            <a:endParaRPr lang="en-US" sz="2860" dirty="0"/>
          </a:p>
        </p:txBody>
      </p:sp>
      <p:sp>
        <p:nvSpPr>
          <p:cNvPr id="21" name="Text 19"/>
          <p:cNvSpPr/>
          <p:nvPr/>
        </p:nvSpPr>
        <p:spPr>
          <a:xfrm>
            <a:off x="5501945" y="5733325"/>
            <a:ext cx="4127967" cy="1554480"/>
          </a:xfrm>
          <a:prstGeom prst="rect">
            <a:avLst/>
          </a:prstGeom>
          <a:noFill/>
          <a:ln/>
        </p:spPr>
        <p:txBody>
          <a:bodyPr wrap="square" lIns="0" tIns="0" rIns="0" bIns="0" rtlCol="0" anchor="t"/>
          <a:lstStyle/>
          <a:p>
            <a:pPr indent="0" marL="0">
              <a:lnSpc>
                <a:spcPct val="116000"/>
              </a:lnSpc>
              <a:buNone/>
            </a:pPr>
            <a:r>
              <a:rPr lang="en-US" sz="1408" dirty="0">
                <a:solidFill>
                  <a:srgbClr val="1A1E1A"/>
                </a:solidFill>
                <a:latin typeface="DM Sans" pitchFamily="34" charset="0"/>
                <a:ea typeface="DM Sans" pitchFamily="34" charset="-122"/>
                <a:cs typeface="DM Sans" pitchFamily="34" charset="-120"/>
              </a:rPr>
              <a:t>When someone else checks your work and gives feedback.</a:t>
            </a:r>
            <a:endParaRPr lang="en-US" sz="1408" dirty="0"/>
          </a:p>
        </p:txBody>
      </p:sp>
      <p:sp>
        <p:nvSpPr>
          <p:cNvPr id="22" name="Shape 20"/>
          <p:cNvSpPr/>
          <p:nvPr/>
        </p:nvSpPr>
        <p:spPr>
          <a:xfrm>
            <a:off x="5029200" y="0"/>
            <a:ext cx="0" cy="7772400"/>
          </a:xfrm>
          <a:prstGeom prst="line">
            <a:avLst/>
          </a:prstGeom>
          <a:noFill/>
          <a:ln w="9525">
            <a:solidFill>
              <a:srgbClr val="E2E6E2"/>
            </a:solidFill>
            <a:prstDash val="dash"/>
          </a:ln>
        </p:spPr>
      </p:sp>
      <p:sp>
        <p:nvSpPr>
          <p:cNvPr id="23" name="Shape 21"/>
          <p:cNvSpPr/>
          <p:nvPr/>
        </p:nvSpPr>
        <p:spPr>
          <a:xfrm>
            <a:off x="0" y="3886200"/>
            <a:ext cx="10058400" cy="0"/>
          </a:xfrm>
          <a:prstGeom prst="line">
            <a:avLst/>
          </a:prstGeom>
          <a:noFill/>
          <a:ln w="9525">
            <a:solidFill>
              <a:srgbClr val="E2E6E2"/>
            </a:solidFill>
            <a:prstDash val="dash"/>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FairGame Initiative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FairGame Vocabulary Word Wall Cards, Grades 5 to 6</dc:title>
  <dc:subject>PptxGenJS Presentation</dc:subject>
  <dc:creator>FairGame Initiative</dc:creator>
  <cp:lastModifiedBy>FairGame Initiative</cp:lastModifiedBy>
  <cp:revision>1</cp:revision>
  <dcterms:created xsi:type="dcterms:W3CDTF">2026-07-27T18:40:26Z</dcterms:created>
  <dcterms:modified xsi:type="dcterms:W3CDTF">2026-07-27T18:40:26Z</dcterms:modified>
</cp:coreProperties>
</file>