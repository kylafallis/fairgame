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058400" cy="15544800"/>
  <p:notesSz cx="15544800" cy="1005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00" cy="2642616"/>
          </a:xfrm>
          <a:prstGeom prst="rect">
            <a:avLst/>
          </a:prstGeom>
          <a:solidFill>
            <a:srgbClr val="1C3A1C"/>
          </a:solidFill>
          <a:ln/>
        </p:spPr>
      </p:sp>
      <p:pic>
        <p:nvPicPr>
          <p:cNvPr id="3" name="Image 0" descr="/tmp/fairgame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7317" y="687080"/>
            <a:ext cx="708455" cy="11627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3621" y="422819"/>
            <a:ext cx="8102704" cy="422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5" b="1" spc="352" kern="0" dirty="0">
                <a:solidFill>
                  <a:srgbClr val="6AB8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ANCHOR CHART</a:t>
            </a:r>
            <a:endParaRPr lang="en-US" sz="1705" dirty="0"/>
          </a:p>
        </p:txBody>
      </p:sp>
      <p:sp>
        <p:nvSpPr>
          <p:cNvPr id="5" name="Text 2"/>
          <p:cNvSpPr/>
          <p:nvPr/>
        </p:nvSpPr>
        <p:spPr>
          <a:xfrm>
            <a:off x="563270" y="872063"/>
            <a:ext cx="8456931" cy="819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89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THE THREE</a:t>
            </a:r>
            <a:endParaRPr lang="en-US" sz="5289" dirty="0"/>
          </a:p>
        </p:txBody>
      </p:sp>
      <p:sp>
        <p:nvSpPr>
          <p:cNvPr id="6" name="Text 3"/>
          <p:cNvSpPr/>
          <p:nvPr/>
        </p:nvSpPr>
        <p:spPr>
          <a:xfrm>
            <a:off x="563270" y="1691274"/>
            <a:ext cx="8456931" cy="819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89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VARIABLES</a:t>
            </a:r>
            <a:endParaRPr lang="en-US" sz="5289" dirty="0"/>
          </a:p>
        </p:txBody>
      </p:sp>
      <p:sp>
        <p:nvSpPr>
          <p:cNvPr id="7" name="Text 4"/>
          <p:cNvSpPr/>
          <p:nvPr/>
        </p:nvSpPr>
        <p:spPr>
          <a:xfrm>
            <a:off x="623621" y="3046781"/>
            <a:ext cx="8811158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15" i="1" dirty="0">
                <a:solidFill>
                  <a:srgbClr val="254F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Every fair test changes one thing, measures one thing, and keeps everything else the same.</a:t>
            </a:r>
            <a:endParaRPr lang="en-US" sz="1815" dirty="0"/>
          </a:p>
        </p:txBody>
      </p:sp>
      <p:sp>
        <p:nvSpPr>
          <p:cNvPr id="8" name="Shape 5"/>
          <p:cNvSpPr/>
          <p:nvPr/>
        </p:nvSpPr>
        <p:spPr>
          <a:xfrm>
            <a:off x="623621" y="3824021"/>
            <a:ext cx="8811158" cy="2456078"/>
          </a:xfrm>
          <a:prstGeom prst="rect">
            <a:avLst/>
          </a:prstGeom>
          <a:solidFill>
            <a:srgbClr val="FFFFFF"/>
          </a:solidFill>
          <a:ln w="20955">
            <a:solidFill>
              <a:srgbClr val="357A3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3621" y="3824021"/>
            <a:ext cx="8811158" cy="466655"/>
          </a:xfrm>
          <a:prstGeom prst="rect">
            <a:avLst/>
          </a:prstGeom>
          <a:solidFill>
            <a:srgbClr val="357A38"/>
          </a:solidFill>
          <a:ln/>
        </p:spPr>
      </p:sp>
      <p:sp>
        <p:nvSpPr>
          <p:cNvPr id="10" name="Text 7"/>
          <p:cNvSpPr/>
          <p:nvPr/>
        </p:nvSpPr>
        <p:spPr>
          <a:xfrm>
            <a:off x="1152290" y="3824021"/>
            <a:ext cx="7753819" cy="466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95" b="1" spc="99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INDEPENDENT VARIABLE</a:t>
            </a:r>
            <a:endParaRPr lang="en-US" sz="1595" dirty="0"/>
          </a:p>
        </p:txBody>
      </p:sp>
      <p:sp>
        <p:nvSpPr>
          <p:cNvPr id="11" name="Text 8"/>
          <p:cNvSpPr/>
          <p:nvPr/>
        </p:nvSpPr>
        <p:spPr>
          <a:xfrm>
            <a:off x="1152290" y="4413480"/>
            <a:ext cx="7753819" cy="392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5" b="1" i="1" dirty="0">
                <a:solidFill>
                  <a:srgbClr val="357A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one thing I change on purpose</a:t>
            </a:r>
            <a:endParaRPr lang="en-US" sz="1705" dirty="0"/>
          </a:p>
        </p:txBody>
      </p:sp>
      <p:sp>
        <p:nvSpPr>
          <p:cNvPr id="12" name="Text 9"/>
          <p:cNvSpPr/>
          <p:nvPr/>
        </p:nvSpPr>
        <p:spPr>
          <a:xfrm>
            <a:off x="1152290" y="4855574"/>
            <a:ext cx="7753819" cy="1350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▪"/>
            </a:pPr>
            <a:r>
              <a:rPr lang="en-US" sz="1232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There is only ever one.</a:t>
            </a:r>
            <a:endParaRPr lang="en-US" sz="1232" dirty="0"/>
          </a:p>
          <a:p>
            <a:pPr marL="342900" indent="-342900">
              <a:lnSpc>
                <a:spcPct val="115000"/>
              </a:lnSpc>
              <a:buSzPct val="100000"/>
              <a:buChar char="▪"/>
            </a:pPr>
            <a:r>
              <a:rPr lang="en-US" sz="1232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 decide it before you start.</a:t>
            </a:r>
            <a:endParaRPr lang="en-US" sz="1232" dirty="0"/>
          </a:p>
          <a:p>
            <a:pPr marL="342900" indent="-342900">
              <a:lnSpc>
                <a:spcPct val="115000"/>
              </a:lnSpc>
              <a:buSzPct val="100000"/>
              <a:buChar char="▪"/>
            </a:pPr>
            <a:r>
              <a:rPr lang="en-US" sz="1232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goes on the horizontal axis of your graph.</a:t>
            </a:r>
            <a:endParaRPr lang="en-US" sz="1232" dirty="0"/>
          </a:p>
        </p:txBody>
      </p:sp>
      <p:sp>
        <p:nvSpPr>
          <p:cNvPr id="13" name="Shape 10"/>
          <p:cNvSpPr/>
          <p:nvPr/>
        </p:nvSpPr>
        <p:spPr>
          <a:xfrm>
            <a:off x="623621" y="6482182"/>
            <a:ext cx="8811158" cy="2456078"/>
          </a:xfrm>
          <a:prstGeom prst="rect">
            <a:avLst/>
          </a:prstGeom>
          <a:solidFill>
            <a:srgbClr val="FFFFFF"/>
          </a:solidFill>
          <a:ln w="20955">
            <a:solidFill>
              <a:srgbClr val="1C3A1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3621" y="6482182"/>
            <a:ext cx="8811158" cy="466655"/>
          </a:xfrm>
          <a:prstGeom prst="rect">
            <a:avLst/>
          </a:prstGeom>
          <a:solidFill>
            <a:srgbClr val="1C3A1C"/>
          </a:solidFill>
          <a:ln/>
        </p:spPr>
      </p:sp>
      <p:sp>
        <p:nvSpPr>
          <p:cNvPr id="15" name="Text 12"/>
          <p:cNvSpPr/>
          <p:nvPr/>
        </p:nvSpPr>
        <p:spPr>
          <a:xfrm>
            <a:off x="1152290" y="6482182"/>
            <a:ext cx="7753819" cy="466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95" b="1" spc="99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DEPENDENT VARIABLE</a:t>
            </a:r>
            <a:endParaRPr lang="en-US" sz="1595" dirty="0"/>
          </a:p>
        </p:txBody>
      </p:sp>
      <p:sp>
        <p:nvSpPr>
          <p:cNvPr id="16" name="Text 13"/>
          <p:cNvSpPr/>
          <p:nvPr/>
        </p:nvSpPr>
        <p:spPr>
          <a:xfrm>
            <a:off x="1152290" y="7071640"/>
            <a:ext cx="7753819" cy="392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5" b="1" i="1" dirty="0">
                <a:solidFill>
                  <a:srgbClr val="1C3A1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What I measure to see the effect</a:t>
            </a:r>
            <a:endParaRPr lang="en-US" sz="1705" dirty="0"/>
          </a:p>
        </p:txBody>
      </p:sp>
      <p:sp>
        <p:nvSpPr>
          <p:cNvPr id="17" name="Text 14"/>
          <p:cNvSpPr/>
          <p:nvPr/>
        </p:nvSpPr>
        <p:spPr>
          <a:xfrm>
            <a:off x="1152290" y="7513735"/>
            <a:ext cx="7753819" cy="1350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▪"/>
            </a:pPr>
            <a:r>
              <a:rPr lang="en-US" sz="1232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is your data.</a:t>
            </a:r>
            <a:endParaRPr lang="en-US" sz="1232" dirty="0"/>
          </a:p>
          <a:p>
            <a:pPr marL="342900" indent="-342900">
              <a:lnSpc>
                <a:spcPct val="115000"/>
              </a:lnSpc>
              <a:buSzPct val="100000"/>
              <a:buChar char="▪"/>
            </a:pPr>
            <a:r>
              <a:rPr lang="en-US" sz="1232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depends on what you changed.</a:t>
            </a:r>
            <a:endParaRPr lang="en-US" sz="1232" dirty="0"/>
          </a:p>
          <a:p>
            <a:pPr marL="342900" indent="-342900">
              <a:lnSpc>
                <a:spcPct val="115000"/>
              </a:lnSpc>
              <a:buSzPct val="100000"/>
              <a:buChar char="▪"/>
            </a:pPr>
            <a:r>
              <a:rPr lang="en-US" sz="1232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goes on the vertical axis of your graph.</a:t>
            </a:r>
            <a:endParaRPr lang="en-US" sz="1232" dirty="0"/>
          </a:p>
        </p:txBody>
      </p:sp>
      <p:sp>
        <p:nvSpPr>
          <p:cNvPr id="18" name="Shape 15"/>
          <p:cNvSpPr/>
          <p:nvPr/>
        </p:nvSpPr>
        <p:spPr>
          <a:xfrm>
            <a:off x="623621" y="9140342"/>
            <a:ext cx="8811158" cy="2456078"/>
          </a:xfrm>
          <a:prstGeom prst="rect">
            <a:avLst/>
          </a:prstGeom>
          <a:solidFill>
            <a:srgbClr val="FFFFFF"/>
          </a:solidFill>
          <a:ln w="20955">
            <a:solidFill>
              <a:srgbClr val="E0615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3621" y="9140342"/>
            <a:ext cx="8811158" cy="466655"/>
          </a:xfrm>
          <a:prstGeom prst="rect">
            <a:avLst/>
          </a:prstGeom>
          <a:solidFill>
            <a:srgbClr val="E0615A"/>
          </a:solidFill>
          <a:ln/>
        </p:spPr>
      </p:sp>
      <p:sp>
        <p:nvSpPr>
          <p:cNvPr id="20" name="Text 17"/>
          <p:cNvSpPr/>
          <p:nvPr/>
        </p:nvSpPr>
        <p:spPr>
          <a:xfrm>
            <a:off x="1152290" y="9140342"/>
            <a:ext cx="7753819" cy="466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95" b="1" spc="99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CONTROLLED VARIABLES</a:t>
            </a:r>
            <a:endParaRPr lang="en-US" sz="1595" dirty="0"/>
          </a:p>
        </p:txBody>
      </p:sp>
      <p:sp>
        <p:nvSpPr>
          <p:cNvPr id="21" name="Text 18"/>
          <p:cNvSpPr/>
          <p:nvPr/>
        </p:nvSpPr>
        <p:spPr>
          <a:xfrm>
            <a:off x="1152290" y="9729801"/>
            <a:ext cx="7753819" cy="392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5" b="1" i="1" dirty="0">
                <a:solidFill>
                  <a:srgbClr val="E0615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Everything I keep exactly the same</a:t>
            </a:r>
            <a:endParaRPr lang="en-US" sz="1705" dirty="0"/>
          </a:p>
        </p:txBody>
      </p:sp>
      <p:sp>
        <p:nvSpPr>
          <p:cNvPr id="22" name="Text 19"/>
          <p:cNvSpPr/>
          <p:nvPr/>
        </p:nvSpPr>
        <p:spPr>
          <a:xfrm>
            <a:off x="1152290" y="10171895"/>
            <a:ext cx="7753819" cy="1350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▪"/>
            </a:pPr>
            <a:r>
              <a:rPr lang="en-US" sz="1232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There are usually many.</a:t>
            </a:r>
            <a:endParaRPr lang="en-US" sz="1232" dirty="0"/>
          </a:p>
          <a:p>
            <a:pPr marL="342900" indent="-342900">
              <a:lnSpc>
                <a:spcPct val="115000"/>
              </a:lnSpc>
              <a:buSzPct val="100000"/>
              <a:buChar char="▪"/>
            </a:pPr>
            <a:r>
              <a:rPr lang="en-US" sz="1232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List every one you can think of.</a:t>
            </a:r>
            <a:endParaRPr lang="en-US" sz="1232" dirty="0"/>
          </a:p>
          <a:p>
            <a:pPr marL="342900" indent="-342900">
              <a:lnSpc>
                <a:spcPct val="115000"/>
              </a:lnSpc>
              <a:buSzPct val="100000"/>
              <a:buChar char="▪"/>
            </a:pPr>
            <a:r>
              <a:rPr lang="en-US" sz="1232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These are what make the test fair.</a:t>
            </a:r>
            <a:endParaRPr lang="en-US" sz="1232" dirty="0"/>
          </a:p>
        </p:txBody>
      </p:sp>
      <p:sp>
        <p:nvSpPr>
          <p:cNvPr id="23" name="Shape 20"/>
          <p:cNvSpPr/>
          <p:nvPr/>
        </p:nvSpPr>
        <p:spPr>
          <a:xfrm>
            <a:off x="623621" y="11876227"/>
            <a:ext cx="8811158" cy="19431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4" name="Text 21"/>
          <p:cNvSpPr/>
          <p:nvPr/>
        </p:nvSpPr>
        <p:spPr>
          <a:xfrm>
            <a:off x="843900" y="12051106"/>
            <a:ext cx="8370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2" b="1" spc="176" kern="0" dirty="0">
                <a:solidFill>
                  <a:srgbClr val="357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WORKED EXAMPLE</a:t>
            </a:r>
            <a:endParaRPr lang="en-US" sz="1232" dirty="0"/>
          </a:p>
        </p:txBody>
      </p:sp>
      <p:sp>
        <p:nvSpPr>
          <p:cNvPr id="25" name="Text 22"/>
          <p:cNvSpPr/>
          <p:nvPr/>
        </p:nvSpPr>
        <p:spPr>
          <a:xfrm>
            <a:off x="843900" y="12420295"/>
            <a:ext cx="837060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2" b="1" i="1" dirty="0">
                <a:solidFill>
                  <a:srgbClr val="1C3A1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Does the amount of fertilizer change how tall a plant grows?</a:t>
            </a:r>
            <a:endParaRPr lang="en-US" sz="1562" dirty="0"/>
          </a:p>
        </p:txBody>
      </p:sp>
      <p:sp>
        <p:nvSpPr>
          <p:cNvPr id="26" name="Text 23"/>
          <p:cNvSpPr/>
          <p:nvPr/>
        </p:nvSpPr>
        <p:spPr>
          <a:xfrm>
            <a:off x="843900" y="12886639"/>
            <a:ext cx="2594886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78" b="1" spc="77" kern="0" dirty="0">
                <a:solidFill>
                  <a:srgbClr val="357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 CHANGE</a:t>
            </a:r>
            <a:endParaRPr lang="en-US" sz="1078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5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amount of fertilizer</a:t>
            </a:r>
            <a:endParaRPr lang="en-US" sz="1078" dirty="0"/>
          </a:p>
        </p:txBody>
      </p:sp>
      <p:sp>
        <p:nvSpPr>
          <p:cNvPr id="27" name="Text 24"/>
          <p:cNvSpPr/>
          <p:nvPr/>
        </p:nvSpPr>
        <p:spPr>
          <a:xfrm>
            <a:off x="3634100" y="12886639"/>
            <a:ext cx="2594886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78" b="1" spc="77" kern="0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 MEASURE</a:t>
            </a:r>
            <a:endParaRPr lang="en-US" sz="1078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5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plant height in centimetres</a:t>
            </a:r>
            <a:endParaRPr lang="en-US" sz="1078" dirty="0"/>
          </a:p>
        </p:txBody>
      </p:sp>
      <p:sp>
        <p:nvSpPr>
          <p:cNvPr id="28" name="Text 25"/>
          <p:cNvSpPr/>
          <p:nvPr/>
        </p:nvSpPr>
        <p:spPr>
          <a:xfrm>
            <a:off x="6424300" y="12886639"/>
            <a:ext cx="2594886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78" b="1" spc="77" kern="0" dirty="0">
                <a:solidFill>
                  <a:srgbClr val="E061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 KEEP THE SAME</a:t>
            </a:r>
            <a:endParaRPr lang="en-US" sz="1078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5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plant type, pot, soil, water, light, room temperature</a:t>
            </a:r>
            <a:endParaRPr lang="en-US" sz="1078" dirty="0"/>
          </a:p>
        </p:txBody>
      </p:sp>
      <p:sp>
        <p:nvSpPr>
          <p:cNvPr id="29" name="Shape 26"/>
          <p:cNvSpPr/>
          <p:nvPr/>
        </p:nvSpPr>
        <p:spPr>
          <a:xfrm>
            <a:off x="623621" y="14021410"/>
            <a:ext cx="8811158" cy="901598"/>
          </a:xfrm>
          <a:prstGeom prst="rect">
            <a:avLst/>
          </a:prstGeom>
          <a:solidFill>
            <a:srgbClr val="F1FAF2"/>
          </a:solidFill>
          <a:ln/>
        </p:spPr>
      </p:sp>
      <p:sp>
        <p:nvSpPr>
          <p:cNvPr id="30" name="Text 27"/>
          <p:cNvSpPr/>
          <p:nvPr/>
        </p:nvSpPr>
        <p:spPr>
          <a:xfrm>
            <a:off x="870333" y="14138617"/>
            <a:ext cx="8282489" cy="252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8" b="1" spc="176" kern="0" dirty="0">
                <a:solidFill>
                  <a:srgbClr val="357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CHECK YOURSELF</a:t>
            </a:r>
            <a:endParaRPr lang="en-US" sz="1298" dirty="0"/>
          </a:p>
        </p:txBody>
      </p:sp>
      <p:sp>
        <p:nvSpPr>
          <p:cNvPr id="31" name="Text 28"/>
          <p:cNvSpPr/>
          <p:nvPr/>
        </p:nvSpPr>
        <p:spPr>
          <a:xfrm>
            <a:off x="870333" y="14382049"/>
            <a:ext cx="8282489" cy="468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98" dirty="0">
                <a:solidFill>
                  <a:srgbClr val="254F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If you changed two things at once, you cannot tell which one caused your result. Go back and change only one.</a:t>
            </a:r>
            <a:endParaRPr lang="en-US" sz="1298" dirty="0"/>
          </a:p>
        </p:txBody>
      </p:sp>
      <p:sp>
        <p:nvSpPr>
          <p:cNvPr id="32" name="Shape 29"/>
          <p:cNvSpPr/>
          <p:nvPr/>
        </p:nvSpPr>
        <p:spPr>
          <a:xfrm>
            <a:off x="623621" y="14845284"/>
            <a:ext cx="8811158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23621" y="14923008"/>
            <a:ext cx="5286695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6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 Initiative  |  Variables Anchor Chart</a:t>
            </a:r>
            <a:endParaRPr lang="en-US" sz="946" dirty="0"/>
          </a:p>
        </p:txBody>
      </p:sp>
      <p:sp>
        <p:nvSpPr>
          <p:cNvPr id="34" name="Text 31"/>
          <p:cNvSpPr/>
          <p:nvPr/>
        </p:nvSpPr>
        <p:spPr>
          <a:xfrm>
            <a:off x="5910316" y="14923008"/>
            <a:ext cx="3524463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46" i="1" dirty="0">
                <a:solidFill>
                  <a:srgbClr val="E0615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Science fairs without barriers.</a:t>
            </a:r>
            <a:endParaRPr lang="en-US" sz="94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FairGame Initiative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FairGame Variables Anchor Chart</dc:title>
  <dc:subject>PptxGenJS Presentation</dc:subject>
  <dc:creator>FairGame Initiative</dc:creator>
  <cp:lastModifiedBy>FairGame Initiative</cp:lastModifiedBy>
  <cp:revision>1</cp:revision>
  <dcterms:created xsi:type="dcterms:W3CDTF">2026-07-27T18:40:27Z</dcterms:created>
  <dcterms:modified xsi:type="dcterms:W3CDTF">2026-07-27T18:40:27Z</dcterms:modified>
</cp:coreProperties>
</file>